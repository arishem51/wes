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ordita Bold" charset="1" panose="00000000000000000000"/>
      <p:regular r:id="rId20"/>
    </p:embeddedFont>
    <p:embeddedFont>
      <p:font typeface="Pier Sans Light" charset="1" panose="00000400000000000000"/>
      <p:regular r:id="rId21"/>
    </p:embeddedFont>
    <p:embeddedFont>
      <p:font typeface="Pier Sans Light Bold" charset="1" panose="00000400000000000000"/>
      <p:regular r:id="rId22"/>
    </p:embeddedFont>
    <p:embeddedFont>
      <p:font typeface="Gordita"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TextBox 2" id="2"/>
          <p:cNvSpPr txBox="true"/>
          <p:nvPr/>
        </p:nvSpPr>
        <p:spPr>
          <a:xfrm rot="0">
            <a:off x="605317" y="3482665"/>
            <a:ext cx="9537898" cy="3658869"/>
          </a:xfrm>
          <a:prstGeom prst="rect">
            <a:avLst/>
          </a:prstGeom>
        </p:spPr>
        <p:txBody>
          <a:bodyPr anchor="t" rtlCol="false" tIns="0" lIns="0" bIns="0" rIns="0">
            <a:spAutoFit/>
          </a:bodyPr>
          <a:lstStyle/>
          <a:p>
            <a:pPr algn="l">
              <a:lnSpc>
                <a:spcPts val="7280"/>
              </a:lnSpc>
              <a:spcBef>
                <a:spcPct val="0"/>
              </a:spcBef>
            </a:pPr>
            <a:r>
              <a:rPr lang="en-US" b="true" sz="5200" spc="-104">
                <a:solidFill>
                  <a:srgbClr val="B05510"/>
                </a:solidFill>
                <a:latin typeface="Gordita Bold"/>
                <a:ea typeface="Gordita Bold"/>
                <a:cs typeface="Gordita Bold"/>
                <a:sym typeface="Gordita Bold"/>
              </a:rPr>
              <a:t>THE SM</a:t>
            </a:r>
            <a:r>
              <a:rPr lang="en-US" b="true" sz="5200" spc="-104">
                <a:solidFill>
                  <a:srgbClr val="B05510"/>
                </a:solidFill>
                <a:latin typeface="Gordita Bold"/>
                <a:ea typeface="Gordita Bold"/>
                <a:cs typeface="Gordita Bold"/>
                <a:sym typeface="Gordita Bold"/>
              </a:rPr>
              <a:t>ART WAREH</a:t>
            </a:r>
            <a:r>
              <a:rPr lang="en-US" b="true" sz="5200" spc="-104">
                <a:solidFill>
                  <a:srgbClr val="B05510"/>
                </a:solidFill>
                <a:latin typeface="Gordita Bold"/>
                <a:ea typeface="Gordita Bold"/>
                <a:cs typeface="Gordita Bold"/>
                <a:sym typeface="Gordita Bold"/>
              </a:rPr>
              <a:t>OUSE EXECUTION SYSTEM FOR AGV COORDINATION (WES)</a:t>
            </a:r>
          </a:p>
        </p:txBody>
      </p:sp>
      <p:grpSp>
        <p:nvGrpSpPr>
          <p:cNvPr name="Group 3" id="3"/>
          <p:cNvGrpSpPr/>
          <p:nvPr/>
        </p:nvGrpSpPr>
        <p:grpSpPr>
          <a:xfrm rot="0">
            <a:off x="-2592532" y="773931"/>
            <a:ext cx="7793119" cy="77931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298606" y="0"/>
            <a:ext cx="5561760" cy="556176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193570" y="6696204"/>
            <a:ext cx="3865184" cy="2562096"/>
            <a:chOff x="0" y="0"/>
            <a:chExt cx="1343602" cy="890627"/>
          </a:xfrm>
        </p:grpSpPr>
        <p:sp>
          <p:nvSpPr>
            <p:cNvPr name="Freeform 10" id="10"/>
            <p:cNvSpPr/>
            <p:nvPr/>
          </p:nvSpPr>
          <p:spPr>
            <a:xfrm flipH="false" flipV="false" rot="0">
              <a:off x="0" y="0"/>
              <a:ext cx="1343602" cy="890627"/>
            </a:xfrm>
            <a:custGeom>
              <a:avLst/>
              <a:gdLst/>
              <a:ahLst/>
              <a:cxnLst/>
              <a:rect r="r" b="b" t="t" l="l"/>
              <a:pathLst>
                <a:path h="890627" w="1343602">
                  <a:moveTo>
                    <a:pt x="671801" y="0"/>
                  </a:moveTo>
                  <a:cubicBezTo>
                    <a:pt x="300776" y="0"/>
                    <a:pt x="0" y="199374"/>
                    <a:pt x="0" y="445313"/>
                  </a:cubicBezTo>
                  <a:cubicBezTo>
                    <a:pt x="0" y="691253"/>
                    <a:pt x="300776" y="890627"/>
                    <a:pt x="671801" y="890627"/>
                  </a:cubicBezTo>
                  <a:cubicBezTo>
                    <a:pt x="1042826" y="890627"/>
                    <a:pt x="1343602" y="691253"/>
                    <a:pt x="1343602" y="445313"/>
                  </a:cubicBezTo>
                  <a:cubicBezTo>
                    <a:pt x="1343602" y="199374"/>
                    <a:pt x="1042826" y="0"/>
                    <a:pt x="671801" y="0"/>
                  </a:cubicBezTo>
                  <a:close/>
                </a:path>
              </a:pathLst>
            </a:custGeom>
            <a:solidFill>
              <a:srgbClr val="B05510">
                <a:alpha val="35686"/>
              </a:srgbClr>
            </a:solidFill>
          </p:spPr>
        </p:sp>
        <p:sp>
          <p:nvSpPr>
            <p:cNvPr name="TextBox 11" id="11"/>
            <p:cNvSpPr txBox="true"/>
            <p:nvPr/>
          </p:nvSpPr>
          <p:spPr>
            <a:xfrm>
              <a:off x="125963" y="45396"/>
              <a:ext cx="1091677" cy="76173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1365720" y="1532977"/>
            <a:ext cx="677868" cy="67786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826927" y="-2356557"/>
            <a:ext cx="6302891" cy="5711253"/>
            <a:chOff x="0" y="0"/>
            <a:chExt cx="896999" cy="812800"/>
          </a:xfrm>
        </p:grpSpPr>
        <p:sp>
          <p:nvSpPr>
            <p:cNvPr name="Freeform 16" id="1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17" id="1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9376640" y="1871911"/>
            <a:ext cx="8349648" cy="7024142"/>
          </a:xfrm>
          <a:custGeom>
            <a:avLst/>
            <a:gdLst/>
            <a:ahLst/>
            <a:cxnLst/>
            <a:rect r="r" b="b" t="t" l="l"/>
            <a:pathLst>
              <a:path h="7024142" w="8349648">
                <a:moveTo>
                  <a:pt x="0" y="0"/>
                </a:moveTo>
                <a:lnTo>
                  <a:pt x="8349648" y="0"/>
                </a:lnTo>
                <a:lnTo>
                  <a:pt x="8349648" y="7024142"/>
                </a:lnTo>
                <a:lnTo>
                  <a:pt x="0" y="70241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605317" y="7273405"/>
            <a:ext cx="2398969" cy="485561"/>
            <a:chOff x="0" y="0"/>
            <a:chExt cx="895826" cy="181319"/>
          </a:xfrm>
        </p:grpSpPr>
        <p:sp>
          <p:nvSpPr>
            <p:cNvPr name="Freeform 20" id="20"/>
            <p:cNvSpPr/>
            <p:nvPr/>
          </p:nvSpPr>
          <p:spPr>
            <a:xfrm flipH="false" flipV="false" rot="0">
              <a:off x="0" y="0"/>
              <a:ext cx="895826" cy="181319"/>
            </a:xfrm>
            <a:custGeom>
              <a:avLst/>
              <a:gdLst/>
              <a:ahLst/>
              <a:cxnLst/>
              <a:rect r="r" b="b" t="t" l="l"/>
              <a:pathLst>
                <a:path h="181319" w="895826">
                  <a:moveTo>
                    <a:pt x="37819" y="0"/>
                  </a:moveTo>
                  <a:lnTo>
                    <a:pt x="858008" y="0"/>
                  </a:lnTo>
                  <a:cubicBezTo>
                    <a:pt x="878894" y="0"/>
                    <a:pt x="895826" y="16932"/>
                    <a:pt x="895826" y="37819"/>
                  </a:cubicBezTo>
                  <a:lnTo>
                    <a:pt x="895826" y="143500"/>
                  </a:lnTo>
                  <a:cubicBezTo>
                    <a:pt x="895826" y="153531"/>
                    <a:pt x="891842" y="163150"/>
                    <a:pt x="884749" y="170242"/>
                  </a:cubicBezTo>
                  <a:cubicBezTo>
                    <a:pt x="877657" y="177335"/>
                    <a:pt x="868038" y="181319"/>
                    <a:pt x="858008" y="181319"/>
                  </a:cubicBezTo>
                  <a:lnTo>
                    <a:pt x="37819" y="181319"/>
                  </a:lnTo>
                  <a:cubicBezTo>
                    <a:pt x="27788" y="181319"/>
                    <a:pt x="18169" y="177335"/>
                    <a:pt x="11077" y="170242"/>
                  </a:cubicBezTo>
                  <a:cubicBezTo>
                    <a:pt x="3984" y="163150"/>
                    <a:pt x="0" y="153531"/>
                    <a:pt x="0" y="143500"/>
                  </a:cubicBezTo>
                  <a:lnTo>
                    <a:pt x="0" y="37819"/>
                  </a:lnTo>
                  <a:cubicBezTo>
                    <a:pt x="0" y="27788"/>
                    <a:pt x="3984" y="18169"/>
                    <a:pt x="11077" y="11077"/>
                  </a:cubicBezTo>
                  <a:cubicBezTo>
                    <a:pt x="18169" y="3984"/>
                    <a:pt x="27788" y="0"/>
                    <a:pt x="37819" y="0"/>
                  </a:cubicBezTo>
                  <a:close/>
                </a:path>
              </a:pathLst>
            </a:custGeom>
            <a:solidFill>
              <a:srgbClr val="E9A379"/>
            </a:solidFill>
          </p:spPr>
        </p:sp>
        <p:sp>
          <p:nvSpPr>
            <p:cNvPr name="TextBox 21" id="21"/>
            <p:cNvSpPr txBox="true"/>
            <p:nvPr/>
          </p:nvSpPr>
          <p:spPr>
            <a:xfrm>
              <a:off x="0" y="-38100"/>
              <a:ext cx="895826" cy="219419"/>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3133722" y="7255836"/>
            <a:ext cx="3430516" cy="520700"/>
            <a:chOff x="0" y="0"/>
            <a:chExt cx="1331041" cy="202032"/>
          </a:xfrm>
        </p:grpSpPr>
        <p:sp>
          <p:nvSpPr>
            <p:cNvPr name="Freeform 23" id="23"/>
            <p:cNvSpPr/>
            <p:nvPr/>
          </p:nvSpPr>
          <p:spPr>
            <a:xfrm flipH="false" flipV="false" rot="0">
              <a:off x="0" y="0"/>
              <a:ext cx="1331041" cy="202032"/>
            </a:xfrm>
            <a:custGeom>
              <a:avLst/>
              <a:gdLst/>
              <a:ahLst/>
              <a:cxnLst/>
              <a:rect r="r" b="b" t="t" l="l"/>
              <a:pathLst>
                <a:path h="202032" w="1331041">
                  <a:moveTo>
                    <a:pt x="26447" y="0"/>
                  </a:moveTo>
                  <a:lnTo>
                    <a:pt x="1304594" y="0"/>
                  </a:lnTo>
                  <a:cubicBezTo>
                    <a:pt x="1311608" y="0"/>
                    <a:pt x="1318335" y="2786"/>
                    <a:pt x="1323295" y="7746"/>
                  </a:cubicBezTo>
                  <a:cubicBezTo>
                    <a:pt x="1328254" y="12706"/>
                    <a:pt x="1331041" y="19433"/>
                    <a:pt x="1331041" y="26447"/>
                  </a:cubicBezTo>
                  <a:lnTo>
                    <a:pt x="1331041" y="175585"/>
                  </a:lnTo>
                  <a:cubicBezTo>
                    <a:pt x="1331041" y="190191"/>
                    <a:pt x="1319200" y="202032"/>
                    <a:pt x="1304594" y="202032"/>
                  </a:cubicBezTo>
                  <a:lnTo>
                    <a:pt x="26447" y="202032"/>
                  </a:lnTo>
                  <a:cubicBezTo>
                    <a:pt x="11841" y="202032"/>
                    <a:pt x="0" y="190191"/>
                    <a:pt x="0" y="175585"/>
                  </a:cubicBezTo>
                  <a:lnTo>
                    <a:pt x="0" y="26447"/>
                  </a:lnTo>
                  <a:cubicBezTo>
                    <a:pt x="0" y="11841"/>
                    <a:pt x="11841" y="0"/>
                    <a:pt x="26447" y="0"/>
                  </a:cubicBezTo>
                  <a:close/>
                </a:path>
              </a:pathLst>
            </a:custGeom>
            <a:solidFill>
              <a:srgbClr val="EEB243"/>
            </a:solidFill>
          </p:spPr>
        </p:sp>
        <p:sp>
          <p:nvSpPr>
            <p:cNvPr name="TextBox 24" id="24"/>
            <p:cNvSpPr txBox="true"/>
            <p:nvPr/>
          </p:nvSpPr>
          <p:spPr>
            <a:xfrm>
              <a:off x="0" y="-38100"/>
              <a:ext cx="1331041" cy="240132"/>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2839236"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3310945" y="7312984"/>
            <a:ext cx="2872523" cy="349250"/>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Lecturer: TamNT122</a:t>
            </a:r>
          </a:p>
        </p:txBody>
      </p:sp>
      <p:sp>
        <p:nvSpPr>
          <p:cNvPr name="TextBox 28" id="28"/>
          <p:cNvSpPr txBox="true"/>
          <p:nvPr/>
        </p:nvSpPr>
        <p:spPr>
          <a:xfrm rot="0">
            <a:off x="818364" y="7317748"/>
            <a:ext cx="1807811" cy="349250"/>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S</a:t>
            </a:r>
            <a:r>
              <a:rPr lang="en-US" sz="2000" spc="182">
                <a:solidFill>
                  <a:srgbClr val="B05510"/>
                </a:solidFill>
                <a:latin typeface="Pier Sans Light"/>
                <a:ea typeface="Pier Sans Light"/>
                <a:cs typeface="Pier Sans Light"/>
                <a:sym typeface="Pier Sans Light"/>
              </a:rPr>
              <a:t>EP490_G4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8893752" y="835337"/>
            <a:ext cx="9142356" cy="914235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707946" y="5373535"/>
            <a:ext cx="7883424" cy="7143425"/>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818364" y="1455724"/>
            <a:ext cx="677868" cy="67786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050188" y="9147213"/>
            <a:ext cx="453167" cy="45316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839236"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9482934" y="3467842"/>
            <a:ext cx="7963993" cy="5024501"/>
            <a:chOff x="0" y="0"/>
            <a:chExt cx="1233831" cy="778427"/>
          </a:xfrm>
        </p:grpSpPr>
        <p:sp>
          <p:nvSpPr>
            <p:cNvPr name="Freeform 17" id="17"/>
            <p:cNvSpPr/>
            <p:nvPr/>
          </p:nvSpPr>
          <p:spPr>
            <a:xfrm flipH="false" flipV="false" rot="0">
              <a:off x="0" y="0"/>
              <a:ext cx="1233831" cy="778427"/>
            </a:xfrm>
            <a:custGeom>
              <a:avLst/>
              <a:gdLst/>
              <a:ahLst/>
              <a:cxnLst/>
              <a:rect r="r" b="b" t="t" l="l"/>
              <a:pathLst>
                <a:path h="778427" w="1233831">
                  <a:moveTo>
                    <a:pt x="0" y="0"/>
                  </a:moveTo>
                  <a:lnTo>
                    <a:pt x="1233831" y="0"/>
                  </a:lnTo>
                  <a:lnTo>
                    <a:pt x="1233831" y="778427"/>
                  </a:lnTo>
                  <a:lnTo>
                    <a:pt x="0" y="778427"/>
                  </a:lnTo>
                  <a:close/>
                </a:path>
              </a:pathLst>
            </a:custGeom>
            <a:blipFill>
              <a:blip r:embed="rId6"/>
              <a:stretch>
                <a:fillRect l="0" t="-2801" r="0" b="-2801"/>
              </a:stretch>
            </a:blipFill>
          </p:spPr>
        </p:sp>
      </p:grpSp>
      <p:sp>
        <p:nvSpPr>
          <p:cNvPr name="TextBox 18" id="18"/>
          <p:cNvSpPr txBox="true"/>
          <p:nvPr/>
        </p:nvSpPr>
        <p:spPr>
          <a:xfrm rot="0">
            <a:off x="2280785" y="1670833"/>
            <a:ext cx="13983628" cy="1061720"/>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F</a:t>
            </a:r>
            <a:r>
              <a:rPr lang="en-US" b="true" sz="6200" spc="-124">
                <a:solidFill>
                  <a:srgbClr val="B05510"/>
                </a:solidFill>
                <a:latin typeface="Gordita Bold"/>
                <a:ea typeface="Gordita Bold"/>
                <a:cs typeface="Gordita Bold"/>
                <a:sym typeface="Gordita Bold"/>
              </a:rPr>
              <a:t>OUNDA</a:t>
            </a:r>
            <a:r>
              <a:rPr lang="en-US" b="true" sz="6200" spc="-124">
                <a:solidFill>
                  <a:srgbClr val="B05510"/>
                </a:solidFill>
                <a:latin typeface="Gordita Bold"/>
                <a:ea typeface="Gordita Bold"/>
                <a:cs typeface="Gordita Bold"/>
                <a:sym typeface="Gordita Bold"/>
              </a:rPr>
              <a:t>TIONAL OPERATIONS</a:t>
            </a:r>
          </a:p>
        </p:txBody>
      </p:sp>
      <p:sp>
        <p:nvSpPr>
          <p:cNvPr name="TextBox 19" id="19"/>
          <p:cNvSpPr txBox="true"/>
          <p:nvPr/>
        </p:nvSpPr>
        <p:spPr>
          <a:xfrm rot="0">
            <a:off x="1157298" y="3414387"/>
            <a:ext cx="7963993" cy="5059367"/>
          </a:xfrm>
          <a:prstGeom prst="rect">
            <a:avLst/>
          </a:prstGeom>
        </p:spPr>
        <p:txBody>
          <a:bodyPr anchor="t" rtlCol="false" tIns="0" lIns="0" bIns="0" rIns="0">
            <a:spAutoFit/>
          </a:bodyPr>
          <a:lstStyle/>
          <a:p>
            <a:pPr algn="just">
              <a:lnSpc>
                <a:spcPts val="3079"/>
              </a:lnSpc>
              <a:spcBef>
                <a:spcPct val="0"/>
              </a:spcBef>
            </a:pPr>
            <a:r>
              <a:rPr lang="en-US" sz="2199" spc="200">
                <a:solidFill>
                  <a:srgbClr val="B05510"/>
                </a:solidFill>
                <a:latin typeface="Pier Sans Light"/>
                <a:ea typeface="Pier Sans Light"/>
                <a:cs typeface="Pier Sans Light"/>
                <a:sym typeface="Pier Sans Light"/>
              </a:rPr>
              <a:t>Lorem ipsum</a:t>
            </a:r>
            <a:r>
              <a:rPr lang="en-US" sz="2199" spc="200">
                <a:solidFill>
                  <a:srgbClr val="B05510"/>
                </a:solidFill>
                <a:latin typeface="Pier Sans Light"/>
                <a:ea typeface="Pier Sans Light"/>
                <a:cs typeface="Pier Sans Light"/>
                <a:sym typeface="Pier Sans Light"/>
              </a:rPr>
              <a:t> dolor sit amet, consectetur adipiscing elit. Aenean id laoreet diam, non mattis est. Curabitur iaculis quam at facilisis pulvinar. Fusce rutrum mauris diam, quis hendrerit ligula sodales eget. Maecenas egestas libero consectetur nunc hendrerit, sed lacinia lacus porta. Integer sed fringilla justo. Sed id sollicitudin nibh, sit amet gravida elit. Mauris faucibus eu ex interdum lacinia. Aliquam ullamcorper consectetur dolor id sollicitudin. Pellentesque lacinia eros nunc, finibus lacinia nulla fringilla sed. Quisque aliquet ligula enim, ut convallis felis euismod sed. Morbi sapien mi, rhoncus at fermentum non, blandit tincidunt mauris.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2839236"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64289" y="453400"/>
            <a:ext cx="7673583" cy="767358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544880" y="1244645"/>
            <a:ext cx="453167" cy="4531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3640414" y="-2232855"/>
            <a:ext cx="7198850" cy="6523111"/>
            <a:chOff x="0" y="0"/>
            <a:chExt cx="896999" cy="812800"/>
          </a:xfrm>
        </p:grpSpPr>
        <p:sp>
          <p:nvSpPr>
            <p:cNvPr name="Freeform 11" id="11"/>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12" id="12"/>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4389665" y="1471229"/>
            <a:ext cx="13166270" cy="3581642"/>
            <a:chOff x="0" y="0"/>
            <a:chExt cx="2709109" cy="736963"/>
          </a:xfrm>
        </p:grpSpPr>
        <p:sp>
          <p:nvSpPr>
            <p:cNvPr name="Freeform 14" id="14"/>
            <p:cNvSpPr/>
            <p:nvPr/>
          </p:nvSpPr>
          <p:spPr>
            <a:xfrm flipH="false" flipV="false" rot="0">
              <a:off x="0" y="0"/>
              <a:ext cx="2709109" cy="736963"/>
            </a:xfrm>
            <a:custGeom>
              <a:avLst/>
              <a:gdLst/>
              <a:ahLst/>
              <a:cxnLst/>
              <a:rect r="r" b="b" t="t" l="l"/>
              <a:pathLst>
                <a:path h="736963" w="2709109">
                  <a:moveTo>
                    <a:pt x="11485" y="0"/>
                  </a:moveTo>
                  <a:lnTo>
                    <a:pt x="2697624" y="0"/>
                  </a:lnTo>
                  <a:cubicBezTo>
                    <a:pt x="2700670" y="0"/>
                    <a:pt x="2703592" y="1210"/>
                    <a:pt x="2705745" y="3364"/>
                  </a:cubicBezTo>
                  <a:cubicBezTo>
                    <a:pt x="2707899" y="5518"/>
                    <a:pt x="2709109" y="8439"/>
                    <a:pt x="2709109" y="11485"/>
                  </a:cubicBezTo>
                  <a:lnTo>
                    <a:pt x="2709109" y="725479"/>
                  </a:lnTo>
                  <a:cubicBezTo>
                    <a:pt x="2709109" y="728525"/>
                    <a:pt x="2707899" y="731446"/>
                    <a:pt x="2705745" y="733600"/>
                  </a:cubicBezTo>
                  <a:cubicBezTo>
                    <a:pt x="2703592" y="735753"/>
                    <a:pt x="2700670" y="736963"/>
                    <a:pt x="2697624" y="736963"/>
                  </a:cubicBezTo>
                  <a:lnTo>
                    <a:pt x="11485" y="736963"/>
                  </a:lnTo>
                  <a:cubicBezTo>
                    <a:pt x="8439" y="736963"/>
                    <a:pt x="5518" y="735753"/>
                    <a:pt x="3364" y="733600"/>
                  </a:cubicBezTo>
                  <a:cubicBezTo>
                    <a:pt x="1210" y="731446"/>
                    <a:pt x="0" y="728525"/>
                    <a:pt x="0" y="725479"/>
                  </a:cubicBezTo>
                  <a:lnTo>
                    <a:pt x="0" y="11485"/>
                  </a:lnTo>
                  <a:cubicBezTo>
                    <a:pt x="0" y="8439"/>
                    <a:pt x="1210" y="5518"/>
                    <a:pt x="3364" y="3364"/>
                  </a:cubicBezTo>
                  <a:cubicBezTo>
                    <a:pt x="5518" y="1210"/>
                    <a:pt x="8439" y="0"/>
                    <a:pt x="11485" y="0"/>
                  </a:cubicBezTo>
                  <a:close/>
                </a:path>
              </a:pathLst>
            </a:custGeom>
            <a:solidFill>
              <a:srgbClr val="F2B05B"/>
            </a:solidFill>
            <a:ln w="28575" cap="rnd">
              <a:solidFill>
                <a:srgbClr val="B05510"/>
              </a:solidFill>
              <a:prstDash val="solid"/>
              <a:round/>
            </a:ln>
          </p:spPr>
        </p:sp>
        <p:sp>
          <p:nvSpPr>
            <p:cNvPr name="TextBox 15" id="15"/>
            <p:cNvSpPr txBox="true"/>
            <p:nvPr/>
          </p:nvSpPr>
          <p:spPr>
            <a:xfrm>
              <a:off x="0" y="-38100"/>
              <a:ext cx="2709109" cy="77506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32065" y="5234130"/>
            <a:ext cx="13166270" cy="3581642"/>
            <a:chOff x="0" y="0"/>
            <a:chExt cx="2709109" cy="736963"/>
          </a:xfrm>
        </p:grpSpPr>
        <p:sp>
          <p:nvSpPr>
            <p:cNvPr name="Freeform 17" id="17"/>
            <p:cNvSpPr/>
            <p:nvPr/>
          </p:nvSpPr>
          <p:spPr>
            <a:xfrm flipH="false" flipV="false" rot="0">
              <a:off x="0" y="0"/>
              <a:ext cx="2709109" cy="736963"/>
            </a:xfrm>
            <a:custGeom>
              <a:avLst/>
              <a:gdLst/>
              <a:ahLst/>
              <a:cxnLst/>
              <a:rect r="r" b="b" t="t" l="l"/>
              <a:pathLst>
                <a:path h="736963" w="2709109">
                  <a:moveTo>
                    <a:pt x="11485" y="0"/>
                  </a:moveTo>
                  <a:lnTo>
                    <a:pt x="2697624" y="0"/>
                  </a:lnTo>
                  <a:cubicBezTo>
                    <a:pt x="2700670" y="0"/>
                    <a:pt x="2703592" y="1210"/>
                    <a:pt x="2705745" y="3364"/>
                  </a:cubicBezTo>
                  <a:cubicBezTo>
                    <a:pt x="2707899" y="5518"/>
                    <a:pt x="2709109" y="8439"/>
                    <a:pt x="2709109" y="11485"/>
                  </a:cubicBezTo>
                  <a:lnTo>
                    <a:pt x="2709109" y="725479"/>
                  </a:lnTo>
                  <a:cubicBezTo>
                    <a:pt x="2709109" y="728525"/>
                    <a:pt x="2707899" y="731446"/>
                    <a:pt x="2705745" y="733600"/>
                  </a:cubicBezTo>
                  <a:cubicBezTo>
                    <a:pt x="2703592" y="735753"/>
                    <a:pt x="2700670" y="736963"/>
                    <a:pt x="2697624" y="736963"/>
                  </a:cubicBezTo>
                  <a:lnTo>
                    <a:pt x="11485" y="736963"/>
                  </a:lnTo>
                  <a:cubicBezTo>
                    <a:pt x="8439" y="736963"/>
                    <a:pt x="5518" y="735753"/>
                    <a:pt x="3364" y="733600"/>
                  </a:cubicBezTo>
                  <a:cubicBezTo>
                    <a:pt x="1210" y="731446"/>
                    <a:pt x="0" y="728525"/>
                    <a:pt x="0" y="725479"/>
                  </a:cubicBezTo>
                  <a:lnTo>
                    <a:pt x="0" y="11485"/>
                  </a:lnTo>
                  <a:cubicBezTo>
                    <a:pt x="0" y="8439"/>
                    <a:pt x="1210" y="5518"/>
                    <a:pt x="3364" y="3364"/>
                  </a:cubicBezTo>
                  <a:cubicBezTo>
                    <a:pt x="5518" y="1210"/>
                    <a:pt x="8439" y="0"/>
                    <a:pt x="11485" y="0"/>
                  </a:cubicBezTo>
                  <a:close/>
                </a:path>
              </a:pathLst>
            </a:custGeom>
            <a:solidFill>
              <a:srgbClr val="B05510"/>
            </a:solidFill>
            <a:ln w="28575" cap="rnd">
              <a:solidFill>
                <a:srgbClr val="EEB243"/>
              </a:solidFill>
              <a:prstDash val="solid"/>
              <a:round/>
            </a:ln>
          </p:spPr>
        </p:sp>
        <p:sp>
          <p:nvSpPr>
            <p:cNvPr name="TextBox 18" id="18"/>
            <p:cNvSpPr txBox="true"/>
            <p:nvPr/>
          </p:nvSpPr>
          <p:spPr>
            <a:xfrm>
              <a:off x="0" y="-38100"/>
              <a:ext cx="2709109" cy="77506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5042509" y="7258211"/>
            <a:ext cx="677868" cy="67786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4810097" y="1779023"/>
            <a:ext cx="832303" cy="919672"/>
          </a:xfrm>
          <a:custGeom>
            <a:avLst/>
            <a:gdLst/>
            <a:ahLst/>
            <a:cxnLst/>
            <a:rect r="r" b="b" t="t" l="l"/>
            <a:pathLst>
              <a:path h="919672" w="832303">
                <a:moveTo>
                  <a:pt x="0" y="0"/>
                </a:moveTo>
                <a:lnTo>
                  <a:pt x="832303" y="0"/>
                </a:lnTo>
                <a:lnTo>
                  <a:pt x="832303" y="919672"/>
                </a:lnTo>
                <a:lnTo>
                  <a:pt x="0" y="919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104900" y="5491702"/>
            <a:ext cx="823106" cy="919672"/>
          </a:xfrm>
          <a:custGeom>
            <a:avLst/>
            <a:gdLst/>
            <a:ahLst/>
            <a:cxnLst/>
            <a:rect r="r" b="b" t="t" l="l"/>
            <a:pathLst>
              <a:path h="919672" w="823106">
                <a:moveTo>
                  <a:pt x="0" y="0"/>
                </a:moveTo>
                <a:lnTo>
                  <a:pt x="823106" y="0"/>
                </a:lnTo>
                <a:lnTo>
                  <a:pt x="823106" y="919672"/>
                </a:lnTo>
                <a:lnTo>
                  <a:pt x="0" y="9196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5877635" y="2160875"/>
            <a:ext cx="6863215" cy="537820"/>
          </a:xfrm>
          <a:prstGeom prst="rect">
            <a:avLst/>
          </a:prstGeom>
        </p:spPr>
        <p:txBody>
          <a:bodyPr anchor="t" rtlCol="false" tIns="0" lIns="0" bIns="0" rIns="0">
            <a:spAutoFit/>
          </a:bodyPr>
          <a:lstStyle/>
          <a:p>
            <a:pPr algn="l">
              <a:lnSpc>
                <a:spcPts val="4480"/>
              </a:lnSpc>
              <a:spcBef>
                <a:spcPct val="0"/>
              </a:spcBef>
            </a:pPr>
            <a:r>
              <a:rPr lang="en-US" b="true" sz="3200" spc="-64">
                <a:solidFill>
                  <a:srgbClr val="B05510"/>
                </a:solidFill>
                <a:latin typeface="Gordita Bold"/>
                <a:ea typeface="Gordita Bold"/>
                <a:cs typeface="Gordita Bold"/>
                <a:sym typeface="Gordita Bold"/>
              </a:rPr>
              <a:t>INB</a:t>
            </a:r>
            <a:r>
              <a:rPr lang="en-US" b="true" sz="3200" spc="-64">
                <a:solidFill>
                  <a:srgbClr val="B05510"/>
                </a:solidFill>
                <a:latin typeface="Gordita Bold"/>
                <a:ea typeface="Gordita Bold"/>
                <a:cs typeface="Gordita Bold"/>
                <a:sym typeface="Gordita Bold"/>
              </a:rPr>
              <a:t>OUND LOG</a:t>
            </a:r>
            <a:r>
              <a:rPr lang="en-US" b="true" sz="3200" spc="-64">
                <a:solidFill>
                  <a:srgbClr val="B05510"/>
                </a:solidFill>
                <a:latin typeface="Gordita Bold"/>
                <a:ea typeface="Gordita Bold"/>
                <a:cs typeface="Gordita Bold"/>
                <a:sym typeface="Gordita Bold"/>
              </a:rPr>
              <a:t>ISTICS</a:t>
            </a:r>
          </a:p>
        </p:txBody>
      </p:sp>
      <p:sp>
        <p:nvSpPr>
          <p:cNvPr name="TextBox 25" id="25"/>
          <p:cNvSpPr txBox="true"/>
          <p:nvPr/>
        </p:nvSpPr>
        <p:spPr>
          <a:xfrm rot="0">
            <a:off x="2172437" y="5894388"/>
            <a:ext cx="6863215" cy="537820"/>
          </a:xfrm>
          <a:prstGeom prst="rect">
            <a:avLst/>
          </a:prstGeom>
        </p:spPr>
        <p:txBody>
          <a:bodyPr anchor="t" rtlCol="false" tIns="0" lIns="0" bIns="0" rIns="0">
            <a:spAutoFit/>
          </a:bodyPr>
          <a:lstStyle/>
          <a:p>
            <a:pPr algn="l">
              <a:lnSpc>
                <a:spcPts val="4480"/>
              </a:lnSpc>
              <a:spcBef>
                <a:spcPct val="0"/>
              </a:spcBef>
            </a:pPr>
            <a:r>
              <a:rPr lang="en-US" b="true" sz="3200" spc="-64">
                <a:solidFill>
                  <a:srgbClr val="EEB243"/>
                </a:solidFill>
                <a:latin typeface="Gordita Bold"/>
                <a:ea typeface="Gordita Bold"/>
                <a:cs typeface="Gordita Bold"/>
                <a:sym typeface="Gordita Bold"/>
              </a:rPr>
              <a:t>OUT</a:t>
            </a:r>
            <a:r>
              <a:rPr lang="en-US" b="true" sz="3200" spc="-64">
                <a:solidFill>
                  <a:srgbClr val="EEB243"/>
                </a:solidFill>
                <a:latin typeface="Gordita Bold"/>
                <a:ea typeface="Gordita Bold"/>
                <a:cs typeface="Gordita Bold"/>
                <a:sym typeface="Gordita Bold"/>
              </a:rPr>
              <a:t>BOUND LOG</a:t>
            </a:r>
            <a:r>
              <a:rPr lang="en-US" b="true" sz="3200" spc="-64">
                <a:solidFill>
                  <a:srgbClr val="EEB243"/>
                </a:solidFill>
                <a:latin typeface="Gordita Bold"/>
                <a:ea typeface="Gordita Bold"/>
                <a:cs typeface="Gordita Bold"/>
                <a:sym typeface="Gordita Bold"/>
              </a:rPr>
              <a:t>ISTICS</a:t>
            </a:r>
          </a:p>
        </p:txBody>
      </p:sp>
      <p:sp>
        <p:nvSpPr>
          <p:cNvPr name="TextBox 26" id="26"/>
          <p:cNvSpPr txBox="true"/>
          <p:nvPr/>
        </p:nvSpPr>
        <p:spPr>
          <a:xfrm rot="0">
            <a:off x="4810097" y="2888231"/>
            <a:ext cx="12262383" cy="1759198"/>
          </a:xfrm>
          <a:prstGeom prst="rect">
            <a:avLst/>
          </a:prstGeom>
        </p:spPr>
        <p:txBody>
          <a:bodyPr anchor="t" rtlCol="false" tIns="0" lIns="0" bIns="0" rIns="0">
            <a:spAutoFit/>
          </a:bodyPr>
          <a:lstStyle/>
          <a:p>
            <a:pPr algn="just">
              <a:lnSpc>
                <a:spcPts val="2800"/>
              </a:lnSpc>
              <a:spcBef>
                <a:spcPct val="0"/>
              </a:spcBef>
            </a:pPr>
            <a:r>
              <a:rPr lang="en-US" sz="2000" spc="182">
                <a:solidFill>
                  <a:srgbClr val="B05510"/>
                </a:solidFill>
                <a:latin typeface="Pier Sans Light"/>
                <a:ea typeface="Pier Sans Light"/>
                <a:cs typeface="Pier Sans Light"/>
                <a:sym typeface="Pier Sans Light"/>
              </a:rPr>
              <a:t>Lorem ipsum</a:t>
            </a:r>
            <a:r>
              <a:rPr lang="en-US" sz="2000" spc="182">
                <a:solidFill>
                  <a:srgbClr val="B05510"/>
                </a:solidFill>
                <a:latin typeface="Pier Sans Light"/>
                <a:ea typeface="Pier Sans Light"/>
                <a:cs typeface="Pier Sans Light"/>
                <a:sym typeface="Pier Sans Light"/>
              </a:rPr>
              <a:t> dolor sit amet, consectetur adipiscing elit. Aenean id laoreet diam, non mattis est. Curabitur iaculis quam at facilisis pulvinar. Fusce rutrum mauris diam, quis hendrerit ligula sodales eget. Maecenas egestas libero consectetur nunc hendrerit, sed lacinia lacus porta. Integer sed fringilla justo. Sed id sollicitudin nibh, sit amet gravida elit. Mauris faucibus eu ex interdum lacinia. </a:t>
            </a:r>
          </a:p>
        </p:txBody>
      </p:sp>
      <p:sp>
        <p:nvSpPr>
          <p:cNvPr name="TextBox 27" id="27"/>
          <p:cNvSpPr txBox="true"/>
          <p:nvPr/>
        </p:nvSpPr>
        <p:spPr>
          <a:xfrm rot="0">
            <a:off x="1104900" y="6693733"/>
            <a:ext cx="12262383" cy="1759198"/>
          </a:xfrm>
          <a:prstGeom prst="rect">
            <a:avLst/>
          </a:prstGeom>
        </p:spPr>
        <p:txBody>
          <a:bodyPr anchor="t" rtlCol="false" tIns="0" lIns="0" bIns="0" rIns="0">
            <a:spAutoFit/>
          </a:bodyPr>
          <a:lstStyle/>
          <a:p>
            <a:pPr algn="just">
              <a:lnSpc>
                <a:spcPts val="2800"/>
              </a:lnSpc>
              <a:spcBef>
                <a:spcPct val="0"/>
              </a:spcBef>
            </a:pPr>
            <a:r>
              <a:rPr lang="en-US" sz="2000" spc="182">
                <a:solidFill>
                  <a:srgbClr val="EEB243"/>
                </a:solidFill>
                <a:latin typeface="Pier Sans Light"/>
                <a:ea typeface="Pier Sans Light"/>
                <a:cs typeface="Pier Sans Light"/>
                <a:sym typeface="Pier Sans Light"/>
              </a:rPr>
              <a:t>Lorem ipsum</a:t>
            </a:r>
            <a:r>
              <a:rPr lang="en-US" sz="2000" spc="182">
                <a:solidFill>
                  <a:srgbClr val="EEB243"/>
                </a:solidFill>
                <a:latin typeface="Pier Sans Light"/>
                <a:ea typeface="Pier Sans Light"/>
                <a:cs typeface="Pier Sans Light"/>
                <a:sym typeface="Pier Sans Light"/>
              </a:rPr>
              <a:t> dolor sit amet, consectetur adipiscing elit. Aenean id laoreet diam, non mattis est. Curabitur iaculis quam at facilisis pulvinar. Fusce rutrum mauris diam, quis hendrerit ligula sodales eget. Maecenas egestas libero consectetur nunc hendrerit, sed lacinia lacus porta. Integer sed fringilla justo. Sed id sollicitudin nibh, sit amet gravida elit. Mauris faucibus eu ex interdum lacinia. </a:t>
            </a:r>
          </a:p>
        </p:txBody>
      </p:sp>
      <p:grpSp>
        <p:nvGrpSpPr>
          <p:cNvPr name="Group 28" id="28"/>
          <p:cNvGrpSpPr/>
          <p:nvPr/>
        </p:nvGrpSpPr>
        <p:grpSpPr>
          <a:xfrm rot="0">
            <a:off x="-2714673" y="956619"/>
            <a:ext cx="3867936" cy="386793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2617123" y="835337"/>
            <a:ext cx="7291646" cy="72916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26927" y="-2356557"/>
            <a:ext cx="7416842" cy="6720641"/>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93968" y="1275404"/>
            <a:ext cx="7963993" cy="8052946"/>
            <a:chOff x="0" y="0"/>
            <a:chExt cx="1233831" cy="1247612"/>
          </a:xfrm>
        </p:grpSpPr>
        <p:sp>
          <p:nvSpPr>
            <p:cNvPr name="Freeform 10" id="10"/>
            <p:cNvSpPr/>
            <p:nvPr/>
          </p:nvSpPr>
          <p:spPr>
            <a:xfrm flipH="false" flipV="false" rot="0">
              <a:off x="0" y="0"/>
              <a:ext cx="1233831" cy="1247612"/>
            </a:xfrm>
            <a:custGeom>
              <a:avLst/>
              <a:gdLst/>
              <a:ahLst/>
              <a:cxnLst/>
              <a:rect r="r" b="b" t="t" l="l"/>
              <a:pathLst>
                <a:path h="1247612" w="1233831">
                  <a:moveTo>
                    <a:pt x="0" y="0"/>
                  </a:moveTo>
                  <a:lnTo>
                    <a:pt x="1233831" y="0"/>
                  </a:lnTo>
                  <a:lnTo>
                    <a:pt x="1233831" y="1247612"/>
                  </a:lnTo>
                  <a:lnTo>
                    <a:pt x="0" y="1247612"/>
                  </a:lnTo>
                  <a:close/>
                </a:path>
              </a:pathLst>
            </a:custGeom>
            <a:blipFill>
              <a:blip r:embed="rId4"/>
              <a:stretch>
                <a:fillRect l="-39881" t="0" r="-39881" b="0"/>
              </a:stretch>
            </a:blipFill>
          </p:spPr>
        </p:sp>
      </p:grpSp>
      <p:sp>
        <p:nvSpPr>
          <p:cNvPr name="Freeform 11" id="11"/>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6619038" y="4681647"/>
            <a:ext cx="4277180" cy="42771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8950109" y="3931811"/>
            <a:ext cx="504240" cy="504240"/>
          </a:xfrm>
          <a:custGeom>
            <a:avLst/>
            <a:gdLst/>
            <a:ahLst/>
            <a:cxnLst/>
            <a:rect r="r" b="b" t="t" l="l"/>
            <a:pathLst>
              <a:path h="504240" w="504240">
                <a:moveTo>
                  <a:pt x="0" y="0"/>
                </a:moveTo>
                <a:lnTo>
                  <a:pt x="504240" y="0"/>
                </a:lnTo>
                <a:lnTo>
                  <a:pt x="504240" y="504240"/>
                </a:lnTo>
                <a:lnTo>
                  <a:pt x="0" y="504240"/>
                </a:lnTo>
                <a:lnTo>
                  <a:pt x="0" y="0"/>
                </a:lnTo>
                <a:close/>
              </a:path>
            </a:pathLst>
          </a:custGeom>
          <a:blipFill>
            <a:blip r:embed="rId7"/>
            <a:stretch>
              <a:fillRect l="0" t="0" r="0" b="0"/>
            </a:stretch>
          </a:blipFill>
        </p:spPr>
      </p:sp>
      <p:sp>
        <p:nvSpPr>
          <p:cNvPr name="Freeform 16" id="16"/>
          <p:cNvSpPr/>
          <p:nvPr/>
        </p:nvSpPr>
        <p:spPr>
          <a:xfrm flipH="false" flipV="false" rot="0">
            <a:off x="8950109" y="5784953"/>
            <a:ext cx="504240" cy="504240"/>
          </a:xfrm>
          <a:custGeom>
            <a:avLst/>
            <a:gdLst/>
            <a:ahLst/>
            <a:cxnLst/>
            <a:rect r="r" b="b" t="t" l="l"/>
            <a:pathLst>
              <a:path h="504240" w="504240">
                <a:moveTo>
                  <a:pt x="0" y="0"/>
                </a:moveTo>
                <a:lnTo>
                  <a:pt x="504240" y="0"/>
                </a:lnTo>
                <a:lnTo>
                  <a:pt x="504240" y="504240"/>
                </a:lnTo>
                <a:lnTo>
                  <a:pt x="0" y="504240"/>
                </a:lnTo>
                <a:lnTo>
                  <a:pt x="0" y="0"/>
                </a:lnTo>
                <a:close/>
              </a:path>
            </a:pathLst>
          </a:custGeom>
          <a:blipFill>
            <a:blip r:embed="rId7"/>
            <a:stretch>
              <a:fillRect l="0" t="0" r="0" b="0"/>
            </a:stretch>
          </a:blipFill>
        </p:spPr>
      </p:sp>
      <p:sp>
        <p:nvSpPr>
          <p:cNvPr name="Freeform 17" id="17"/>
          <p:cNvSpPr/>
          <p:nvPr/>
        </p:nvSpPr>
        <p:spPr>
          <a:xfrm flipH="false" flipV="false" rot="0">
            <a:off x="8950109" y="7639326"/>
            <a:ext cx="504240" cy="504240"/>
          </a:xfrm>
          <a:custGeom>
            <a:avLst/>
            <a:gdLst/>
            <a:ahLst/>
            <a:cxnLst/>
            <a:rect r="r" b="b" t="t" l="l"/>
            <a:pathLst>
              <a:path h="504240" w="504240">
                <a:moveTo>
                  <a:pt x="0" y="0"/>
                </a:moveTo>
                <a:lnTo>
                  <a:pt x="504240" y="0"/>
                </a:lnTo>
                <a:lnTo>
                  <a:pt x="504240" y="504241"/>
                </a:lnTo>
                <a:lnTo>
                  <a:pt x="0" y="504241"/>
                </a:lnTo>
                <a:lnTo>
                  <a:pt x="0" y="0"/>
                </a:lnTo>
                <a:close/>
              </a:path>
            </a:pathLst>
          </a:custGeom>
          <a:blipFill>
            <a:blip r:embed="rId7"/>
            <a:stretch>
              <a:fillRect l="0" t="0" r="0" b="0"/>
            </a:stretch>
          </a:blipFill>
        </p:spPr>
      </p:sp>
      <p:sp>
        <p:nvSpPr>
          <p:cNvPr name="TextBox 18" id="18"/>
          <p:cNvSpPr txBox="true"/>
          <p:nvPr/>
        </p:nvSpPr>
        <p:spPr>
          <a:xfrm rot="0">
            <a:off x="8950109" y="1039035"/>
            <a:ext cx="7402229" cy="2157095"/>
          </a:xfrm>
          <a:prstGeom prst="rect">
            <a:avLst/>
          </a:prstGeom>
        </p:spPr>
        <p:txBody>
          <a:bodyPr anchor="t" rtlCol="false" tIns="0" lIns="0" bIns="0" rIns="0">
            <a:spAutoFit/>
          </a:bodyPr>
          <a:lstStyle/>
          <a:p>
            <a:pPr algn="l">
              <a:lnSpc>
                <a:spcPts val="8680"/>
              </a:lnSpc>
              <a:spcBef>
                <a:spcPct val="0"/>
              </a:spcBef>
            </a:pPr>
            <a:r>
              <a:rPr lang="en-US" b="true" sz="6200" spc="-124">
                <a:solidFill>
                  <a:srgbClr val="B05510"/>
                </a:solidFill>
                <a:latin typeface="Gordita Bold"/>
                <a:ea typeface="Gordita Bold"/>
                <a:cs typeface="Gordita Bold"/>
                <a:sym typeface="Gordita Bold"/>
              </a:rPr>
              <a:t>WAREH</a:t>
            </a:r>
            <a:r>
              <a:rPr lang="en-US" b="true" sz="6200" spc="-124">
                <a:solidFill>
                  <a:srgbClr val="B05510"/>
                </a:solidFill>
                <a:latin typeface="Gordita Bold"/>
                <a:ea typeface="Gordita Bold"/>
                <a:cs typeface="Gordita Bold"/>
                <a:sym typeface="Gordita Bold"/>
              </a:rPr>
              <a:t>OUSE AU</a:t>
            </a:r>
            <a:r>
              <a:rPr lang="en-US" b="true" sz="6200" spc="-124">
                <a:solidFill>
                  <a:srgbClr val="B05510"/>
                </a:solidFill>
                <a:latin typeface="Gordita Bold"/>
                <a:ea typeface="Gordita Bold"/>
                <a:cs typeface="Gordita Bold"/>
                <a:sym typeface="Gordita Bold"/>
              </a:rPr>
              <a:t>TOMATION</a:t>
            </a:r>
          </a:p>
        </p:txBody>
      </p:sp>
      <p:sp>
        <p:nvSpPr>
          <p:cNvPr name="TextBox 19" id="19"/>
          <p:cNvSpPr txBox="true"/>
          <p:nvPr/>
        </p:nvSpPr>
        <p:spPr>
          <a:xfrm rot="0">
            <a:off x="9683453" y="3865136"/>
            <a:ext cx="4596661"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Smart Robotics</a:t>
            </a:r>
          </a:p>
        </p:txBody>
      </p:sp>
      <p:sp>
        <p:nvSpPr>
          <p:cNvPr name="TextBox 20" id="20"/>
          <p:cNvSpPr txBox="true"/>
          <p:nvPr/>
        </p:nvSpPr>
        <p:spPr>
          <a:xfrm rot="0">
            <a:off x="9683453" y="5718278"/>
            <a:ext cx="4596661"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P</a:t>
            </a:r>
            <a:r>
              <a:rPr lang="en-US" b="true" sz="3000" spc="273">
                <a:solidFill>
                  <a:srgbClr val="B05510"/>
                </a:solidFill>
                <a:latin typeface="Pier Sans Light Bold"/>
                <a:ea typeface="Pier Sans Light Bold"/>
                <a:cs typeface="Pier Sans Light Bold"/>
                <a:sym typeface="Pier Sans Light Bold"/>
              </a:rPr>
              <a:t>redictive Stocking</a:t>
            </a:r>
          </a:p>
        </p:txBody>
      </p:sp>
      <p:sp>
        <p:nvSpPr>
          <p:cNvPr name="TextBox 21" id="21"/>
          <p:cNvSpPr txBox="true"/>
          <p:nvPr/>
        </p:nvSpPr>
        <p:spPr>
          <a:xfrm rot="0">
            <a:off x="9683453" y="7572651"/>
            <a:ext cx="4596661"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Zero-Erro</a:t>
            </a:r>
            <a:r>
              <a:rPr lang="en-US" b="true" sz="3000" spc="273">
                <a:solidFill>
                  <a:srgbClr val="B05510"/>
                </a:solidFill>
                <a:latin typeface="Pier Sans Light Bold"/>
                <a:ea typeface="Pier Sans Light Bold"/>
                <a:cs typeface="Pier Sans Light Bold"/>
                <a:sym typeface="Pier Sans Light Bold"/>
              </a:rPr>
              <a:t>r RFID</a:t>
            </a:r>
          </a:p>
        </p:txBody>
      </p:sp>
      <p:sp>
        <p:nvSpPr>
          <p:cNvPr name="TextBox 22" id="22"/>
          <p:cNvSpPr txBox="true"/>
          <p:nvPr/>
        </p:nvSpPr>
        <p:spPr>
          <a:xfrm rot="0">
            <a:off x="9704895" y="4465235"/>
            <a:ext cx="7208472" cy="1054249"/>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Au</a:t>
            </a:r>
            <a:r>
              <a:rPr lang="en-US" sz="2000" spc="182">
                <a:solidFill>
                  <a:srgbClr val="B05510"/>
                </a:solidFill>
                <a:latin typeface="Pier Sans Light"/>
                <a:ea typeface="Pier Sans Light"/>
                <a:cs typeface="Pier Sans Light"/>
                <a:sym typeface="Pier Sans Light"/>
              </a:rPr>
              <a:t>tomated Guided Vehicles (AGVs) navigate facility floors dynamically to fetch, sort, and organize pallet inventory without manual human labor.</a:t>
            </a:r>
          </a:p>
        </p:txBody>
      </p:sp>
      <p:sp>
        <p:nvSpPr>
          <p:cNvPr name="TextBox 23" id="23"/>
          <p:cNvSpPr txBox="true"/>
          <p:nvPr/>
        </p:nvSpPr>
        <p:spPr>
          <a:xfrm rot="0">
            <a:off x="9704895" y="6318378"/>
            <a:ext cx="6647443" cy="1054249"/>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M</a:t>
            </a:r>
            <a:r>
              <a:rPr lang="en-US" sz="2000" spc="182">
                <a:solidFill>
                  <a:srgbClr val="B05510"/>
                </a:solidFill>
                <a:latin typeface="Pier Sans Light"/>
                <a:ea typeface="Pier Sans Light"/>
                <a:cs typeface="Pier Sans Light"/>
                <a:sym typeface="Pier Sans Light"/>
              </a:rPr>
              <a:t>achine learning algorithms forecast local storage demands, pre-positioning high-velocity items closer to dispatch zones.</a:t>
            </a:r>
          </a:p>
        </p:txBody>
      </p:sp>
      <p:sp>
        <p:nvSpPr>
          <p:cNvPr name="TextBox 24" id="24"/>
          <p:cNvSpPr txBox="true"/>
          <p:nvPr/>
        </p:nvSpPr>
        <p:spPr>
          <a:xfrm rot="0">
            <a:off x="9704895" y="8172751"/>
            <a:ext cx="7208472" cy="1054249"/>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In</a:t>
            </a:r>
            <a:r>
              <a:rPr lang="en-US" sz="2000" spc="182">
                <a:solidFill>
                  <a:srgbClr val="B05510"/>
                </a:solidFill>
                <a:latin typeface="Pier Sans Light"/>
                <a:ea typeface="Pier Sans Light"/>
                <a:cs typeface="Pier Sans Light"/>
                <a:sym typeface="Pier Sans Light"/>
              </a:rPr>
              <a:t>tegrated radio-frequency identification systems automatically scan goods during entry and exit for real-time digital manifest verification.</a:t>
            </a:r>
          </a:p>
        </p:txBody>
      </p:sp>
      <p:grpSp>
        <p:nvGrpSpPr>
          <p:cNvPr name="Group 25" id="25"/>
          <p:cNvGrpSpPr/>
          <p:nvPr/>
        </p:nvGrpSpPr>
        <p:grpSpPr>
          <a:xfrm rot="0">
            <a:off x="16352338" y="2454341"/>
            <a:ext cx="453167" cy="45316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127402" y="3747730"/>
            <a:ext cx="10033196" cy="100332"/>
          </a:xfrm>
          <a:custGeom>
            <a:avLst/>
            <a:gdLst/>
            <a:ahLst/>
            <a:cxnLst/>
            <a:rect r="r" b="b" t="t" l="l"/>
            <a:pathLst>
              <a:path h="100332" w="10033196">
                <a:moveTo>
                  <a:pt x="0" y="0"/>
                </a:moveTo>
                <a:lnTo>
                  <a:pt x="10033196" y="0"/>
                </a:lnTo>
                <a:lnTo>
                  <a:pt x="10033196" y="100332"/>
                </a:lnTo>
                <a:lnTo>
                  <a:pt x="0" y="10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280785" y="2077908"/>
            <a:ext cx="13983628" cy="1061720"/>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D</a:t>
            </a:r>
            <a:r>
              <a:rPr lang="en-US" b="true" sz="6200" spc="-124">
                <a:solidFill>
                  <a:srgbClr val="B05510"/>
                </a:solidFill>
                <a:latin typeface="Gordita Bold"/>
                <a:ea typeface="Gordita Bold"/>
                <a:cs typeface="Gordita Bold"/>
                <a:sym typeface="Gordita Bold"/>
              </a:rPr>
              <a:t>A</a:t>
            </a:r>
            <a:r>
              <a:rPr lang="en-US" b="true" sz="6200" spc="-124">
                <a:solidFill>
                  <a:srgbClr val="B05510"/>
                </a:solidFill>
                <a:latin typeface="Gordita Bold"/>
                <a:ea typeface="Gordita Bold"/>
                <a:cs typeface="Gordita Bold"/>
                <a:sym typeface="Gordita Bold"/>
              </a:rPr>
              <a:t>TA-DRIVEN PERFORMANCE</a:t>
            </a:r>
          </a:p>
        </p:txBody>
      </p:sp>
      <p:sp>
        <p:nvSpPr>
          <p:cNvPr name="TextBox 6" id="6"/>
          <p:cNvSpPr txBox="true"/>
          <p:nvPr/>
        </p:nvSpPr>
        <p:spPr>
          <a:xfrm rot="0">
            <a:off x="2256357" y="4418063"/>
            <a:ext cx="13775286" cy="3106618"/>
          </a:xfrm>
          <a:prstGeom prst="rect">
            <a:avLst/>
          </a:prstGeom>
        </p:spPr>
        <p:txBody>
          <a:bodyPr anchor="t" rtlCol="false" tIns="0" lIns="0" bIns="0" rIns="0">
            <a:spAutoFit/>
          </a:bodyPr>
          <a:lstStyle/>
          <a:p>
            <a:pPr algn="just">
              <a:lnSpc>
                <a:spcPts val="3079"/>
              </a:lnSpc>
              <a:spcBef>
                <a:spcPct val="0"/>
              </a:spcBef>
            </a:pPr>
            <a:r>
              <a:rPr lang="en-US" sz="2199" spc="200">
                <a:solidFill>
                  <a:srgbClr val="B05510"/>
                </a:solidFill>
                <a:latin typeface="Pier Sans Light"/>
                <a:ea typeface="Pier Sans Light"/>
                <a:cs typeface="Pier Sans Light"/>
                <a:sym typeface="Pier Sans Light"/>
              </a:rPr>
              <a:t>Lorem ipsum</a:t>
            </a:r>
            <a:r>
              <a:rPr lang="en-US" sz="2199" spc="200">
                <a:solidFill>
                  <a:srgbClr val="B05510"/>
                </a:solidFill>
                <a:latin typeface="Pier Sans Light"/>
                <a:ea typeface="Pier Sans Light"/>
                <a:cs typeface="Pier Sans Light"/>
                <a:sym typeface="Pier Sans Light"/>
              </a:rPr>
              <a:t> dolor sit amet, consectetur adipiscing elit. Aenean id laoreet diam, non mattis est. Curabitur iaculis quam at facilisis pulvinar. Fusce rutrum mauris diam, quis hendrerit ligula sodales eget. Maecenas egestas libero consectetur nunc hendrerit, sed lacinia lacus porta. Integer sed fringilla justo. Sed id sollicitudin nibh, sit amet gravida elit. Mauris faucibus eu ex interdum lacinia. Aliquam ullamcorper consectetur dolor id sollicitudin. Pellentesque lacinia eros nunc, finibus lacinia nulla fringilla sed. Quisque aliquet ligula enim, ut convallis felis euismod sed. Morbi sapien mi, rhoncus at fermentum non, blandit tincidunt mauris.</a:t>
            </a:r>
          </a:p>
        </p:txBody>
      </p:sp>
      <p:grpSp>
        <p:nvGrpSpPr>
          <p:cNvPr name="Group 7" id="7"/>
          <p:cNvGrpSpPr/>
          <p:nvPr/>
        </p:nvGrpSpPr>
        <p:grpSpPr>
          <a:xfrm rot="0">
            <a:off x="-2209459" y="387561"/>
            <a:ext cx="3965354" cy="5504134"/>
            <a:chOff x="0" y="0"/>
            <a:chExt cx="753543" cy="1045960"/>
          </a:xfrm>
        </p:grpSpPr>
        <p:sp>
          <p:nvSpPr>
            <p:cNvPr name="Freeform 8" id="8"/>
            <p:cNvSpPr/>
            <p:nvPr/>
          </p:nvSpPr>
          <p:spPr>
            <a:xfrm flipH="false" flipV="false" rot="0">
              <a:off x="0" y="0"/>
              <a:ext cx="753543" cy="1045960"/>
            </a:xfrm>
            <a:custGeom>
              <a:avLst/>
              <a:gdLst/>
              <a:ahLst/>
              <a:cxnLst/>
              <a:rect r="r" b="b" t="t" l="l"/>
              <a:pathLst>
                <a:path h="1045960" w="753543">
                  <a:moveTo>
                    <a:pt x="376772" y="0"/>
                  </a:moveTo>
                  <a:cubicBezTo>
                    <a:pt x="168686" y="0"/>
                    <a:pt x="0" y="234146"/>
                    <a:pt x="0" y="522980"/>
                  </a:cubicBezTo>
                  <a:cubicBezTo>
                    <a:pt x="0" y="811814"/>
                    <a:pt x="168686" y="1045960"/>
                    <a:pt x="376772" y="1045960"/>
                  </a:cubicBezTo>
                  <a:cubicBezTo>
                    <a:pt x="584857" y="1045960"/>
                    <a:pt x="753543" y="811814"/>
                    <a:pt x="753543" y="522980"/>
                  </a:cubicBezTo>
                  <a:cubicBezTo>
                    <a:pt x="753543" y="234146"/>
                    <a:pt x="584857" y="0"/>
                    <a:pt x="376772" y="0"/>
                  </a:cubicBezTo>
                  <a:close/>
                </a:path>
              </a:pathLst>
            </a:custGeom>
            <a:solidFill>
              <a:srgbClr val="B05510"/>
            </a:solidFill>
          </p:spPr>
        </p:sp>
        <p:sp>
          <p:nvSpPr>
            <p:cNvPr name="TextBox 9" id="9"/>
            <p:cNvSpPr txBox="true"/>
            <p:nvPr/>
          </p:nvSpPr>
          <p:spPr>
            <a:xfrm>
              <a:off x="70645" y="59959"/>
              <a:ext cx="612254" cy="88794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502518">
            <a:off x="10408644" y="2287046"/>
            <a:ext cx="7436403" cy="7498357"/>
            <a:chOff x="0" y="0"/>
            <a:chExt cx="784886" cy="791425"/>
          </a:xfrm>
        </p:grpSpPr>
        <p:sp>
          <p:nvSpPr>
            <p:cNvPr name="Freeform 11" id="11"/>
            <p:cNvSpPr/>
            <p:nvPr/>
          </p:nvSpPr>
          <p:spPr>
            <a:xfrm flipH="false" flipV="false" rot="0">
              <a:off x="0" y="0"/>
              <a:ext cx="784886" cy="791425"/>
            </a:xfrm>
            <a:custGeom>
              <a:avLst/>
              <a:gdLst/>
              <a:ahLst/>
              <a:cxnLst/>
              <a:rect r="r" b="b" t="t" l="l"/>
              <a:pathLst>
                <a:path h="791425" w="784886">
                  <a:moveTo>
                    <a:pt x="392443" y="0"/>
                  </a:moveTo>
                  <a:cubicBezTo>
                    <a:pt x="175703" y="0"/>
                    <a:pt x="0" y="177166"/>
                    <a:pt x="0" y="395712"/>
                  </a:cubicBezTo>
                  <a:cubicBezTo>
                    <a:pt x="0" y="614258"/>
                    <a:pt x="175703" y="791425"/>
                    <a:pt x="392443" y="791425"/>
                  </a:cubicBezTo>
                  <a:cubicBezTo>
                    <a:pt x="609183" y="791425"/>
                    <a:pt x="784886" y="614258"/>
                    <a:pt x="784886" y="395712"/>
                  </a:cubicBezTo>
                  <a:cubicBezTo>
                    <a:pt x="784886" y="177166"/>
                    <a:pt x="609183" y="0"/>
                    <a:pt x="392443" y="0"/>
                  </a:cubicBezTo>
                  <a:close/>
                </a:path>
              </a:pathLst>
            </a:custGeom>
            <a:solidFill>
              <a:srgbClr val="B05510">
                <a:alpha val="11765"/>
              </a:srgbClr>
            </a:solidFill>
          </p:spPr>
        </p:sp>
        <p:sp>
          <p:nvSpPr>
            <p:cNvPr name="TextBox 12" id="12"/>
            <p:cNvSpPr txBox="true"/>
            <p:nvPr/>
          </p:nvSpPr>
          <p:spPr>
            <a:xfrm>
              <a:off x="73583" y="36096"/>
              <a:ext cx="637720" cy="681133"/>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2246488">
            <a:off x="13329404" y="7037865"/>
            <a:ext cx="8326371" cy="6517320"/>
            <a:chOff x="0" y="0"/>
            <a:chExt cx="1038414" cy="812800"/>
          </a:xfrm>
        </p:grpSpPr>
        <p:sp>
          <p:nvSpPr>
            <p:cNvPr name="Freeform 14" id="14"/>
            <p:cNvSpPr/>
            <p:nvPr/>
          </p:nvSpPr>
          <p:spPr>
            <a:xfrm flipH="false" flipV="false" rot="0">
              <a:off x="0" y="0"/>
              <a:ext cx="1038414" cy="812800"/>
            </a:xfrm>
            <a:custGeom>
              <a:avLst/>
              <a:gdLst/>
              <a:ahLst/>
              <a:cxnLst/>
              <a:rect r="r" b="b" t="t" l="l"/>
              <a:pathLst>
                <a:path h="812800" w="1038414">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ln w="762000" cap="sq">
              <a:solidFill>
                <a:srgbClr val="B05510"/>
              </a:solidFill>
              <a:prstDash val="solid"/>
              <a:miter/>
            </a:ln>
          </p:spPr>
        </p:sp>
        <p:sp>
          <p:nvSpPr>
            <p:cNvPr name="TextBox 15" id="15"/>
            <p:cNvSpPr txBox="true"/>
            <p:nvPr/>
          </p:nvSpPr>
          <p:spPr>
            <a:xfrm>
              <a:off x="97351" y="38100"/>
              <a:ext cx="843711"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9902205" y="-490453"/>
            <a:ext cx="1132427" cy="113242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7167662" y="8555654"/>
            <a:ext cx="453167" cy="45316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374178" y="1015679"/>
            <a:ext cx="7974804" cy="7796770"/>
            <a:chOff x="0" y="0"/>
            <a:chExt cx="831360" cy="812800"/>
          </a:xfrm>
        </p:grpSpPr>
        <p:sp>
          <p:nvSpPr>
            <p:cNvPr name="Freeform 3" id="3"/>
            <p:cNvSpPr/>
            <p:nvPr/>
          </p:nvSpPr>
          <p:spPr>
            <a:xfrm flipH="false" flipV="false" rot="0">
              <a:off x="0" y="0"/>
              <a:ext cx="831360" cy="812800"/>
            </a:xfrm>
            <a:custGeom>
              <a:avLst/>
              <a:gdLst/>
              <a:ahLst/>
              <a:cxnLst/>
              <a:rect r="r" b="b" t="t" l="l"/>
              <a:pathLst>
                <a:path h="812800" w="83136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name="TextBox 4" id="4"/>
            <p:cNvSpPr txBox="true"/>
            <p:nvPr/>
          </p:nvSpPr>
          <p:spPr>
            <a:xfrm>
              <a:off x="77940" y="38100"/>
              <a:ext cx="67548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3541611">
            <a:off x="-2582502" y="-2245877"/>
            <a:ext cx="7198850" cy="6523111"/>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805653" y="8812449"/>
            <a:ext cx="4453647" cy="445364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5811245" y="3103115"/>
            <a:ext cx="453167" cy="45316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2898984" y="1627229"/>
            <a:ext cx="12490033" cy="2157095"/>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OPER</a:t>
            </a:r>
            <a:r>
              <a:rPr lang="en-US" b="true" sz="6200" spc="-124">
                <a:solidFill>
                  <a:srgbClr val="B05510"/>
                </a:solidFill>
                <a:latin typeface="Gordita Bold"/>
                <a:ea typeface="Gordita Bold"/>
                <a:cs typeface="Gordita Bold"/>
                <a:sym typeface="Gordita Bold"/>
              </a:rPr>
              <a:t>A</a:t>
            </a:r>
            <a:r>
              <a:rPr lang="en-US" b="true" sz="6200" spc="-124">
                <a:solidFill>
                  <a:srgbClr val="B05510"/>
                </a:solidFill>
                <a:latin typeface="Gordita Bold"/>
                <a:ea typeface="Gordita Bold"/>
                <a:cs typeface="Gordita Bold"/>
                <a:sym typeface="Gordita Bold"/>
              </a:rPr>
              <a:t>TIONAL TRANSIT EFFICIENCY</a:t>
            </a:r>
          </a:p>
        </p:txBody>
      </p:sp>
      <p:sp>
        <p:nvSpPr>
          <p:cNvPr name="TextBox 17" id="17"/>
          <p:cNvSpPr txBox="true"/>
          <p:nvPr/>
        </p:nvSpPr>
        <p:spPr>
          <a:xfrm rot="0">
            <a:off x="1641633" y="4812070"/>
            <a:ext cx="5582771" cy="2094922"/>
          </a:xfrm>
          <a:prstGeom prst="rect">
            <a:avLst/>
          </a:prstGeom>
        </p:spPr>
        <p:txBody>
          <a:bodyPr anchor="t" rtlCol="false" tIns="0" lIns="0" bIns="0" rIns="0">
            <a:spAutoFit/>
          </a:bodyPr>
          <a:lstStyle/>
          <a:p>
            <a:pPr algn="ctr">
              <a:lnSpc>
                <a:spcPts val="17184"/>
              </a:lnSpc>
              <a:spcBef>
                <a:spcPct val="0"/>
              </a:spcBef>
            </a:pPr>
            <a:r>
              <a:rPr lang="en-US" b="true" sz="12274" spc="-245">
                <a:solidFill>
                  <a:srgbClr val="B05510"/>
                </a:solidFill>
                <a:latin typeface="Gordita Bold"/>
                <a:ea typeface="Gordita Bold"/>
                <a:cs typeface="Gordita Bold"/>
                <a:sym typeface="Gordita Bold"/>
              </a:rPr>
              <a:t>94.2%</a:t>
            </a:r>
          </a:p>
        </p:txBody>
      </p:sp>
      <p:sp>
        <p:nvSpPr>
          <p:cNvPr name="TextBox 18" id="18"/>
          <p:cNvSpPr txBox="true"/>
          <p:nvPr/>
        </p:nvSpPr>
        <p:spPr>
          <a:xfrm rot="0">
            <a:off x="8707268" y="4641574"/>
            <a:ext cx="7229914"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Standardizing Fulfillment Success</a:t>
            </a:r>
          </a:p>
        </p:txBody>
      </p:sp>
      <p:sp>
        <p:nvSpPr>
          <p:cNvPr name="TextBox 19" id="19"/>
          <p:cNvSpPr txBox="true"/>
          <p:nvPr/>
        </p:nvSpPr>
        <p:spPr>
          <a:xfrm rot="0">
            <a:off x="1822568" y="6871271"/>
            <a:ext cx="5220900" cy="523900"/>
          </a:xfrm>
          <a:prstGeom prst="rect">
            <a:avLst/>
          </a:prstGeom>
        </p:spPr>
        <p:txBody>
          <a:bodyPr anchor="t" rtlCol="false" tIns="0" lIns="0" bIns="0" rIns="0">
            <a:spAutoFit/>
          </a:bodyPr>
          <a:lstStyle/>
          <a:p>
            <a:pPr algn="ctr">
              <a:lnSpc>
                <a:spcPts val="4200"/>
              </a:lnSpc>
              <a:spcBef>
                <a:spcPct val="0"/>
              </a:spcBef>
            </a:pPr>
            <a:r>
              <a:rPr lang="en-US" sz="3000" spc="273">
                <a:solidFill>
                  <a:srgbClr val="B05510"/>
                </a:solidFill>
                <a:latin typeface="Pier Sans Light"/>
                <a:ea typeface="Pier Sans Light"/>
                <a:cs typeface="Pier Sans Light"/>
                <a:sym typeface="Pier Sans Light"/>
              </a:rPr>
              <a:t>O</a:t>
            </a:r>
            <a:r>
              <a:rPr lang="en-US" sz="3000" spc="273">
                <a:solidFill>
                  <a:srgbClr val="B05510"/>
                </a:solidFill>
                <a:latin typeface="Pier Sans Light"/>
                <a:ea typeface="Pier Sans Light"/>
                <a:cs typeface="Pier Sans Light"/>
                <a:sym typeface="Pier Sans Light"/>
              </a:rPr>
              <a:t>n-Time In-Full (OTIF)</a:t>
            </a:r>
          </a:p>
        </p:txBody>
      </p:sp>
      <p:sp>
        <p:nvSpPr>
          <p:cNvPr name="TextBox 20" id="20"/>
          <p:cNvSpPr txBox="true"/>
          <p:nvPr/>
        </p:nvSpPr>
        <p:spPr>
          <a:xfrm rot="0">
            <a:off x="8728710" y="5432173"/>
            <a:ext cx="7993857" cy="1054249"/>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Ensuring ship</a:t>
            </a:r>
            <a:r>
              <a:rPr lang="en-US" sz="2000" spc="182">
                <a:solidFill>
                  <a:srgbClr val="B05510"/>
                </a:solidFill>
                <a:latin typeface="Pier Sans Light"/>
                <a:ea typeface="Pier Sans Light"/>
                <a:cs typeface="Pier Sans Light"/>
                <a:sym typeface="Pier Sans Light"/>
              </a:rPr>
              <a:t>ments arrive at their scheduled destination in complete quantities forms the core foundation of supply chain reliability.</a:t>
            </a:r>
          </a:p>
        </p:txBody>
      </p:sp>
      <p:sp>
        <p:nvSpPr>
          <p:cNvPr name="TextBox 21" id="21"/>
          <p:cNvSpPr txBox="true"/>
          <p:nvPr/>
        </p:nvSpPr>
        <p:spPr>
          <a:xfrm rot="0">
            <a:off x="8728710" y="6834708"/>
            <a:ext cx="7993857" cy="1054249"/>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Re</a:t>
            </a:r>
            <a:r>
              <a:rPr lang="en-US" sz="2000" spc="182">
                <a:solidFill>
                  <a:srgbClr val="B05510"/>
                </a:solidFill>
                <a:latin typeface="Pier Sans Light"/>
                <a:ea typeface="Pier Sans Light"/>
                <a:cs typeface="Pier Sans Light"/>
                <a:sym typeface="Pier Sans Light"/>
              </a:rPr>
              <a:t>aching this high benchmark is achieved by continuously fine-tuning and routing local delivery carriers around urban congestion points using real-time dispatch systems.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19105" y="249638"/>
            <a:ext cx="7647074" cy="764707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288076">
            <a:off x="12595500" y="8956623"/>
            <a:ext cx="6253509" cy="4894824"/>
            <a:chOff x="0" y="0"/>
            <a:chExt cx="1038414" cy="812800"/>
          </a:xfrm>
        </p:grpSpPr>
        <p:sp>
          <p:nvSpPr>
            <p:cNvPr name="Freeform 8" id="8"/>
            <p:cNvSpPr/>
            <p:nvPr/>
          </p:nvSpPr>
          <p:spPr>
            <a:xfrm flipH="false" flipV="false" rot="0">
              <a:off x="0" y="0"/>
              <a:ext cx="1038414" cy="812800"/>
            </a:xfrm>
            <a:custGeom>
              <a:avLst/>
              <a:gdLst/>
              <a:ahLst/>
              <a:cxnLst/>
              <a:rect r="r" b="b" t="t" l="l"/>
              <a:pathLst>
                <a:path h="812800" w="1038414">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solidFill>
              <a:srgbClr val="B05510"/>
            </a:solidFill>
            <a:ln cap="sq">
              <a:noFill/>
              <a:prstDash val="solid"/>
              <a:miter/>
            </a:ln>
          </p:spPr>
        </p:sp>
        <p:sp>
          <p:nvSpPr>
            <p:cNvPr name="TextBox 9" id="9"/>
            <p:cNvSpPr txBox="true"/>
            <p:nvPr/>
          </p:nvSpPr>
          <p:spPr>
            <a:xfrm>
              <a:off x="97351" y="38100"/>
              <a:ext cx="843711"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7966179" y="8876224"/>
            <a:ext cx="453167" cy="45316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279"/>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6531496" y="8703502"/>
            <a:ext cx="951568" cy="95156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2401623" y="737215"/>
            <a:ext cx="624489" cy="62448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7167358">
            <a:off x="-4866063" y="-3677241"/>
            <a:ext cx="8175663" cy="7408233"/>
            <a:chOff x="0" y="0"/>
            <a:chExt cx="896999" cy="812800"/>
          </a:xfrm>
        </p:grpSpPr>
        <p:sp>
          <p:nvSpPr>
            <p:cNvPr name="Freeform 20" id="20"/>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21" id="21"/>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4457278" y="4097346"/>
            <a:ext cx="12506380" cy="2771544"/>
            <a:chOff x="0" y="0"/>
            <a:chExt cx="16675174" cy="3695393"/>
          </a:xfrm>
        </p:grpSpPr>
        <p:grpSp>
          <p:nvGrpSpPr>
            <p:cNvPr name="Group 23" id="23"/>
            <p:cNvGrpSpPr/>
            <p:nvPr/>
          </p:nvGrpSpPr>
          <p:grpSpPr>
            <a:xfrm rot="0">
              <a:off x="0" y="0"/>
              <a:ext cx="16675174" cy="446226"/>
              <a:chOff x="0" y="0"/>
              <a:chExt cx="2573329" cy="68862"/>
            </a:xfrm>
          </p:grpSpPr>
          <p:sp>
            <p:nvSpPr>
              <p:cNvPr name="Freeform 24" id="24"/>
              <p:cNvSpPr/>
              <p:nvPr/>
            </p:nvSpPr>
            <p:spPr>
              <a:xfrm flipH="false" flipV="false" rot="0">
                <a:off x="0" y="0"/>
                <a:ext cx="2573329" cy="68862"/>
              </a:xfrm>
              <a:custGeom>
                <a:avLst/>
                <a:gdLst/>
                <a:ahLst/>
                <a:cxnLst/>
                <a:rect r="r" b="b" t="t" l="l"/>
                <a:pathLst>
                  <a:path h="68862" w="2573329">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name="TextBox 25" id="25"/>
              <p:cNvSpPr txBox="true"/>
              <p:nvPr/>
            </p:nvSpPr>
            <p:spPr>
              <a:xfrm>
                <a:off x="0" y="-38100"/>
                <a:ext cx="2573329" cy="106962"/>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0" y="1083970"/>
              <a:ext cx="16675174" cy="446226"/>
              <a:chOff x="0" y="0"/>
              <a:chExt cx="2573329" cy="68862"/>
            </a:xfrm>
          </p:grpSpPr>
          <p:sp>
            <p:nvSpPr>
              <p:cNvPr name="Freeform 27" id="27"/>
              <p:cNvSpPr/>
              <p:nvPr/>
            </p:nvSpPr>
            <p:spPr>
              <a:xfrm flipH="false" flipV="false" rot="0">
                <a:off x="0" y="0"/>
                <a:ext cx="2573329" cy="68862"/>
              </a:xfrm>
              <a:custGeom>
                <a:avLst/>
                <a:gdLst/>
                <a:ahLst/>
                <a:cxnLst/>
                <a:rect r="r" b="b" t="t" l="l"/>
                <a:pathLst>
                  <a:path h="68862" w="2573329">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name="TextBox 28" id="28"/>
              <p:cNvSpPr txBox="true"/>
              <p:nvPr/>
            </p:nvSpPr>
            <p:spPr>
              <a:xfrm>
                <a:off x="0" y="-38100"/>
                <a:ext cx="2573329" cy="106962"/>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0" y="2167940"/>
              <a:ext cx="16675174" cy="446226"/>
              <a:chOff x="0" y="0"/>
              <a:chExt cx="2573329" cy="68862"/>
            </a:xfrm>
          </p:grpSpPr>
          <p:sp>
            <p:nvSpPr>
              <p:cNvPr name="Freeform 30" id="30"/>
              <p:cNvSpPr/>
              <p:nvPr/>
            </p:nvSpPr>
            <p:spPr>
              <a:xfrm flipH="false" flipV="false" rot="0">
                <a:off x="0" y="0"/>
                <a:ext cx="2573329" cy="68862"/>
              </a:xfrm>
              <a:custGeom>
                <a:avLst/>
                <a:gdLst/>
                <a:ahLst/>
                <a:cxnLst/>
                <a:rect r="r" b="b" t="t" l="l"/>
                <a:pathLst>
                  <a:path h="68862" w="2573329">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name="TextBox 31" id="31"/>
              <p:cNvSpPr txBox="true"/>
              <p:nvPr/>
            </p:nvSpPr>
            <p:spPr>
              <a:xfrm>
                <a:off x="0" y="-38100"/>
                <a:ext cx="2573329" cy="106962"/>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0" y="3249166"/>
              <a:ext cx="16675174" cy="446226"/>
              <a:chOff x="0" y="0"/>
              <a:chExt cx="2573329" cy="68862"/>
            </a:xfrm>
          </p:grpSpPr>
          <p:sp>
            <p:nvSpPr>
              <p:cNvPr name="Freeform 33" id="33"/>
              <p:cNvSpPr/>
              <p:nvPr/>
            </p:nvSpPr>
            <p:spPr>
              <a:xfrm flipH="false" flipV="false" rot="0">
                <a:off x="0" y="0"/>
                <a:ext cx="2573329" cy="68862"/>
              </a:xfrm>
              <a:custGeom>
                <a:avLst/>
                <a:gdLst/>
                <a:ahLst/>
                <a:cxnLst/>
                <a:rect r="r" b="b" t="t" l="l"/>
                <a:pathLst>
                  <a:path h="68862" w="2573329">
                    <a:moveTo>
                      <a:pt x="12091" y="0"/>
                    </a:moveTo>
                    <a:lnTo>
                      <a:pt x="2561239" y="0"/>
                    </a:lnTo>
                    <a:cubicBezTo>
                      <a:pt x="2564445" y="0"/>
                      <a:pt x="2567521" y="1274"/>
                      <a:pt x="2569788" y="3541"/>
                    </a:cubicBezTo>
                    <a:cubicBezTo>
                      <a:pt x="2572056" y="5809"/>
                      <a:pt x="2573329" y="8884"/>
                      <a:pt x="2573329" y="12091"/>
                    </a:cubicBezTo>
                    <a:lnTo>
                      <a:pt x="2573329" y="56772"/>
                    </a:lnTo>
                    <a:cubicBezTo>
                      <a:pt x="2573329" y="59978"/>
                      <a:pt x="2572056" y="63053"/>
                      <a:pt x="2569788" y="65321"/>
                    </a:cubicBezTo>
                    <a:cubicBezTo>
                      <a:pt x="2567521" y="67588"/>
                      <a:pt x="2564445" y="68862"/>
                      <a:pt x="2561239" y="68862"/>
                    </a:cubicBezTo>
                    <a:lnTo>
                      <a:pt x="12091" y="68862"/>
                    </a:lnTo>
                    <a:cubicBezTo>
                      <a:pt x="8884" y="68862"/>
                      <a:pt x="5809" y="67588"/>
                      <a:pt x="3541" y="65321"/>
                    </a:cubicBezTo>
                    <a:cubicBezTo>
                      <a:pt x="1274" y="63053"/>
                      <a:pt x="0" y="59978"/>
                      <a:pt x="0" y="56772"/>
                    </a:cubicBezTo>
                    <a:lnTo>
                      <a:pt x="0" y="12091"/>
                    </a:lnTo>
                    <a:cubicBezTo>
                      <a:pt x="0" y="8884"/>
                      <a:pt x="1274" y="5809"/>
                      <a:pt x="3541" y="3541"/>
                    </a:cubicBezTo>
                    <a:cubicBezTo>
                      <a:pt x="5809" y="1274"/>
                      <a:pt x="8884" y="0"/>
                      <a:pt x="12091" y="0"/>
                    </a:cubicBezTo>
                    <a:close/>
                  </a:path>
                </a:pathLst>
              </a:custGeom>
              <a:solidFill>
                <a:srgbClr val="B9BEBF"/>
              </a:solidFill>
            </p:spPr>
          </p:sp>
          <p:sp>
            <p:nvSpPr>
              <p:cNvPr name="TextBox 34" id="34"/>
              <p:cNvSpPr txBox="true"/>
              <p:nvPr/>
            </p:nvSpPr>
            <p:spPr>
              <a:xfrm>
                <a:off x="0" y="-38100"/>
                <a:ext cx="2573329" cy="106962"/>
              </a:xfrm>
              <a:prstGeom prst="rect">
                <a:avLst/>
              </a:prstGeom>
            </p:spPr>
            <p:txBody>
              <a:bodyPr anchor="ctr" rtlCol="false" tIns="50800" lIns="50800" bIns="50800" rIns="50800"/>
              <a:lstStyle/>
              <a:p>
                <a:pPr algn="ctr">
                  <a:lnSpc>
                    <a:spcPts val="2659"/>
                  </a:lnSpc>
                </a:pPr>
              </a:p>
            </p:txBody>
          </p:sp>
        </p:grpSp>
      </p:grpSp>
      <p:grpSp>
        <p:nvGrpSpPr>
          <p:cNvPr name="Group 35" id="35"/>
          <p:cNvGrpSpPr/>
          <p:nvPr/>
        </p:nvGrpSpPr>
        <p:grpSpPr>
          <a:xfrm rot="0">
            <a:off x="4457278" y="4097346"/>
            <a:ext cx="11132735" cy="334670"/>
            <a:chOff x="0" y="0"/>
            <a:chExt cx="2290686" cy="68862"/>
          </a:xfrm>
        </p:grpSpPr>
        <p:sp>
          <p:nvSpPr>
            <p:cNvPr name="Freeform 36" id="36"/>
            <p:cNvSpPr/>
            <p:nvPr/>
          </p:nvSpPr>
          <p:spPr>
            <a:xfrm flipH="false" flipV="false" rot="0">
              <a:off x="0" y="0"/>
              <a:ext cx="2290686" cy="68862"/>
            </a:xfrm>
            <a:custGeom>
              <a:avLst/>
              <a:gdLst/>
              <a:ahLst/>
              <a:cxnLst/>
              <a:rect r="r" b="b" t="t" l="l"/>
              <a:pathLst>
                <a:path h="68862" w="2290686">
                  <a:moveTo>
                    <a:pt x="13582" y="0"/>
                  </a:moveTo>
                  <a:lnTo>
                    <a:pt x="2277104" y="0"/>
                  </a:lnTo>
                  <a:cubicBezTo>
                    <a:pt x="2280706" y="0"/>
                    <a:pt x="2284161" y="1431"/>
                    <a:pt x="2286708" y="3978"/>
                  </a:cubicBezTo>
                  <a:cubicBezTo>
                    <a:pt x="2289255" y="6525"/>
                    <a:pt x="2290686" y="9980"/>
                    <a:pt x="2290686" y="13582"/>
                  </a:cubicBezTo>
                  <a:lnTo>
                    <a:pt x="2290686" y="55280"/>
                  </a:lnTo>
                  <a:cubicBezTo>
                    <a:pt x="2290686" y="62781"/>
                    <a:pt x="2284605" y="68862"/>
                    <a:pt x="2277104" y="68862"/>
                  </a:cubicBezTo>
                  <a:lnTo>
                    <a:pt x="13582" y="68862"/>
                  </a:lnTo>
                  <a:cubicBezTo>
                    <a:pt x="6081" y="68862"/>
                    <a:pt x="0" y="62781"/>
                    <a:pt x="0" y="55280"/>
                  </a:cubicBezTo>
                  <a:lnTo>
                    <a:pt x="0" y="13582"/>
                  </a:lnTo>
                  <a:cubicBezTo>
                    <a:pt x="0" y="6081"/>
                    <a:pt x="6081" y="0"/>
                    <a:pt x="13582" y="0"/>
                  </a:cubicBezTo>
                  <a:close/>
                </a:path>
              </a:pathLst>
            </a:custGeom>
            <a:solidFill>
              <a:srgbClr val="E9873C"/>
            </a:solidFill>
          </p:spPr>
        </p:sp>
        <p:sp>
          <p:nvSpPr>
            <p:cNvPr name="TextBox 37" id="37"/>
            <p:cNvSpPr txBox="true"/>
            <p:nvPr/>
          </p:nvSpPr>
          <p:spPr>
            <a:xfrm>
              <a:off x="0" y="-38100"/>
              <a:ext cx="2290686" cy="106962"/>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4457278" y="4912381"/>
            <a:ext cx="8931325" cy="334670"/>
            <a:chOff x="0" y="0"/>
            <a:chExt cx="1837721" cy="68862"/>
          </a:xfrm>
        </p:grpSpPr>
        <p:sp>
          <p:nvSpPr>
            <p:cNvPr name="Freeform 39" id="39"/>
            <p:cNvSpPr/>
            <p:nvPr/>
          </p:nvSpPr>
          <p:spPr>
            <a:xfrm flipH="false" flipV="false" rot="0">
              <a:off x="0" y="0"/>
              <a:ext cx="1837721" cy="68862"/>
            </a:xfrm>
            <a:custGeom>
              <a:avLst/>
              <a:gdLst/>
              <a:ahLst/>
              <a:cxnLst/>
              <a:rect r="r" b="b" t="t" l="l"/>
              <a:pathLst>
                <a:path h="68862" w="1837721">
                  <a:moveTo>
                    <a:pt x="16930" y="0"/>
                  </a:moveTo>
                  <a:lnTo>
                    <a:pt x="1820791" y="0"/>
                  </a:lnTo>
                  <a:cubicBezTo>
                    <a:pt x="1825281" y="0"/>
                    <a:pt x="1829588" y="1784"/>
                    <a:pt x="1832763" y="4959"/>
                  </a:cubicBezTo>
                  <a:cubicBezTo>
                    <a:pt x="1835938" y="8134"/>
                    <a:pt x="1837721" y="12440"/>
                    <a:pt x="1837721" y="16930"/>
                  </a:cubicBezTo>
                  <a:lnTo>
                    <a:pt x="1837721" y="51932"/>
                  </a:lnTo>
                  <a:cubicBezTo>
                    <a:pt x="1837721" y="56422"/>
                    <a:pt x="1835938" y="60728"/>
                    <a:pt x="1832763" y="63903"/>
                  </a:cubicBezTo>
                  <a:cubicBezTo>
                    <a:pt x="1829588" y="67078"/>
                    <a:pt x="1825281" y="68862"/>
                    <a:pt x="1820791" y="68862"/>
                  </a:cubicBezTo>
                  <a:lnTo>
                    <a:pt x="16930" y="68862"/>
                  </a:lnTo>
                  <a:cubicBezTo>
                    <a:pt x="12440" y="68862"/>
                    <a:pt x="8134" y="67078"/>
                    <a:pt x="4959" y="63903"/>
                  </a:cubicBezTo>
                  <a:cubicBezTo>
                    <a:pt x="1784" y="60728"/>
                    <a:pt x="0" y="56422"/>
                    <a:pt x="0" y="51932"/>
                  </a:cubicBezTo>
                  <a:lnTo>
                    <a:pt x="0" y="16930"/>
                  </a:lnTo>
                  <a:cubicBezTo>
                    <a:pt x="0" y="12440"/>
                    <a:pt x="1784" y="8134"/>
                    <a:pt x="4959" y="4959"/>
                  </a:cubicBezTo>
                  <a:cubicBezTo>
                    <a:pt x="8134" y="1784"/>
                    <a:pt x="12440" y="0"/>
                    <a:pt x="16930" y="0"/>
                  </a:cubicBezTo>
                  <a:close/>
                </a:path>
              </a:pathLst>
            </a:custGeom>
            <a:solidFill>
              <a:srgbClr val="E9A379"/>
            </a:solidFill>
          </p:spPr>
        </p:sp>
        <p:sp>
          <p:nvSpPr>
            <p:cNvPr name="TextBox 40" id="40"/>
            <p:cNvSpPr txBox="true"/>
            <p:nvPr/>
          </p:nvSpPr>
          <p:spPr>
            <a:xfrm>
              <a:off x="0" y="-38100"/>
              <a:ext cx="1837721" cy="106962"/>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4457278" y="6534221"/>
            <a:ext cx="5566562" cy="334670"/>
            <a:chOff x="0" y="0"/>
            <a:chExt cx="1145383" cy="68862"/>
          </a:xfrm>
        </p:grpSpPr>
        <p:sp>
          <p:nvSpPr>
            <p:cNvPr name="Freeform 42" id="42"/>
            <p:cNvSpPr/>
            <p:nvPr/>
          </p:nvSpPr>
          <p:spPr>
            <a:xfrm flipH="false" flipV="false" rot="0">
              <a:off x="0" y="0"/>
              <a:ext cx="1145383" cy="68862"/>
            </a:xfrm>
            <a:custGeom>
              <a:avLst/>
              <a:gdLst/>
              <a:ahLst/>
              <a:cxnLst/>
              <a:rect r="r" b="b" t="t" l="l"/>
              <a:pathLst>
                <a:path h="68862" w="1145383">
                  <a:moveTo>
                    <a:pt x="27164" y="0"/>
                  </a:moveTo>
                  <a:lnTo>
                    <a:pt x="1118219" y="0"/>
                  </a:lnTo>
                  <a:cubicBezTo>
                    <a:pt x="1125423" y="0"/>
                    <a:pt x="1132333" y="2862"/>
                    <a:pt x="1137427" y="7956"/>
                  </a:cubicBezTo>
                  <a:cubicBezTo>
                    <a:pt x="1142521" y="13050"/>
                    <a:pt x="1145383" y="19960"/>
                    <a:pt x="1145383" y="27164"/>
                  </a:cubicBezTo>
                  <a:lnTo>
                    <a:pt x="1145383" y="41698"/>
                  </a:lnTo>
                  <a:cubicBezTo>
                    <a:pt x="1145383" y="48903"/>
                    <a:pt x="1142521" y="55812"/>
                    <a:pt x="1137427" y="60906"/>
                  </a:cubicBezTo>
                  <a:cubicBezTo>
                    <a:pt x="1132333" y="66000"/>
                    <a:pt x="1125423" y="68862"/>
                    <a:pt x="1118219" y="68862"/>
                  </a:cubicBezTo>
                  <a:lnTo>
                    <a:pt x="27164" y="68862"/>
                  </a:lnTo>
                  <a:cubicBezTo>
                    <a:pt x="12162" y="68862"/>
                    <a:pt x="0" y="56700"/>
                    <a:pt x="0" y="41698"/>
                  </a:cubicBezTo>
                  <a:lnTo>
                    <a:pt x="0" y="27164"/>
                  </a:lnTo>
                  <a:cubicBezTo>
                    <a:pt x="0" y="19960"/>
                    <a:pt x="2862" y="13050"/>
                    <a:pt x="7956" y="7956"/>
                  </a:cubicBezTo>
                  <a:cubicBezTo>
                    <a:pt x="13050" y="2862"/>
                    <a:pt x="19960" y="0"/>
                    <a:pt x="27164" y="0"/>
                  </a:cubicBezTo>
                  <a:close/>
                </a:path>
              </a:pathLst>
            </a:custGeom>
            <a:solidFill>
              <a:srgbClr val="E9C279"/>
            </a:solidFill>
          </p:spPr>
        </p:sp>
        <p:sp>
          <p:nvSpPr>
            <p:cNvPr name="TextBox 43" id="43"/>
            <p:cNvSpPr txBox="true"/>
            <p:nvPr/>
          </p:nvSpPr>
          <p:spPr>
            <a:xfrm>
              <a:off x="0" y="-38100"/>
              <a:ext cx="1145383" cy="106962"/>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4457278" y="5723301"/>
            <a:ext cx="7639496" cy="334670"/>
            <a:chOff x="0" y="0"/>
            <a:chExt cx="1571913" cy="68862"/>
          </a:xfrm>
        </p:grpSpPr>
        <p:sp>
          <p:nvSpPr>
            <p:cNvPr name="Freeform 45" id="45"/>
            <p:cNvSpPr/>
            <p:nvPr/>
          </p:nvSpPr>
          <p:spPr>
            <a:xfrm flipH="false" flipV="false" rot="0">
              <a:off x="0" y="0"/>
              <a:ext cx="1571913" cy="68862"/>
            </a:xfrm>
            <a:custGeom>
              <a:avLst/>
              <a:gdLst/>
              <a:ahLst/>
              <a:cxnLst/>
              <a:rect r="r" b="b" t="t" l="l"/>
              <a:pathLst>
                <a:path h="68862" w="1571913">
                  <a:moveTo>
                    <a:pt x="19793" y="0"/>
                  </a:moveTo>
                  <a:lnTo>
                    <a:pt x="1552120" y="0"/>
                  </a:lnTo>
                  <a:cubicBezTo>
                    <a:pt x="1563051" y="0"/>
                    <a:pt x="1571913" y="8862"/>
                    <a:pt x="1571913" y="19793"/>
                  </a:cubicBezTo>
                  <a:lnTo>
                    <a:pt x="1571913" y="49069"/>
                  </a:lnTo>
                  <a:cubicBezTo>
                    <a:pt x="1571913" y="54318"/>
                    <a:pt x="1569828" y="59353"/>
                    <a:pt x="1566116" y="63065"/>
                  </a:cubicBezTo>
                  <a:cubicBezTo>
                    <a:pt x="1562404" y="66777"/>
                    <a:pt x="1557369" y="68862"/>
                    <a:pt x="1552120" y="68862"/>
                  </a:cubicBezTo>
                  <a:lnTo>
                    <a:pt x="19793" y="68862"/>
                  </a:lnTo>
                  <a:cubicBezTo>
                    <a:pt x="8862" y="68862"/>
                    <a:pt x="0" y="60000"/>
                    <a:pt x="0" y="49069"/>
                  </a:cubicBezTo>
                  <a:lnTo>
                    <a:pt x="0" y="19793"/>
                  </a:lnTo>
                  <a:cubicBezTo>
                    <a:pt x="0" y="8862"/>
                    <a:pt x="8862" y="0"/>
                    <a:pt x="19793" y="0"/>
                  </a:cubicBezTo>
                  <a:close/>
                </a:path>
              </a:pathLst>
            </a:custGeom>
            <a:solidFill>
              <a:srgbClr val="EEB243"/>
            </a:solidFill>
          </p:spPr>
        </p:sp>
        <p:sp>
          <p:nvSpPr>
            <p:cNvPr name="TextBox 46" id="46"/>
            <p:cNvSpPr txBox="true"/>
            <p:nvPr/>
          </p:nvSpPr>
          <p:spPr>
            <a:xfrm>
              <a:off x="0" y="-38100"/>
              <a:ext cx="1571913" cy="106962"/>
            </a:xfrm>
            <a:prstGeom prst="rect">
              <a:avLst/>
            </a:prstGeom>
          </p:spPr>
          <p:txBody>
            <a:bodyPr anchor="ctr" rtlCol="false" tIns="50800" lIns="50800" bIns="50800" rIns="50800"/>
            <a:lstStyle/>
            <a:p>
              <a:pPr algn="ctr">
                <a:lnSpc>
                  <a:spcPts val="2659"/>
                </a:lnSpc>
              </a:pPr>
            </a:p>
          </p:txBody>
        </p:sp>
      </p:grpSp>
      <p:sp>
        <p:nvSpPr>
          <p:cNvPr name="TextBox 47" id="47"/>
          <p:cNvSpPr txBox="true"/>
          <p:nvPr/>
        </p:nvSpPr>
        <p:spPr>
          <a:xfrm rot="0">
            <a:off x="1449184" y="7698250"/>
            <a:ext cx="15389632" cy="349300"/>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H</a:t>
            </a:r>
            <a:r>
              <a:rPr lang="en-US" sz="2000" spc="182">
                <a:solidFill>
                  <a:srgbClr val="B05510"/>
                </a:solidFill>
                <a:latin typeface="Pier Sans Light"/>
                <a:ea typeface="Pier Sans Light"/>
                <a:cs typeface="Pier Sans Light"/>
                <a:sym typeface="Pier Sans Light"/>
              </a:rPr>
              <a:t>igh ratios signify excellent distribution velocity and low warehouse holding costs, avoiding stock obsolescence.</a:t>
            </a:r>
          </a:p>
        </p:txBody>
      </p:sp>
      <p:sp>
        <p:nvSpPr>
          <p:cNvPr name="TextBox 48" id="48"/>
          <p:cNvSpPr txBox="true"/>
          <p:nvPr/>
        </p:nvSpPr>
        <p:spPr>
          <a:xfrm rot="0">
            <a:off x="1324341" y="4049721"/>
            <a:ext cx="3132937" cy="389305"/>
          </a:xfrm>
          <a:prstGeom prst="rect">
            <a:avLst/>
          </a:prstGeom>
        </p:spPr>
        <p:txBody>
          <a:bodyPr anchor="t" rtlCol="false" tIns="0" lIns="0" bIns="0" rIns="0">
            <a:spAutoFit/>
          </a:bodyPr>
          <a:lstStyle/>
          <a:p>
            <a:pPr algn="just">
              <a:lnSpc>
                <a:spcPts val="3219"/>
              </a:lnSpc>
              <a:spcBef>
                <a:spcPct val="0"/>
              </a:spcBef>
            </a:pPr>
            <a:r>
              <a:rPr lang="en-US" b="true" sz="2299" spc="209">
                <a:solidFill>
                  <a:srgbClr val="B05510"/>
                </a:solidFill>
                <a:latin typeface="Pier Sans Light Bold"/>
                <a:ea typeface="Pier Sans Light Bold"/>
                <a:cs typeface="Pier Sans Light Bold"/>
                <a:sym typeface="Pier Sans Light Bold"/>
              </a:rPr>
              <a:t>Pe</a:t>
            </a:r>
            <a:r>
              <a:rPr lang="en-US" b="true" sz="2299" spc="209">
                <a:solidFill>
                  <a:srgbClr val="B05510"/>
                </a:solidFill>
                <a:latin typeface="Pier Sans Light Bold"/>
                <a:ea typeface="Pier Sans Light Bold"/>
                <a:cs typeface="Pier Sans Light Bold"/>
                <a:sym typeface="Pier Sans Light Bold"/>
              </a:rPr>
              <a:t>rishable Foods</a:t>
            </a:r>
          </a:p>
        </p:txBody>
      </p:sp>
      <p:sp>
        <p:nvSpPr>
          <p:cNvPr name="TextBox 49" id="49"/>
          <p:cNvSpPr txBox="true"/>
          <p:nvPr/>
        </p:nvSpPr>
        <p:spPr>
          <a:xfrm rot="0">
            <a:off x="14851229" y="4066219"/>
            <a:ext cx="620168" cy="349300"/>
          </a:xfrm>
          <a:prstGeom prst="rect">
            <a:avLst/>
          </a:prstGeom>
        </p:spPr>
        <p:txBody>
          <a:bodyPr anchor="t" rtlCol="false" tIns="0" lIns="0" bIns="0" rIns="0">
            <a:spAutoFit/>
          </a:bodyPr>
          <a:lstStyle/>
          <a:p>
            <a:pPr algn="just">
              <a:lnSpc>
                <a:spcPts val="2800"/>
              </a:lnSpc>
              <a:spcBef>
                <a:spcPct val="0"/>
              </a:spcBef>
            </a:pPr>
            <a:r>
              <a:rPr lang="en-US" sz="2000" spc="182">
                <a:solidFill>
                  <a:srgbClr val="B05510"/>
                </a:solidFill>
                <a:latin typeface="Pier Sans Light"/>
                <a:ea typeface="Pier Sans Light"/>
                <a:cs typeface="Pier Sans Light"/>
                <a:sym typeface="Pier Sans Light"/>
              </a:rPr>
              <a:t>12.1x</a:t>
            </a:r>
          </a:p>
        </p:txBody>
      </p:sp>
      <p:sp>
        <p:nvSpPr>
          <p:cNvPr name="TextBox 50" id="50"/>
          <p:cNvSpPr txBox="true"/>
          <p:nvPr/>
        </p:nvSpPr>
        <p:spPr>
          <a:xfrm rot="0">
            <a:off x="12609469" y="4881254"/>
            <a:ext cx="620168" cy="349300"/>
          </a:xfrm>
          <a:prstGeom prst="rect">
            <a:avLst/>
          </a:prstGeom>
        </p:spPr>
        <p:txBody>
          <a:bodyPr anchor="t" rtlCol="false" tIns="0" lIns="0" bIns="0" rIns="0">
            <a:spAutoFit/>
          </a:bodyPr>
          <a:lstStyle/>
          <a:p>
            <a:pPr algn="just">
              <a:lnSpc>
                <a:spcPts val="2800"/>
              </a:lnSpc>
              <a:spcBef>
                <a:spcPct val="0"/>
              </a:spcBef>
            </a:pPr>
            <a:r>
              <a:rPr lang="en-US" sz="2000" spc="182">
                <a:solidFill>
                  <a:srgbClr val="B05510"/>
                </a:solidFill>
                <a:latin typeface="Pier Sans Light"/>
                <a:ea typeface="Pier Sans Light"/>
                <a:cs typeface="Pier Sans Light"/>
                <a:sym typeface="Pier Sans Light"/>
              </a:rPr>
              <a:t>8</a:t>
            </a:r>
            <a:r>
              <a:rPr lang="en-US" sz="2000" spc="182">
                <a:solidFill>
                  <a:srgbClr val="B05510"/>
                </a:solidFill>
                <a:latin typeface="Pier Sans Light"/>
                <a:ea typeface="Pier Sans Light"/>
                <a:cs typeface="Pier Sans Light"/>
                <a:sym typeface="Pier Sans Light"/>
              </a:rPr>
              <a:t>.4x</a:t>
            </a:r>
          </a:p>
        </p:txBody>
      </p:sp>
      <p:sp>
        <p:nvSpPr>
          <p:cNvPr name="TextBox 51" id="51"/>
          <p:cNvSpPr txBox="true"/>
          <p:nvPr/>
        </p:nvSpPr>
        <p:spPr>
          <a:xfrm rot="0">
            <a:off x="11292008" y="5697278"/>
            <a:ext cx="620168" cy="349300"/>
          </a:xfrm>
          <a:prstGeom prst="rect">
            <a:avLst/>
          </a:prstGeom>
        </p:spPr>
        <p:txBody>
          <a:bodyPr anchor="t" rtlCol="false" tIns="0" lIns="0" bIns="0" rIns="0">
            <a:spAutoFit/>
          </a:bodyPr>
          <a:lstStyle/>
          <a:p>
            <a:pPr algn="just">
              <a:lnSpc>
                <a:spcPts val="2800"/>
              </a:lnSpc>
              <a:spcBef>
                <a:spcPct val="0"/>
              </a:spcBef>
            </a:pPr>
            <a:r>
              <a:rPr lang="en-US" sz="2000" spc="182">
                <a:solidFill>
                  <a:srgbClr val="B05510"/>
                </a:solidFill>
                <a:latin typeface="Pier Sans Light"/>
                <a:ea typeface="Pier Sans Light"/>
                <a:cs typeface="Pier Sans Light"/>
                <a:sym typeface="Pier Sans Light"/>
              </a:rPr>
              <a:t>6</a:t>
            </a:r>
            <a:r>
              <a:rPr lang="en-US" sz="2000" spc="182">
                <a:solidFill>
                  <a:srgbClr val="B05510"/>
                </a:solidFill>
                <a:latin typeface="Pier Sans Light"/>
                <a:ea typeface="Pier Sans Light"/>
                <a:cs typeface="Pier Sans Light"/>
                <a:sym typeface="Pier Sans Light"/>
              </a:rPr>
              <a:t>.8x</a:t>
            </a:r>
          </a:p>
        </p:txBody>
      </p:sp>
      <p:sp>
        <p:nvSpPr>
          <p:cNvPr name="TextBox 52" id="52"/>
          <p:cNvSpPr txBox="true"/>
          <p:nvPr/>
        </p:nvSpPr>
        <p:spPr>
          <a:xfrm rot="0">
            <a:off x="9261837" y="6503094"/>
            <a:ext cx="620168" cy="349300"/>
          </a:xfrm>
          <a:prstGeom prst="rect">
            <a:avLst/>
          </a:prstGeom>
        </p:spPr>
        <p:txBody>
          <a:bodyPr anchor="t" rtlCol="false" tIns="0" lIns="0" bIns="0" rIns="0">
            <a:spAutoFit/>
          </a:bodyPr>
          <a:lstStyle/>
          <a:p>
            <a:pPr algn="just">
              <a:lnSpc>
                <a:spcPts val="2800"/>
              </a:lnSpc>
              <a:spcBef>
                <a:spcPct val="0"/>
              </a:spcBef>
            </a:pPr>
            <a:r>
              <a:rPr lang="en-US" sz="2000" spc="182">
                <a:solidFill>
                  <a:srgbClr val="B05510"/>
                </a:solidFill>
                <a:latin typeface="Pier Sans Light"/>
                <a:ea typeface="Pier Sans Light"/>
                <a:cs typeface="Pier Sans Light"/>
                <a:sym typeface="Pier Sans Light"/>
              </a:rPr>
              <a:t>5.</a:t>
            </a:r>
            <a:r>
              <a:rPr lang="en-US" sz="2000" spc="182">
                <a:solidFill>
                  <a:srgbClr val="B05510"/>
                </a:solidFill>
                <a:latin typeface="Pier Sans Light"/>
                <a:ea typeface="Pier Sans Light"/>
                <a:cs typeface="Pier Sans Light"/>
                <a:sym typeface="Pier Sans Light"/>
              </a:rPr>
              <a:t>2x</a:t>
            </a:r>
          </a:p>
        </p:txBody>
      </p:sp>
      <p:sp>
        <p:nvSpPr>
          <p:cNvPr name="TextBox 53" id="53"/>
          <p:cNvSpPr txBox="true"/>
          <p:nvPr/>
        </p:nvSpPr>
        <p:spPr>
          <a:xfrm rot="0">
            <a:off x="1324341" y="4864756"/>
            <a:ext cx="3132937" cy="389305"/>
          </a:xfrm>
          <a:prstGeom prst="rect">
            <a:avLst/>
          </a:prstGeom>
        </p:spPr>
        <p:txBody>
          <a:bodyPr anchor="t" rtlCol="false" tIns="0" lIns="0" bIns="0" rIns="0">
            <a:spAutoFit/>
          </a:bodyPr>
          <a:lstStyle/>
          <a:p>
            <a:pPr algn="just">
              <a:lnSpc>
                <a:spcPts val="3219"/>
              </a:lnSpc>
              <a:spcBef>
                <a:spcPct val="0"/>
              </a:spcBef>
            </a:pPr>
            <a:r>
              <a:rPr lang="en-US" b="true" sz="2299" spc="209">
                <a:solidFill>
                  <a:srgbClr val="B05510"/>
                </a:solidFill>
                <a:latin typeface="Pier Sans Light Bold"/>
                <a:ea typeface="Pier Sans Light Bold"/>
                <a:cs typeface="Pier Sans Light Bold"/>
                <a:sym typeface="Pier Sans Light Bold"/>
              </a:rPr>
              <a:t>Con</a:t>
            </a:r>
            <a:r>
              <a:rPr lang="en-US" b="true" sz="2299" spc="209">
                <a:solidFill>
                  <a:srgbClr val="B05510"/>
                </a:solidFill>
                <a:latin typeface="Pier Sans Light Bold"/>
                <a:ea typeface="Pier Sans Light Bold"/>
                <a:cs typeface="Pier Sans Light Bold"/>
                <a:sym typeface="Pier Sans Light Bold"/>
              </a:rPr>
              <a:t>sumer Goods</a:t>
            </a:r>
          </a:p>
        </p:txBody>
      </p:sp>
      <p:sp>
        <p:nvSpPr>
          <p:cNvPr name="TextBox 54" id="54"/>
          <p:cNvSpPr txBox="true"/>
          <p:nvPr/>
        </p:nvSpPr>
        <p:spPr>
          <a:xfrm rot="0">
            <a:off x="1324341" y="5675676"/>
            <a:ext cx="3132937" cy="389305"/>
          </a:xfrm>
          <a:prstGeom prst="rect">
            <a:avLst/>
          </a:prstGeom>
        </p:spPr>
        <p:txBody>
          <a:bodyPr anchor="t" rtlCol="false" tIns="0" lIns="0" bIns="0" rIns="0">
            <a:spAutoFit/>
          </a:bodyPr>
          <a:lstStyle/>
          <a:p>
            <a:pPr algn="just">
              <a:lnSpc>
                <a:spcPts val="3219"/>
              </a:lnSpc>
              <a:spcBef>
                <a:spcPct val="0"/>
              </a:spcBef>
            </a:pPr>
            <a:r>
              <a:rPr lang="en-US" b="true" sz="2299" spc="209">
                <a:solidFill>
                  <a:srgbClr val="B05510"/>
                </a:solidFill>
                <a:latin typeface="Pier Sans Light Bold"/>
                <a:ea typeface="Pier Sans Light Bold"/>
                <a:cs typeface="Pier Sans Light Bold"/>
                <a:sym typeface="Pier Sans Light Bold"/>
              </a:rPr>
              <a:t>Elect</a:t>
            </a:r>
            <a:r>
              <a:rPr lang="en-US" b="true" sz="2299" spc="209">
                <a:solidFill>
                  <a:srgbClr val="B05510"/>
                </a:solidFill>
                <a:latin typeface="Pier Sans Light Bold"/>
                <a:ea typeface="Pier Sans Light Bold"/>
                <a:cs typeface="Pier Sans Light Bold"/>
                <a:sym typeface="Pier Sans Light Bold"/>
              </a:rPr>
              <a:t>ronics</a:t>
            </a:r>
          </a:p>
        </p:txBody>
      </p:sp>
      <p:sp>
        <p:nvSpPr>
          <p:cNvPr name="TextBox 55" id="55"/>
          <p:cNvSpPr txBox="true"/>
          <p:nvPr/>
        </p:nvSpPr>
        <p:spPr>
          <a:xfrm rot="0">
            <a:off x="1324341" y="6486596"/>
            <a:ext cx="3132937" cy="389305"/>
          </a:xfrm>
          <a:prstGeom prst="rect">
            <a:avLst/>
          </a:prstGeom>
        </p:spPr>
        <p:txBody>
          <a:bodyPr anchor="t" rtlCol="false" tIns="0" lIns="0" bIns="0" rIns="0">
            <a:spAutoFit/>
          </a:bodyPr>
          <a:lstStyle/>
          <a:p>
            <a:pPr algn="just">
              <a:lnSpc>
                <a:spcPts val="3219"/>
              </a:lnSpc>
              <a:spcBef>
                <a:spcPct val="0"/>
              </a:spcBef>
            </a:pPr>
            <a:r>
              <a:rPr lang="en-US" b="true" sz="2299" spc="209">
                <a:solidFill>
                  <a:srgbClr val="B05510"/>
                </a:solidFill>
                <a:latin typeface="Pier Sans Light Bold"/>
                <a:ea typeface="Pier Sans Light Bold"/>
                <a:cs typeface="Pier Sans Light Bold"/>
                <a:sym typeface="Pier Sans Light Bold"/>
              </a:rPr>
              <a:t>Indust</a:t>
            </a:r>
            <a:r>
              <a:rPr lang="en-US" b="true" sz="2299" spc="209">
                <a:solidFill>
                  <a:srgbClr val="B05510"/>
                </a:solidFill>
                <a:latin typeface="Pier Sans Light Bold"/>
                <a:ea typeface="Pier Sans Light Bold"/>
                <a:cs typeface="Pier Sans Light Bold"/>
                <a:sym typeface="Pier Sans Light Bold"/>
              </a:rPr>
              <a:t>rial Parts</a:t>
            </a:r>
          </a:p>
        </p:txBody>
      </p:sp>
      <p:sp>
        <p:nvSpPr>
          <p:cNvPr name="TextBox 56" id="56"/>
          <p:cNvSpPr txBox="true"/>
          <p:nvPr/>
        </p:nvSpPr>
        <p:spPr>
          <a:xfrm rot="0">
            <a:off x="2152186" y="2209429"/>
            <a:ext cx="13983628" cy="1061720"/>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INVEN</a:t>
            </a:r>
            <a:r>
              <a:rPr lang="en-US" b="true" sz="6200" spc="-124">
                <a:solidFill>
                  <a:srgbClr val="B05510"/>
                </a:solidFill>
                <a:latin typeface="Gordita Bold"/>
                <a:ea typeface="Gordita Bold"/>
                <a:cs typeface="Gordita Bold"/>
                <a:sym typeface="Gordita Bold"/>
              </a:rPr>
              <a:t>TORY TURNOVER RATIOS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12013003" y="3828137"/>
            <a:ext cx="8003549" cy="800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tretch>
            <a:fillRect/>
          </a:stretch>
        </p:blipFill>
        <p:spPr>
          <a:xfrm rot="0">
            <a:off x="8035296" y="39673"/>
            <a:ext cx="10279940" cy="9773145"/>
          </a:xfrm>
          <a:prstGeom prst="rect">
            <a:avLst/>
          </a:prstGeom>
        </p:spPr>
      </p:pic>
      <p:sp>
        <p:nvSpPr>
          <p:cNvPr name="TextBox 8" id="8"/>
          <p:cNvSpPr txBox="true"/>
          <p:nvPr/>
        </p:nvSpPr>
        <p:spPr>
          <a:xfrm rot="0">
            <a:off x="1016923" y="1217410"/>
            <a:ext cx="7175253" cy="3252470"/>
          </a:xfrm>
          <a:prstGeom prst="rect">
            <a:avLst/>
          </a:prstGeom>
        </p:spPr>
        <p:txBody>
          <a:bodyPr anchor="t" rtlCol="false" tIns="0" lIns="0" bIns="0" rIns="0">
            <a:spAutoFit/>
          </a:bodyPr>
          <a:lstStyle/>
          <a:p>
            <a:pPr algn="l">
              <a:lnSpc>
                <a:spcPts val="8680"/>
              </a:lnSpc>
              <a:spcBef>
                <a:spcPct val="0"/>
              </a:spcBef>
            </a:pPr>
            <a:r>
              <a:rPr lang="en-US" b="true" sz="6200" spc="-124">
                <a:solidFill>
                  <a:srgbClr val="B05510"/>
                </a:solidFill>
                <a:latin typeface="Gordita Bold"/>
                <a:ea typeface="Gordita Bold"/>
                <a:cs typeface="Gordita Bold"/>
                <a:sym typeface="Gordita Bold"/>
              </a:rPr>
              <a:t>TOTAL LOGISTICS COST BREAKDOWN</a:t>
            </a:r>
          </a:p>
        </p:txBody>
      </p:sp>
      <p:sp>
        <p:nvSpPr>
          <p:cNvPr name="TextBox 9" id="9"/>
          <p:cNvSpPr txBox="true"/>
          <p:nvPr/>
        </p:nvSpPr>
        <p:spPr>
          <a:xfrm rot="0">
            <a:off x="12013003" y="4790972"/>
            <a:ext cx="2324527" cy="911987"/>
          </a:xfrm>
          <a:prstGeom prst="rect">
            <a:avLst/>
          </a:prstGeom>
        </p:spPr>
        <p:txBody>
          <a:bodyPr anchor="t" rtlCol="false" tIns="0" lIns="0" bIns="0" rIns="0">
            <a:spAutoFit/>
          </a:bodyPr>
          <a:lstStyle/>
          <a:p>
            <a:pPr algn="ctr">
              <a:lnSpc>
                <a:spcPts val="3783"/>
              </a:lnSpc>
            </a:pPr>
            <a:r>
              <a:rPr lang="en-US" b="true" sz="2199" spc="248">
                <a:solidFill>
                  <a:srgbClr val="B05510"/>
                </a:solidFill>
                <a:latin typeface="Pier Sans Light Bold"/>
                <a:ea typeface="Pier Sans Light Bold"/>
                <a:cs typeface="Pier Sans Light Bold"/>
                <a:sym typeface="Pier Sans Light Bold"/>
              </a:rPr>
              <a:t>Pr</a:t>
            </a:r>
            <a:r>
              <a:rPr lang="en-US" b="true" sz="2199" spc="248">
                <a:solidFill>
                  <a:srgbClr val="B05510"/>
                </a:solidFill>
                <a:latin typeface="Pier Sans Light Bold"/>
                <a:ea typeface="Pier Sans Light Bold"/>
                <a:cs typeface="Pier Sans Light Bold"/>
                <a:sym typeface="Pier Sans Light Bold"/>
              </a:rPr>
              <a:t>imary Cost Transport</a:t>
            </a:r>
          </a:p>
        </p:txBody>
      </p:sp>
      <p:grpSp>
        <p:nvGrpSpPr>
          <p:cNvPr name="Group 10" id="10"/>
          <p:cNvGrpSpPr/>
          <p:nvPr/>
        </p:nvGrpSpPr>
        <p:grpSpPr>
          <a:xfrm rot="0">
            <a:off x="1028700" y="5299353"/>
            <a:ext cx="453167" cy="45316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028700" y="6065538"/>
            <a:ext cx="453167" cy="45316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028700" y="6827563"/>
            <a:ext cx="453167" cy="45316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028700" y="7589587"/>
            <a:ext cx="453167" cy="45316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279"/>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866360" y="5232678"/>
            <a:ext cx="5485815" cy="523900"/>
          </a:xfrm>
          <a:prstGeom prst="rect">
            <a:avLst/>
          </a:prstGeom>
        </p:spPr>
        <p:txBody>
          <a:bodyPr anchor="t" rtlCol="false" tIns="0" lIns="0" bIns="0" rIns="0">
            <a:spAutoFit/>
          </a:bodyPr>
          <a:lstStyle/>
          <a:p>
            <a:pPr algn="just">
              <a:lnSpc>
                <a:spcPts val="4200"/>
              </a:lnSpc>
              <a:spcBef>
                <a:spcPct val="0"/>
              </a:spcBef>
            </a:pPr>
            <a:r>
              <a:rPr lang="en-US" sz="3000" spc="273">
                <a:solidFill>
                  <a:srgbClr val="B05510"/>
                </a:solidFill>
                <a:latin typeface="Pier Sans Light"/>
                <a:ea typeface="Pier Sans Light"/>
                <a:cs typeface="Pier Sans Light"/>
                <a:sym typeface="Pier Sans Light"/>
              </a:rPr>
              <a:t>Tr</a:t>
            </a:r>
            <a:r>
              <a:rPr lang="en-US" sz="3000" spc="273">
                <a:solidFill>
                  <a:srgbClr val="B05510"/>
                </a:solidFill>
                <a:latin typeface="Pier Sans Light"/>
                <a:ea typeface="Pier Sans Light"/>
                <a:cs typeface="Pier Sans Light"/>
                <a:sym typeface="Pier Sans Light"/>
              </a:rPr>
              <a:t>ansportation </a:t>
            </a:r>
          </a:p>
        </p:txBody>
      </p:sp>
      <p:sp>
        <p:nvSpPr>
          <p:cNvPr name="TextBox 23" id="23"/>
          <p:cNvSpPr txBox="true"/>
          <p:nvPr/>
        </p:nvSpPr>
        <p:spPr>
          <a:xfrm rot="0">
            <a:off x="1866360" y="5998863"/>
            <a:ext cx="5485815" cy="523900"/>
          </a:xfrm>
          <a:prstGeom prst="rect">
            <a:avLst/>
          </a:prstGeom>
        </p:spPr>
        <p:txBody>
          <a:bodyPr anchor="t" rtlCol="false" tIns="0" lIns="0" bIns="0" rIns="0">
            <a:spAutoFit/>
          </a:bodyPr>
          <a:lstStyle/>
          <a:p>
            <a:pPr algn="just">
              <a:lnSpc>
                <a:spcPts val="4200"/>
              </a:lnSpc>
              <a:spcBef>
                <a:spcPct val="0"/>
              </a:spcBef>
            </a:pPr>
            <a:r>
              <a:rPr lang="en-US" sz="3000" spc="273">
                <a:solidFill>
                  <a:srgbClr val="B05510"/>
                </a:solidFill>
                <a:latin typeface="Pier Sans Light"/>
                <a:ea typeface="Pier Sans Light"/>
                <a:cs typeface="Pier Sans Light"/>
                <a:sym typeface="Pier Sans Light"/>
              </a:rPr>
              <a:t>Inve</a:t>
            </a:r>
            <a:r>
              <a:rPr lang="en-US" sz="3000" spc="273">
                <a:solidFill>
                  <a:srgbClr val="B05510"/>
                </a:solidFill>
                <a:latin typeface="Pier Sans Light"/>
                <a:ea typeface="Pier Sans Light"/>
                <a:cs typeface="Pier Sans Light"/>
                <a:sym typeface="Pier Sans Light"/>
              </a:rPr>
              <a:t>ntory Carrying</a:t>
            </a:r>
          </a:p>
        </p:txBody>
      </p:sp>
      <p:sp>
        <p:nvSpPr>
          <p:cNvPr name="TextBox 24" id="24"/>
          <p:cNvSpPr txBox="true"/>
          <p:nvPr/>
        </p:nvSpPr>
        <p:spPr>
          <a:xfrm rot="0">
            <a:off x="1866360" y="6760888"/>
            <a:ext cx="5485815" cy="523900"/>
          </a:xfrm>
          <a:prstGeom prst="rect">
            <a:avLst/>
          </a:prstGeom>
        </p:spPr>
        <p:txBody>
          <a:bodyPr anchor="t" rtlCol="false" tIns="0" lIns="0" bIns="0" rIns="0">
            <a:spAutoFit/>
          </a:bodyPr>
          <a:lstStyle/>
          <a:p>
            <a:pPr algn="just">
              <a:lnSpc>
                <a:spcPts val="4200"/>
              </a:lnSpc>
              <a:spcBef>
                <a:spcPct val="0"/>
              </a:spcBef>
            </a:pPr>
            <a:r>
              <a:rPr lang="en-US" sz="3000" spc="273">
                <a:solidFill>
                  <a:srgbClr val="B05510"/>
                </a:solidFill>
                <a:latin typeface="Pier Sans Light"/>
                <a:ea typeface="Pier Sans Light"/>
                <a:cs typeface="Pier Sans Light"/>
                <a:sym typeface="Pier Sans Light"/>
              </a:rPr>
              <a:t>W</a:t>
            </a:r>
            <a:r>
              <a:rPr lang="en-US" sz="3000" spc="273">
                <a:solidFill>
                  <a:srgbClr val="B05510"/>
                </a:solidFill>
                <a:latin typeface="Pier Sans Light"/>
                <a:ea typeface="Pier Sans Light"/>
                <a:cs typeface="Pier Sans Light"/>
                <a:sym typeface="Pier Sans Light"/>
              </a:rPr>
              <a:t>arehousing &amp; Facilities </a:t>
            </a:r>
          </a:p>
        </p:txBody>
      </p:sp>
      <p:sp>
        <p:nvSpPr>
          <p:cNvPr name="TextBox 25" id="25"/>
          <p:cNvSpPr txBox="true"/>
          <p:nvPr/>
        </p:nvSpPr>
        <p:spPr>
          <a:xfrm rot="0">
            <a:off x="1866360" y="7522912"/>
            <a:ext cx="5485815" cy="523900"/>
          </a:xfrm>
          <a:prstGeom prst="rect">
            <a:avLst/>
          </a:prstGeom>
        </p:spPr>
        <p:txBody>
          <a:bodyPr anchor="t" rtlCol="false" tIns="0" lIns="0" bIns="0" rIns="0">
            <a:spAutoFit/>
          </a:bodyPr>
          <a:lstStyle/>
          <a:p>
            <a:pPr algn="just">
              <a:lnSpc>
                <a:spcPts val="4200"/>
              </a:lnSpc>
              <a:spcBef>
                <a:spcPct val="0"/>
              </a:spcBef>
            </a:pPr>
            <a:r>
              <a:rPr lang="en-US" sz="3000" spc="273">
                <a:solidFill>
                  <a:srgbClr val="B05510"/>
                </a:solidFill>
                <a:latin typeface="Pier Sans Light"/>
                <a:ea typeface="Pier Sans Light"/>
                <a:cs typeface="Pier Sans Light"/>
                <a:sym typeface="Pier Sans Light"/>
              </a:rPr>
              <a:t>Admi</a:t>
            </a:r>
            <a:r>
              <a:rPr lang="en-US" sz="3000" spc="273">
                <a:solidFill>
                  <a:srgbClr val="B05510"/>
                </a:solidFill>
                <a:latin typeface="Pier Sans Light"/>
                <a:ea typeface="Pier Sans Light"/>
                <a:cs typeface="Pier Sans Light"/>
                <a:sym typeface="Pier Sans Light"/>
              </a:rPr>
              <a:t>nistration &amp; IT </a:t>
            </a:r>
          </a:p>
        </p:txBody>
      </p:sp>
      <p:grpSp>
        <p:nvGrpSpPr>
          <p:cNvPr name="Group 26" id="26"/>
          <p:cNvGrpSpPr/>
          <p:nvPr/>
        </p:nvGrpSpPr>
        <p:grpSpPr>
          <a:xfrm rot="-2246488">
            <a:off x="14124815" y="7804960"/>
            <a:ext cx="8326371" cy="6517320"/>
            <a:chOff x="0" y="0"/>
            <a:chExt cx="1038414" cy="812800"/>
          </a:xfrm>
        </p:grpSpPr>
        <p:sp>
          <p:nvSpPr>
            <p:cNvPr name="Freeform 27" id="27"/>
            <p:cNvSpPr/>
            <p:nvPr/>
          </p:nvSpPr>
          <p:spPr>
            <a:xfrm flipH="false" flipV="false" rot="0">
              <a:off x="0" y="0"/>
              <a:ext cx="1038414" cy="812800"/>
            </a:xfrm>
            <a:custGeom>
              <a:avLst/>
              <a:gdLst/>
              <a:ahLst/>
              <a:cxnLst/>
              <a:rect r="r" b="b" t="t" l="l"/>
              <a:pathLst>
                <a:path h="812800" w="1038414">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ln w="762000" cap="sq">
              <a:solidFill>
                <a:srgbClr val="EEB243"/>
              </a:solidFill>
              <a:prstDash val="solid"/>
              <a:miter/>
            </a:ln>
          </p:spPr>
        </p:sp>
        <p:sp>
          <p:nvSpPr>
            <p:cNvPr name="TextBox 28" id="28"/>
            <p:cNvSpPr txBox="true"/>
            <p:nvPr/>
          </p:nvSpPr>
          <p:spPr>
            <a:xfrm>
              <a:off x="97351" y="38100"/>
              <a:ext cx="843711"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288076">
            <a:off x="5765366" y="-1882678"/>
            <a:ext cx="3800569" cy="2974828"/>
            <a:chOff x="0" y="0"/>
            <a:chExt cx="1038414" cy="812800"/>
          </a:xfrm>
        </p:grpSpPr>
        <p:sp>
          <p:nvSpPr>
            <p:cNvPr name="Freeform 30" id="30"/>
            <p:cNvSpPr/>
            <p:nvPr/>
          </p:nvSpPr>
          <p:spPr>
            <a:xfrm flipH="false" flipV="false" rot="0">
              <a:off x="0" y="0"/>
              <a:ext cx="1038414" cy="812800"/>
            </a:xfrm>
            <a:custGeom>
              <a:avLst/>
              <a:gdLst/>
              <a:ahLst/>
              <a:cxnLst/>
              <a:rect r="r" b="b" t="t" l="l"/>
              <a:pathLst>
                <a:path h="812800" w="1038414">
                  <a:moveTo>
                    <a:pt x="519207" y="0"/>
                  </a:moveTo>
                  <a:cubicBezTo>
                    <a:pt x="232457" y="0"/>
                    <a:pt x="0" y="181951"/>
                    <a:pt x="0" y="406400"/>
                  </a:cubicBezTo>
                  <a:cubicBezTo>
                    <a:pt x="0" y="630849"/>
                    <a:pt x="232457" y="812800"/>
                    <a:pt x="519207" y="812800"/>
                  </a:cubicBezTo>
                  <a:cubicBezTo>
                    <a:pt x="805957" y="812800"/>
                    <a:pt x="1038414" y="630849"/>
                    <a:pt x="1038414" y="406400"/>
                  </a:cubicBezTo>
                  <a:cubicBezTo>
                    <a:pt x="1038414" y="181951"/>
                    <a:pt x="805957" y="0"/>
                    <a:pt x="519207" y="0"/>
                  </a:cubicBezTo>
                  <a:close/>
                </a:path>
              </a:pathLst>
            </a:custGeom>
            <a:solidFill>
              <a:srgbClr val="B05510"/>
            </a:solidFill>
            <a:ln cap="sq">
              <a:noFill/>
              <a:prstDash val="solid"/>
              <a:miter/>
            </a:ln>
          </p:spPr>
        </p:sp>
        <p:sp>
          <p:nvSpPr>
            <p:cNvPr name="TextBox 31" id="31"/>
            <p:cNvSpPr txBox="true"/>
            <p:nvPr/>
          </p:nvSpPr>
          <p:spPr>
            <a:xfrm>
              <a:off x="97351" y="38100"/>
              <a:ext cx="843711"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8690833" y="8805133"/>
            <a:ext cx="453167" cy="45316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449184" y="8035225"/>
            <a:ext cx="15389632" cy="701774"/>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Surg</a:t>
            </a:r>
            <a:r>
              <a:rPr lang="en-US" sz="2000" spc="182">
                <a:solidFill>
                  <a:srgbClr val="B05510"/>
                </a:solidFill>
                <a:latin typeface="Pier Sans Light"/>
                <a:ea typeface="Pier Sans Light"/>
                <a:cs typeface="Pier Sans Light"/>
                <a:sym typeface="Pier Sans Light"/>
              </a:rPr>
              <a:t>ing digital buyer demand drives continuous upward volume trajectory, approaching a projected 115 Million shipments this year.</a:t>
            </a:r>
          </a:p>
        </p:txBody>
      </p:sp>
      <p:pic>
        <p:nvPicPr>
          <p:cNvPr name="Picture 5" id="5"/>
          <p:cNvPicPr>
            <a:picLocks noChangeAspect="true"/>
          </p:cNvPicPr>
          <p:nvPr/>
        </p:nvPicPr>
        <p:blipFill>
          <a:blip r:embed="rId6"/>
          <a:stretch>
            <a:fillRect/>
          </a:stretch>
        </p:blipFill>
        <p:spPr>
          <a:xfrm rot="0">
            <a:off x="572537" y="1780885"/>
            <a:ext cx="16976736" cy="7557192"/>
          </a:xfrm>
          <a:prstGeom prst="rect">
            <a:avLst/>
          </a:prstGeom>
        </p:spPr>
      </p:pic>
      <p:sp>
        <p:nvSpPr>
          <p:cNvPr name="TextBox 6" id="6"/>
          <p:cNvSpPr txBox="true"/>
          <p:nvPr/>
        </p:nvSpPr>
        <p:spPr>
          <a:xfrm rot="0">
            <a:off x="4141705" y="1045176"/>
            <a:ext cx="10004590" cy="2157095"/>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E-C</a:t>
            </a:r>
            <a:r>
              <a:rPr lang="en-US" b="true" sz="6200" spc="-124">
                <a:solidFill>
                  <a:srgbClr val="B05510"/>
                </a:solidFill>
                <a:latin typeface="Gordita Bold"/>
                <a:ea typeface="Gordita Bold"/>
                <a:cs typeface="Gordita Bold"/>
                <a:sym typeface="Gordita Bold"/>
              </a:rPr>
              <a:t>OMMERCE DELIVERY VOLUME</a:t>
            </a:r>
          </a:p>
        </p:txBody>
      </p:sp>
      <p:sp>
        <p:nvSpPr>
          <p:cNvPr name="TextBox 7" id="7"/>
          <p:cNvSpPr txBox="true"/>
          <p:nvPr/>
        </p:nvSpPr>
        <p:spPr>
          <a:xfrm rot="0">
            <a:off x="3177262" y="6323164"/>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sp>
        <p:nvSpPr>
          <p:cNvPr name="TextBox 8" id="8"/>
          <p:cNvSpPr txBox="true"/>
          <p:nvPr/>
        </p:nvSpPr>
        <p:spPr>
          <a:xfrm rot="0">
            <a:off x="3177262" y="5803405"/>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sp>
        <p:nvSpPr>
          <p:cNvPr name="TextBox 9" id="9"/>
          <p:cNvSpPr txBox="true"/>
          <p:nvPr/>
        </p:nvSpPr>
        <p:spPr>
          <a:xfrm rot="0">
            <a:off x="3177262" y="5289265"/>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sp>
        <p:nvSpPr>
          <p:cNvPr name="TextBox 10" id="10"/>
          <p:cNvSpPr txBox="true"/>
          <p:nvPr/>
        </p:nvSpPr>
        <p:spPr>
          <a:xfrm rot="0">
            <a:off x="3177262" y="4774477"/>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sp>
        <p:nvSpPr>
          <p:cNvPr name="TextBox 11" id="11"/>
          <p:cNvSpPr txBox="true"/>
          <p:nvPr/>
        </p:nvSpPr>
        <p:spPr>
          <a:xfrm rot="0">
            <a:off x="3177262" y="4230467"/>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sp>
        <p:nvSpPr>
          <p:cNvPr name="TextBox 12" id="12"/>
          <p:cNvSpPr txBox="true"/>
          <p:nvPr/>
        </p:nvSpPr>
        <p:spPr>
          <a:xfrm rot="0">
            <a:off x="3177262" y="3725851"/>
            <a:ext cx="279354" cy="314115"/>
          </a:xfrm>
          <a:prstGeom prst="rect">
            <a:avLst/>
          </a:prstGeom>
        </p:spPr>
        <p:txBody>
          <a:bodyPr anchor="t" rtlCol="false" tIns="0" lIns="0" bIns="0" rIns="0">
            <a:spAutoFit/>
          </a:bodyPr>
          <a:lstStyle/>
          <a:p>
            <a:pPr algn="ctr">
              <a:lnSpc>
                <a:spcPts val="2642"/>
              </a:lnSpc>
              <a:spcBef>
                <a:spcPct val="0"/>
              </a:spcBef>
            </a:pPr>
            <a:r>
              <a:rPr lang="en-US" sz="1887" spc="-37">
                <a:solidFill>
                  <a:srgbClr val="B05510"/>
                </a:solidFill>
                <a:latin typeface="Gordita"/>
                <a:ea typeface="Gordita"/>
                <a:cs typeface="Gordita"/>
                <a:sym typeface="Gordita"/>
              </a:rPr>
              <a:t>M</a:t>
            </a:r>
          </a:p>
        </p:txBody>
      </p:sp>
      <p:grpSp>
        <p:nvGrpSpPr>
          <p:cNvPr name="Group 13" id="13"/>
          <p:cNvGrpSpPr/>
          <p:nvPr/>
        </p:nvGrpSpPr>
        <p:grpSpPr>
          <a:xfrm rot="0">
            <a:off x="154303" y="266120"/>
            <a:ext cx="7974804" cy="7796770"/>
            <a:chOff x="0" y="0"/>
            <a:chExt cx="831360" cy="812800"/>
          </a:xfrm>
        </p:grpSpPr>
        <p:sp>
          <p:nvSpPr>
            <p:cNvPr name="Freeform 14" id="14"/>
            <p:cNvSpPr/>
            <p:nvPr/>
          </p:nvSpPr>
          <p:spPr>
            <a:xfrm flipH="false" flipV="false" rot="0">
              <a:off x="0" y="0"/>
              <a:ext cx="831360" cy="812800"/>
            </a:xfrm>
            <a:custGeom>
              <a:avLst/>
              <a:gdLst/>
              <a:ahLst/>
              <a:cxnLst/>
              <a:rect r="r" b="b" t="t" l="l"/>
              <a:pathLst>
                <a:path h="812800" w="83136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name="TextBox 15" id="15"/>
            <p:cNvSpPr txBox="true"/>
            <p:nvPr/>
          </p:nvSpPr>
          <p:spPr>
            <a:xfrm>
              <a:off x="77940" y="38100"/>
              <a:ext cx="67548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3541611">
            <a:off x="-2582502" y="-2619582"/>
            <a:ext cx="7198850" cy="6523111"/>
            <a:chOff x="0" y="0"/>
            <a:chExt cx="896999" cy="812800"/>
          </a:xfrm>
        </p:grpSpPr>
        <p:sp>
          <p:nvSpPr>
            <p:cNvPr name="Freeform 17" id="17"/>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18" id="18"/>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7080891" y="5143500"/>
            <a:ext cx="3815327" cy="381532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4968590" y="1488561"/>
            <a:ext cx="697075" cy="69707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6635341" y="2992137"/>
            <a:ext cx="406951" cy="40695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10208677" y="327677"/>
            <a:ext cx="7903842" cy="790384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160598" y="-2619582"/>
            <a:ext cx="6921891" cy="6272149"/>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105218">
            <a:off x="-2097247" y="728102"/>
            <a:ext cx="4105239" cy="410523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7299914" y="1028700"/>
            <a:ext cx="453167" cy="45316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C27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5288944" y="8805133"/>
            <a:ext cx="453167" cy="45316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3473978" y="9600380"/>
            <a:ext cx="1150288" cy="115028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4127402" y="2515106"/>
            <a:ext cx="10033196" cy="100332"/>
          </a:xfrm>
          <a:custGeom>
            <a:avLst/>
            <a:gdLst/>
            <a:ahLst/>
            <a:cxnLst/>
            <a:rect r="r" b="b" t="t" l="l"/>
            <a:pathLst>
              <a:path h="100332" w="10033196">
                <a:moveTo>
                  <a:pt x="0" y="0"/>
                </a:moveTo>
                <a:lnTo>
                  <a:pt x="10033196" y="0"/>
                </a:lnTo>
                <a:lnTo>
                  <a:pt x="10033196" y="100332"/>
                </a:lnTo>
                <a:lnTo>
                  <a:pt x="0" y="100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2152186" y="3217878"/>
            <a:ext cx="13983628" cy="1061720"/>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FU</a:t>
            </a:r>
            <a:r>
              <a:rPr lang="en-US" b="true" sz="6200" spc="-124">
                <a:solidFill>
                  <a:srgbClr val="B05510"/>
                </a:solidFill>
                <a:latin typeface="Gordita Bold"/>
                <a:ea typeface="Gordita Bold"/>
                <a:cs typeface="Gordita Bold"/>
                <a:sym typeface="Gordita Bold"/>
              </a:rPr>
              <a:t>TURE HORIZON STRATEGIES</a:t>
            </a:r>
          </a:p>
        </p:txBody>
      </p:sp>
      <p:sp>
        <p:nvSpPr>
          <p:cNvPr name="TextBox 24" id="24"/>
          <p:cNvSpPr txBox="true"/>
          <p:nvPr/>
        </p:nvSpPr>
        <p:spPr>
          <a:xfrm rot="0">
            <a:off x="2256357" y="4774898"/>
            <a:ext cx="13775286" cy="3106618"/>
          </a:xfrm>
          <a:prstGeom prst="rect">
            <a:avLst/>
          </a:prstGeom>
        </p:spPr>
        <p:txBody>
          <a:bodyPr anchor="t" rtlCol="false" tIns="0" lIns="0" bIns="0" rIns="0">
            <a:spAutoFit/>
          </a:bodyPr>
          <a:lstStyle/>
          <a:p>
            <a:pPr algn="just">
              <a:lnSpc>
                <a:spcPts val="3079"/>
              </a:lnSpc>
              <a:spcBef>
                <a:spcPct val="0"/>
              </a:spcBef>
            </a:pPr>
            <a:r>
              <a:rPr lang="en-US" sz="2199" spc="200">
                <a:solidFill>
                  <a:srgbClr val="B05510"/>
                </a:solidFill>
                <a:latin typeface="Pier Sans Light"/>
                <a:ea typeface="Pier Sans Light"/>
                <a:cs typeface="Pier Sans Light"/>
                <a:sym typeface="Pier Sans Light"/>
              </a:rPr>
              <a:t>Lorem ipsum</a:t>
            </a:r>
            <a:r>
              <a:rPr lang="en-US" sz="2199" spc="200">
                <a:solidFill>
                  <a:srgbClr val="B05510"/>
                </a:solidFill>
                <a:latin typeface="Pier Sans Light"/>
                <a:ea typeface="Pier Sans Light"/>
                <a:cs typeface="Pier Sans Light"/>
                <a:sym typeface="Pier Sans Light"/>
              </a:rPr>
              <a:t> dolor sit amet, consectetur adipiscing elit. Aenean id laoreet diam, non mattis est. Curabitur iaculis quam at facilisis pulvinar. Fusce rutrum mauris diam, quis hendrerit ligula sodales eget. Maecenas egestas libero consectetur nunc hendrerit, sed lacinia lacus porta. Integer sed fringilla justo. Sed id sollicitudin nibh, sit amet gravida elit. Mauris faucibus eu ex interdum lacinia. Aliquam ullamcorper consectetur dolor id sollicitudin. Pellentesque lacinia eros nunc, finibus lacinia nulla fringilla sed. Quisque aliquet ligula enim, ut convallis felis euismod sed. Morbi sapien mi, rhoncus at fermentum non, blandit tincidunt mauris.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9437183" y="1283683"/>
            <a:ext cx="8690077" cy="86900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581441">
            <a:off x="13985738" y="6869137"/>
            <a:ext cx="5875218" cy="5323725"/>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16923" y="6025016"/>
            <a:ext cx="504240" cy="504240"/>
          </a:xfrm>
          <a:custGeom>
            <a:avLst/>
            <a:gdLst/>
            <a:ahLst/>
            <a:cxnLst/>
            <a:rect r="r" b="b" t="t" l="l"/>
            <a:pathLst>
              <a:path h="504240" w="504240">
                <a:moveTo>
                  <a:pt x="0" y="0"/>
                </a:moveTo>
                <a:lnTo>
                  <a:pt x="504240" y="0"/>
                </a:lnTo>
                <a:lnTo>
                  <a:pt x="504240" y="504240"/>
                </a:lnTo>
                <a:lnTo>
                  <a:pt x="0" y="504240"/>
                </a:lnTo>
                <a:lnTo>
                  <a:pt x="0" y="0"/>
                </a:lnTo>
                <a:close/>
              </a:path>
            </a:pathLst>
          </a:custGeom>
          <a:blipFill>
            <a:blip r:embed="rId6"/>
            <a:stretch>
              <a:fillRect l="0" t="0" r="0" b="0"/>
            </a:stretch>
          </a:blipFill>
        </p:spPr>
      </p:sp>
      <p:sp>
        <p:nvSpPr>
          <p:cNvPr name="Freeform 11" id="11"/>
          <p:cNvSpPr/>
          <p:nvPr/>
        </p:nvSpPr>
        <p:spPr>
          <a:xfrm flipH="false" flipV="false" rot="0">
            <a:off x="1016923" y="6741993"/>
            <a:ext cx="504240" cy="504240"/>
          </a:xfrm>
          <a:custGeom>
            <a:avLst/>
            <a:gdLst/>
            <a:ahLst/>
            <a:cxnLst/>
            <a:rect r="r" b="b" t="t" l="l"/>
            <a:pathLst>
              <a:path h="504240" w="504240">
                <a:moveTo>
                  <a:pt x="0" y="0"/>
                </a:moveTo>
                <a:lnTo>
                  <a:pt x="504240" y="0"/>
                </a:lnTo>
                <a:lnTo>
                  <a:pt x="504240" y="504241"/>
                </a:lnTo>
                <a:lnTo>
                  <a:pt x="0" y="504241"/>
                </a:lnTo>
                <a:lnTo>
                  <a:pt x="0" y="0"/>
                </a:lnTo>
                <a:close/>
              </a:path>
            </a:pathLst>
          </a:custGeom>
          <a:blipFill>
            <a:blip r:embed="rId6"/>
            <a:stretch>
              <a:fillRect l="0" t="0" r="0" b="0"/>
            </a:stretch>
          </a:blipFill>
        </p:spPr>
      </p:sp>
      <p:sp>
        <p:nvSpPr>
          <p:cNvPr name="Freeform 12" id="12"/>
          <p:cNvSpPr/>
          <p:nvPr/>
        </p:nvSpPr>
        <p:spPr>
          <a:xfrm flipH="false" flipV="false" rot="0">
            <a:off x="1016923" y="7455784"/>
            <a:ext cx="504240" cy="504240"/>
          </a:xfrm>
          <a:custGeom>
            <a:avLst/>
            <a:gdLst/>
            <a:ahLst/>
            <a:cxnLst/>
            <a:rect r="r" b="b" t="t" l="l"/>
            <a:pathLst>
              <a:path h="504240" w="504240">
                <a:moveTo>
                  <a:pt x="0" y="0"/>
                </a:moveTo>
                <a:lnTo>
                  <a:pt x="504240" y="0"/>
                </a:lnTo>
                <a:lnTo>
                  <a:pt x="504240" y="504240"/>
                </a:lnTo>
                <a:lnTo>
                  <a:pt x="0" y="504240"/>
                </a:lnTo>
                <a:lnTo>
                  <a:pt x="0" y="0"/>
                </a:lnTo>
                <a:close/>
              </a:path>
            </a:pathLst>
          </a:custGeom>
          <a:blipFill>
            <a:blip r:embed="rId6"/>
            <a:stretch>
              <a:fillRect l="0" t="0" r="0" b="0"/>
            </a:stretch>
          </a:blipFill>
        </p:spPr>
      </p:sp>
      <p:sp>
        <p:nvSpPr>
          <p:cNvPr name="Freeform 13" id="13"/>
          <p:cNvSpPr/>
          <p:nvPr/>
        </p:nvSpPr>
        <p:spPr>
          <a:xfrm flipH="false" flipV="false" rot="0">
            <a:off x="8915006" y="2077408"/>
            <a:ext cx="8906532" cy="7180892"/>
          </a:xfrm>
          <a:custGeom>
            <a:avLst/>
            <a:gdLst/>
            <a:ahLst/>
            <a:cxnLst/>
            <a:rect r="r" b="b" t="t" l="l"/>
            <a:pathLst>
              <a:path h="7180892" w="8906532">
                <a:moveTo>
                  <a:pt x="0" y="0"/>
                </a:moveTo>
                <a:lnTo>
                  <a:pt x="8906532" y="0"/>
                </a:lnTo>
                <a:lnTo>
                  <a:pt x="8906532" y="7180892"/>
                </a:lnTo>
                <a:lnTo>
                  <a:pt x="0" y="7180892"/>
                </a:lnTo>
                <a:lnTo>
                  <a:pt x="0" y="0"/>
                </a:lnTo>
                <a:close/>
              </a:path>
            </a:pathLst>
          </a:custGeom>
          <a:blipFill>
            <a:blip r:embed="rId7"/>
            <a:stretch>
              <a:fillRect l="0" t="0" r="0" b="0"/>
            </a:stretch>
          </a:blipFill>
        </p:spPr>
      </p:sp>
      <p:sp>
        <p:nvSpPr>
          <p:cNvPr name="TextBox 14" id="14"/>
          <p:cNvSpPr txBox="true"/>
          <p:nvPr/>
        </p:nvSpPr>
        <p:spPr>
          <a:xfrm rot="0">
            <a:off x="1016923" y="1563426"/>
            <a:ext cx="8420260" cy="2157095"/>
          </a:xfrm>
          <a:prstGeom prst="rect">
            <a:avLst/>
          </a:prstGeom>
        </p:spPr>
        <p:txBody>
          <a:bodyPr anchor="t" rtlCol="false" tIns="0" lIns="0" bIns="0" rIns="0">
            <a:spAutoFit/>
          </a:bodyPr>
          <a:lstStyle/>
          <a:p>
            <a:pPr algn="l">
              <a:lnSpc>
                <a:spcPts val="8680"/>
              </a:lnSpc>
              <a:spcBef>
                <a:spcPct val="0"/>
              </a:spcBef>
            </a:pPr>
            <a:r>
              <a:rPr lang="en-US" b="true" sz="6200" spc="-124">
                <a:solidFill>
                  <a:srgbClr val="B05510"/>
                </a:solidFill>
                <a:latin typeface="Gordita Bold"/>
                <a:ea typeface="Gordita Bold"/>
                <a:cs typeface="Gordita Bold"/>
                <a:sym typeface="Gordita Bold"/>
              </a:rPr>
              <a:t>SOLVING THE FINAL DELIVERY PHA</a:t>
            </a:r>
            <a:r>
              <a:rPr lang="en-US" b="true" sz="6200" spc="-124">
                <a:solidFill>
                  <a:srgbClr val="B05510"/>
                </a:solidFill>
                <a:latin typeface="Gordita Bold"/>
                <a:ea typeface="Gordita Bold"/>
                <a:cs typeface="Gordita Bold"/>
                <a:sym typeface="Gordita Bold"/>
              </a:rPr>
              <a:t>SE</a:t>
            </a:r>
          </a:p>
        </p:txBody>
      </p:sp>
      <p:sp>
        <p:nvSpPr>
          <p:cNvPr name="TextBox 15" id="15"/>
          <p:cNvSpPr txBox="true"/>
          <p:nvPr/>
        </p:nvSpPr>
        <p:spPr>
          <a:xfrm rot="0">
            <a:off x="1016923" y="4081734"/>
            <a:ext cx="7429375" cy="1153869"/>
          </a:xfrm>
          <a:prstGeom prst="rect">
            <a:avLst/>
          </a:prstGeom>
        </p:spPr>
        <p:txBody>
          <a:bodyPr anchor="t" rtlCol="false" tIns="0" lIns="0" bIns="0" rIns="0">
            <a:spAutoFit/>
          </a:bodyPr>
          <a:lstStyle/>
          <a:p>
            <a:pPr algn="l">
              <a:lnSpc>
                <a:spcPts val="3079"/>
              </a:lnSpc>
              <a:spcBef>
                <a:spcPct val="0"/>
              </a:spcBef>
            </a:pPr>
            <a:r>
              <a:rPr lang="en-US" sz="2199" spc="200">
                <a:solidFill>
                  <a:srgbClr val="B05510"/>
                </a:solidFill>
                <a:latin typeface="Pier Sans Light"/>
                <a:ea typeface="Pier Sans Light"/>
                <a:cs typeface="Pier Sans Light"/>
                <a:sym typeface="Pier Sans Light"/>
              </a:rPr>
              <a:t>The fi</a:t>
            </a:r>
            <a:r>
              <a:rPr lang="en-US" sz="2199" spc="200">
                <a:solidFill>
                  <a:srgbClr val="B05510"/>
                </a:solidFill>
                <a:latin typeface="Pier Sans Light"/>
                <a:ea typeface="Pier Sans Light"/>
                <a:cs typeface="Pier Sans Light"/>
                <a:sym typeface="Pier Sans Light"/>
              </a:rPr>
              <a:t>nal legs of urban transit represent the single highest portion of retail shipment costs, making efficiency essential.</a:t>
            </a:r>
          </a:p>
        </p:txBody>
      </p:sp>
      <p:sp>
        <p:nvSpPr>
          <p:cNvPr name="TextBox 16" id="16"/>
          <p:cNvSpPr txBox="true"/>
          <p:nvPr/>
        </p:nvSpPr>
        <p:spPr>
          <a:xfrm rot="0">
            <a:off x="1748650" y="6078674"/>
            <a:ext cx="6937756" cy="349300"/>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Micr</a:t>
            </a:r>
            <a:r>
              <a:rPr lang="en-US" sz="2000" spc="182">
                <a:solidFill>
                  <a:srgbClr val="B05510"/>
                </a:solidFill>
                <a:latin typeface="Pier Sans Light"/>
                <a:ea typeface="Pier Sans Light"/>
                <a:cs typeface="Pier Sans Light"/>
                <a:sym typeface="Pier Sans Light"/>
              </a:rPr>
              <a:t>o-Fulfillment Centers close to buyers.</a:t>
            </a:r>
          </a:p>
        </p:txBody>
      </p:sp>
      <p:sp>
        <p:nvSpPr>
          <p:cNvPr name="TextBox 17" id="17"/>
          <p:cNvSpPr txBox="true"/>
          <p:nvPr/>
        </p:nvSpPr>
        <p:spPr>
          <a:xfrm rot="0">
            <a:off x="1748650" y="6795651"/>
            <a:ext cx="6937756" cy="349300"/>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Gre</a:t>
            </a:r>
            <a:r>
              <a:rPr lang="en-US" sz="2000" spc="182">
                <a:solidFill>
                  <a:srgbClr val="B05510"/>
                </a:solidFill>
                <a:latin typeface="Pier Sans Light"/>
                <a:ea typeface="Pier Sans Light"/>
                <a:cs typeface="Pier Sans Light"/>
                <a:sym typeface="Pier Sans Light"/>
              </a:rPr>
              <a:t>en, smart emission-free electric fleets.</a:t>
            </a:r>
          </a:p>
        </p:txBody>
      </p:sp>
      <p:sp>
        <p:nvSpPr>
          <p:cNvPr name="TextBox 18" id="18"/>
          <p:cNvSpPr txBox="true"/>
          <p:nvPr/>
        </p:nvSpPr>
        <p:spPr>
          <a:xfrm rot="0">
            <a:off x="1748650" y="7509441"/>
            <a:ext cx="6937756" cy="349300"/>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Autonom</a:t>
            </a:r>
            <a:r>
              <a:rPr lang="en-US" sz="2000" spc="182">
                <a:solidFill>
                  <a:srgbClr val="B05510"/>
                </a:solidFill>
                <a:latin typeface="Pier Sans Light"/>
                <a:ea typeface="Pier Sans Light"/>
                <a:cs typeface="Pier Sans Light"/>
                <a:sym typeface="Pier Sans Light"/>
              </a:rPr>
              <a:t>ous delivery rover &amp; drone trails.</a:t>
            </a:r>
          </a:p>
        </p:txBody>
      </p:sp>
      <p:grpSp>
        <p:nvGrpSpPr>
          <p:cNvPr name="Group 19" id="19"/>
          <p:cNvGrpSpPr/>
          <p:nvPr/>
        </p:nvGrpSpPr>
        <p:grpSpPr>
          <a:xfrm rot="0">
            <a:off x="7779631" y="-1845432"/>
            <a:ext cx="3315105" cy="2874132"/>
            <a:chOff x="0" y="0"/>
            <a:chExt cx="937506" cy="812800"/>
          </a:xfrm>
        </p:grpSpPr>
        <p:sp>
          <p:nvSpPr>
            <p:cNvPr name="Freeform 20" id="20"/>
            <p:cNvSpPr/>
            <p:nvPr/>
          </p:nvSpPr>
          <p:spPr>
            <a:xfrm flipH="false" flipV="false" rot="0">
              <a:off x="0" y="0"/>
              <a:ext cx="937506" cy="812800"/>
            </a:xfrm>
            <a:custGeom>
              <a:avLst/>
              <a:gdLst/>
              <a:ahLst/>
              <a:cxnLst/>
              <a:rect r="r" b="b" t="t" l="l"/>
              <a:pathLst>
                <a:path h="812800" w="937506">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name="TextBox 21" id="21"/>
            <p:cNvSpPr txBox="true"/>
            <p:nvPr/>
          </p:nvSpPr>
          <p:spPr>
            <a:xfrm>
              <a:off x="87891" y="38100"/>
              <a:ext cx="761724"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9210599" y="7472249"/>
            <a:ext cx="453167" cy="45316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348537" y="2355348"/>
            <a:ext cx="697075" cy="69707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B05B"/>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7779631" y="8754091"/>
            <a:ext cx="776908" cy="77690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154303" y="266120"/>
            <a:ext cx="7637713" cy="7467204"/>
            <a:chOff x="0" y="0"/>
            <a:chExt cx="831360" cy="812800"/>
          </a:xfrm>
        </p:grpSpPr>
        <p:sp>
          <p:nvSpPr>
            <p:cNvPr name="Freeform 3" id="3"/>
            <p:cNvSpPr/>
            <p:nvPr/>
          </p:nvSpPr>
          <p:spPr>
            <a:xfrm flipH="false" flipV="false" rot="0">
              <a:off x="0" y="0"/>
              <a:ext cx="831360" cy="812800"/>
            </a:xfrm>
            <a:custGeom>
              <a:avLst/>
              <a:gdLst/>
              <a:ahLst/>
              <a:cxnLst/>
              <a:rect r="r" b="b" t="t" l="l"/>
              <a:pathLst>
                <a:path h="812800" w="831360">
                  <a:moveTo>
                    <a:pt x="415680" y="0"/>
                  </a:moveTo>
                  <a:cubicBezTo>
                    <a:pt x="186106" y="0"/>
                    <a:pt x="0" y="181951"/>
                    <a:pt x="0" y="406400"/>
                  </a:cubicBezTo>
                  <a:cubicBezTo>
                    <a:pt x="0" y="630849"/>
                    <a:pt x="186106" y="812800"/>
                    <a:pt x="415680" y="812800"/>
                  </a:cubicBezTo>
                  <a:cubicBezTo>
                    <a:pt x="645254" y="812800"/>
                    <a:pt x="831360" y="630849"/>
                    <a:pt x="831360" y="406400"/>
                  </a:cubicBezTo>
                  <a:cubicBezTo>
                    <a:pt x="831360" y="181951"/>
                    <a:pt x="645254" y="0"/>
                    <a:pt x="415680" y="0"/>
                  </a:cubicBezTo>
                  <a:close/>
                </a:path>
              </a:pathLst>
            </a:custGeom>
            <a:solidFill>
              <a:srgbClr val="B05510">
                <a:alpha val="11765"/>
              </a:srgbClr>
            </a:solidFill>
          </p:spPr>
        </p:sp>
        <p:sp>
          <p:nvSpPr>
            <p:cNvPr name="TextBox 4" id="4"/>
            <p:cNvSpPr txBox="true"/>
            <p:nvPr/>
          </p:nvSpPr>
          <p:spPr>
            <a:xfrm>
              <a:off x="77940" y="38100"/>
              <a:ext cx="67548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3541611">
            <a:off x="-3130150" y="-1878432"/>
            <a:ext cx="7198850" cy="6523111"/>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69275" y="3680254"/>
            <a:ext cx="5572263" cy="4935124"/>
            <a:chOff x="0" y="0"/>
            <a:chExt cx="1214440" cy="1075579"/>
          </a:xfrm>
        </p:grpSpPr>
        <p:sp>
          <p:nvSpPr>
            <p:cNvPr name="Freeform 11" id="11"/>
            <p:cNvSpPr/>
            <p:nvPr/>
          </p:nvSpPr>
          <p:spPr>
            <a:xfrm flipH="false" flipV="false" rot="0">
              <a:off x="0" y="0"/>
              <a:ext cx="1214440" cy="1075579"/>
            </a:xfrm>
            <a:custGeom>
              <a:avLst/>
              <a:gdLst/>
              <a:ahLst/>
              <a:cxnLst/>
              <a:rect r="r" b="b" t="t" l="l"/>
              <a:pathLst>
                <a:path h="1075579" w="1214440">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name="TextBox 12" id="12"/>
            <p:cNvSpPr txBox="true"/>
            <p:nvPr/>
          </p:nvSpPr>
          <p:spPr>
            <a:xfrm>
              <a:off x="0" y="-38100"/>
              <a:ext cx="1214440" cy="111367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359459" y="3680254"/>
            <a:ext cx="5572263" cy="4935124"/>
            <a:chOff x="0" y="0"/>
            <a:chExt cx="1214440" cy="1075579"/>
          </a:xfrm>
        </p:grpSpPr>
        <p:sp>
          <p:nvSpPr>
            <p:cNvPr name="Freeform 14" id="14"/>
            <p:cNvSpPr/>
            <p:nvPr/>
          </p:nvSpPr>
          <p:spPr>
            <a:xfrm flipH="false" flipV="false" rot="0">
              <a:off x="0" y="0"/>
              <a:ext cx="1214440" cy="1075579"/>
            </a:xfrm>
            <a:custGeom>
              <a:avLst/>
              <a:gdLst/>
              <a:ahLst/>
              <a:cxnLst/>
              <a:rect r="r" b="b" t="t" l="l"/>
              <a:pathLst>
                <a:path h="1075579" w="1214440">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name="TextBox 15" id="15"/>
            <p:cNvSpPr txBox="true"/>
            <p:nvPr/>
          </p:nvSpPr>
          <p:spPr>
            <a:xfrm>
              <a:off x="0" y="-38100"/>
              <a:ext cx="1214440" cy="111367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246462" y="3680254"/>
            <a:ext cx="5572263" cy="4935124"/>
            <a:chOff x="0" y="0"/>
            <a:chExt cx="1214440" cy="1075579"/>
          </a:xfrm>
        </p:grpSpPr>
        <p:sp>
          <p:nvSpPr>
            <p:cNvPr name="Freeform 17" id="17"/>
            <p:cNvSpPr/>
            <p:nvPr/>
          </p:nvSpPr>
          <p:spPr>
            <a:xfrm flipH="false" flipV="false" rot="0">
              <a:off x="0" y="0"/>
              <a:ext cx="1214440" cy="1075579"/>
            </a:xfrm>
            <a:custGeom>
              <a:avLst/>
              <a:gdLst/>
              <a:ahLst/>
              <a:cxnLst/>
              <a:rect r="r" b="b" t="t" l="l"/>
              <a:pathLst>
                <a:path h="1075579" w="1214440">
                  <a:moveTo>
                    <a:pt x="27136" y="0"/>
                  </a:moveTo>
                  <a:lnTo>
                    <a:pt x="1187303" y="0"/>
                  </a:lnTo>
                  <a:cubicBezTo>
                    <a:pt x="1194500" y="0"/>
                    <a:pt x="1201403" y="2859"/>
                    <a:pt x="1206492" y="7948"/>
                  </a:cubicBezTo>
                  <a:cubicBezTo>
                    <a:pt x="1211581" y="13037"/>
                    <a:pt x="1214440" y="19939"/>
                    <a:pt x="1214440" y="27136"/>
                  </a:cubicBezTo>
                  <a:lnTo>
                    <a:pt x="1214440" y="1048443"/>
                  </a:lnTo>
                  <a:cubicBezTo>
                    <a:pt x="1214440" y="1063430"/>
                    <a:pt x="1202290" y="1075579"/>
                    <a:pt x="1187303" y="1075579"/>
                  </a:cubicBezTo>
                  <a:lnTo>
                    <a:pt x="27136" y="1075579"/>
                  </a:lnTo>
                  <a:cubicBezTo>
                    <a:pt x="12149" y="1075579"/>
                    <a:pt x="0" y="1063430"/>
                    <a:pt x="0" y="1048443"/>
                  </a:cubicBezTo>
                  <a:lnTo>
                    <a:pt x="0" y="27136"/>
                  </a:lnTo>
                  <a:cubicBezTo>
                    <a:pt x="0" y="12149"/>
                    <a:pt x="12149" y="0"/>
                    <a:pt x="27136" y="0"/>
                  </a:cubicBezTo>
                  <a:close/>
                </a:path>
              </a:pathLst>
            </a:custGeom>
            <a:solidFill>
              <a:srgbClr val="F2B05B"/>
            </a:solidFill>
            <a:ln w="76200" cap="rnd">
              <a:solidFill>
                <a:srgbClr val="B05510"/>
              </a:solidFill>
              <a:prstDash val="solid"/>
              <a:round/>
            </a:ln>
          </p:spPr>
        </p:sp>
        <p:sp>
          <p:nvSpPr>
            <p:cNvPr name="TextBox 18" id="18"/>
            <p:cNvSpPr txBox="true"/>
            <p:nvPr/>
          </p:nvSpPr>
          <p:spPr>
            <a:xfrm>
              <a:off x="0" y="-38100"/>
              <a:ext cx="1214440" cy="1113679"/>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375041" y="9258300"/>
            <a:ext cx="3315105" cy="2874132"/>
            <a:chOff x="0" y="0"/>
            <a:chExt cx="937506" cy="812800"/>
          </a:xfrm>
        </p:grpSpPr>
        <p:sp>
          <p:nvSpPr>
            <p:cNvPr name="Freeform 20" id="20"/>
            <p:cNvSpPr/>
            <p:nvPr/>
          </p:nvSpPr>
          <p:spPr>
            <a:xfrm flipH="false" flipV="false" rot="0">
              <a:off x="0" y="0"/>
              <a:ext cx="937506" cy="812800"/>
            </a:xfrm>
            <a:custGeom>
              <a:avLst/>
              <a:gdLst/>
              <a:ahLst/>
              <a:cxnLst/>
              <a:rect r="r" b="b" t="t" l="l"/>
              <a:pathLst>
                <a:path h="812800" w="937506">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name="TextBox 21" id="21"/>
            <p:cNvSpPr txBox="true"/>
            <p:nvPr/>
          </p:nvSpPr>
          <p:spPr>
            <a:xfrm>
              <a:off x="87891" y="38100"/>
              <a:ext cx="761724"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5347002" y="2032947"/>
            <a:ext cx="584975" cy="58497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0702351" y="9244028"/>
            <a:ext cx="438522" cy="43852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873C"/>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921159" y="4094972"/>
            <a:ext cx="1026481" cy="1401339"/>
          </a:xfrm>
          <a:custGeom>
            <a:avLst/>
            <a:gdLst/>
            <a:ahLst/>
            <a:cxnLst/>
            <a:rect r="r" b="b" t="t" l="l"/>
            <a:pathLst>
              <a:path h="1401339" w="1026481">
                <a:moveTo>
                  <a:pt x="0" y="0"/>
                </a:moveTo>
                <a:lnTo>
                  <a:pt x="1026481" y="0"/>
                </a:lnTo>
                <a:lnTo>
                  <a:pt x="1026481" y="1401339"/>
                </a:lnTo>
                <a:lnTo>
                  <a:pt x="0" y="14013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6566468" y="4230977"/>
            <a:ext cx="1637863" cy="1160835"/>
          </a:xfrm>
          <a:custGeom>
            <a:avLst/>
            <a:gdLst/>
            <a:ahLst/>
            <a:cxnLst/>
            <a:rect r="r" b="b" t="t" l="l"/>
            <a:pathLst>
              <a:path h="1160835" w="1637863">
                <a:moveTo>
                  <a:pt x="0" y="0"/>
                </a:moveTo>
                <a:lnTo>
                  <a:pt x="1637863" y="0"/>
                </a:lnTo>
                <a:lnTo>
                  <a:pt x="1637863" y="1160836"/>
                </a:lnTo>
                <a:lnTo>
                  <a:pt x="0" y="11608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12715813" y="4264689"/>
            <a:ext cx="1784959" cy="1231622"/>
          </a:xfrm>
          <a:custGeom>
            <a:avLst/>
            <a:gdLst/>
            <a:ahLst/>
            <a:cxnLst/>
            <a:rect r="r" b="b" t="t" l="l"/>
            <a:pathLst>
              <a:path h="1231622" w="1784959">
                <a:moveTo>
                  <a:pt x="0" y="0"/>
                </a:moveTo>
                <a:lnTo>
                  <a:pt x="1784959" y="0"/>
                </a:lnTo>
                <a:lnTo>
                  <a:pt x="1784959" y="1231622"/>
                </a:lnTo>
                <a:lnTo>
                  <a:pt x="0" y="12316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3992373" y="892487"/>
            <a:ext cx="10303253" cy="2157095"/>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MOD</a:t>
            </a:r>
            <a:r>
              <a:rPr lang="en-US" b="true" sz="6200" spc="-124">
                <a:solidFill>
                  <a:srgbClr val="B05510"/>
                </a:solidFill>
                <a:latin typeface="Gordita Bold"/>
                <a:ea typeface="Gordita Bold"/>
                <a:cs typeface="Gordita Bold"/>
                <a:sym typeface="Gordita Bold"/>
              </a:rPr>
              <a:t>ERN MODES</a:t>
            </a:r>
          </a:p>
          <a:p>
            <a:pPr algn="ctr">
              <a:lnSpc>
                <a:spcPts val="8680"/>
              </a:lnSpc>
              <a:spcBef>
                <a:spcPct val="0"/>
              </a:spcBef>
            </a:pPr>
            <a:r>
              <a:rPr lang="en-US" b="true" sz="6200" spc="-124">
                <a:solidFill>
                  <a:srgbClr val="B05510"/>
                </a:solidFill>
                <a:latin typeface="Gordita Bold"/>
                <a:ea typeface="Gordita Bold"/>
                <a:cs typeface="Gordita Bold"/>
                <a:sym typeface="Gordita Bold"/>
              </a:rPr>
              <a:t>OF TRANSPORTATION</a:t>
            </a:r>
          </a:p>
        </p:txBody>
      </p:sp>
      <p:sp>
        <p:nvSpPr>
          <p:cNvPr name="TextBox 32" id="32"/>
          <p:cNvSpPr txBox="true"/>
          <p:nvPr/>
        </p:nvSpPr>
        <p:spPr>
          <a:xfrm rot="0">
            <a:off x="835434" y="5774339"/>
            <a:ext cx="4735774"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Oce</a:t>
            </a:r>
            <a:r>
              <a:rPr lang="en-US" b="true" sz="3000" spc="273">
                <a:solidFill>
                  <a:srgbClr val="B05510"/>
                </a:solidFill>
                <a:latin typeface="Pier Sans Light Bold"/>
                <a:ea typeface="Pier Sans Light Bold"/>
                <a:cs typeface="Pier Sans Light Bold"/>
                <a:sym typeface="Pier Sans Light Bold"/>
              </a:rPr>
              <a:t>an Cargo</a:t>
            </a:r>
          </a:p>
        </p:txBody>
      </p:sp>
      <p:sp>
        <p:nvSpPr>
          <p:cNvPr name="TextBox 33" id="33"/>
          <p:cNvSpPr txBox="true"/>
          <p:nvPr/>
        </p:nvSpPr>
        <p:spPr>
          <a:xfrm rot="0">
            <a:off x="6777703" y="5774339"/>
            <a:ext cx="4735774"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Ro</a:t>
            </a:r>
            <a:r>
              <a:rPr lang="en-US" b="true" sz="3000" spc="273">
                <a:solidFill>
                  <a:srgbClr val="B05510"/>
                </a:solidFill>
                <a:latin typeface="Pier Sans Light Bold"/>
                <a:ea typeface="Pier Sans Light Bold"/>
                <a:cs typeface="Pier Sans Light Bold"/>
                <a:sym typeface="Pier Sans Light Bold"/>
              </a:rPr>
              <a:t>ad Logistics</a:t>
            </a:r>
          </a:p>
        </p:txBody>
      </p:sp>
      <p:sp>
        <p:nvSpPr>
          <p:cNvPr name="TextBox 34" id="34"/>
          <p:cNvSpPr txBox="true"/>
          <p:nvPr/>
        </p:nvSpPr>
        <p:spPr>
          <a:xfrm rot="0">
            <a:off x="12693722" y="5774339"/>
            <a:ext cx="4735774" cy="523900"/>
          </a:xfrm>
          <a:prstGeom prst="rect">
            <a:avLst/>
          </a:prstGeom>
        </p:spPr>
        <p:txBody>
          <a:bodyPr anchor="t" rtlCol="false" tIns="0" lIns="0" bIns="0" rIns="0">
            <a:spAutoFit/>
          </a:bodyPr>
          <a:lstStyle/>
          <a:p>
            <a:pPr algn="just">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Ai</a:t>
            </a:r>
            <a:r>
              <a:rPr lang="en-US" b="true" sz="3000" spc="273">
                <a:solidFill>
                  <a:srgbClr val="B05510"/>
                </a:solidFill>
                <a:latin typeface="Pier Sans Light Bold"/>
                <a:ea typeface="Pier Sans Light Bold"/>
                <a:cs typeface="Pier Sans Light Bold"/>
                <a:sym typeface="Pier Sans Light Bold"/>
              </a:rPr>
              <a:t>r Freight</a:t>
            </a:r>
          </a:p>
        </p:txBody>
      </p:sp>
      <p:sp>
        <p:nvSpPr>
          <p:cNvPr name="TextBox 35" id="35"/>
          <p:cNvSpPr txBox="true"/>
          <p:nvPr/>
        </p:nvSpPr>
        <p:spPr>
          <a:xfrm rot="0">
            <a:off x="857526" y="6469688"/>
            <a:ext cx="4713683" cy="1759198"/>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H</a:t>
            </a:r>
            <a:r>
              <a:rPr lang="en-US" sz="2000" spc="182">
                <a:solidFill>
                  <a:srgbClr val="B05510"/>
                </a:solidFill>
                <a:latin typeface="Pier Sans Light"/>
                <a:ea typeface="Pier Sans Light"/>
                <a:cs typeface="Pier Sans Light"/>
                <a:sym typeface="Pier Sans Light"/>
              </a:rPr>
              <a:t>andles over eighty percent of international merchant volume, offering an unmatched cost structure for bulky bulk material transit.</a:t>
            </a:r>
          </a:p>
        </p:txBody>
      </p:sp>
      <p:sp>
        <p:nvSpPr>
          <p:cNvPr name="TextBox 36" id="36"/>
          <p:cNvSpPr txBox="true"/>
          <p:nvPr/>
        </p:nvSpPr>
        <p:spPr>
          <a:xfrm rot="0">
            <a:off x="6799794" y="6469688"/>
            <a:ext cx="4713683" cy="1759198"/>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Pr</a:t>
            </a:r>
            <a:r>
              <a:rPr lang="en-US" sz="2000" spc="182">
                <a:solidFill>
                  <a:srgbClr val="B05510"/>
                </a:solidFill>
                <a:latin typeface="Pier Sans Light"/>
                <a:ea typeface="Pier Sans Light"/>
                <a:cs typeface="Pier Sans Light"/>
                <a:sym typeface="Pier Sans Light"/>
              </a:rPr>
              <a:t>ovides highly flexible door-to-door domestic distribution networks, acting as the critical connector for warehousing and final fulfillment.</a:t>
            </a:r>
          </a:p>
        </p:txBody>
      </p:sp>
      <p:sp>
        <p:nvSpPr>
          <p:cNvPr name="TextBox 37" id="37"/>
          <p:cNvSpPr txBox="true"/>
          <p:nvPr/>
        </p:nvSpPr>
        <p:spPr>
          <a:xfrm rot="0">
            <a:off x="12715813" y="6469688"/>
            <a:ext cx="4713683" cy="1406723"/>
          </a:xfrm>
          <a:prstGeom prst="rect">
            <a:avLst/>
          </a:prstGeom>
        </p:spPr>
        <p:txBody>
          <a:bodyPr anchor="t" rtlCol="false" tIns="0" lIns="0" bIns="0" rIns="0">
            <a:spAutoFit/>
          </a:bodyPr>
          <a:lstStyle/>
          <a:p>
            <a:pPr algn="l">
              <a:lnSpc>
                <a:spcPts val="2800"/>
              </a:lnSpc>
              <a:spcBef>
                <a:spcPct val="0"/>
              </a:spcBef>
            </a:pPr>
            <a:r>
              <a:rPr lang="en-US" sz="2000" spc="182">
                <a:solidFill>
                  <a:srgbClr val="B05510"/>
                </a:solidFill>
                <a:latin typeface="Pier Sans Light"/>
                <a:ea typeface="Pier Sans Light"/>
                <a:cs typeface="Pier Sans Light"/>
                <a:sym typeface="Pier Sans Light"/>
              </a:rPr>
              <a:t>En</a:t>
            </a:r>
            <a:r>
              <a:rPr lang="en-US" sz="2000" spc="182">
                <a:solidFill>
                  <a:srgbClr val="B05510"/>
                </a:solidFill>
                <a:latin typeface="Pier Sans Light"/>
                <a:ea typeface="Pier Sans Light"/>
                <a:cs typeface="Pier Sans Light"/>
                <a:sym typeface="Pier Sans Light"/>
              </a:rPr>
              <a:t>ables ultra-fast, premium global shipping for high-value merchandise, luxury perishables, and tight emergency shipments.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12220017" y="405258"/>
            <a:ext cx="7770886" cy="777088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943796" y="-1607865"/>
            <a:ext cx="6071536" cy="5501615"/>
            <a:chOff x="0" y="0"/>
            <a:chExt cx="896999" cy="812800"/>
          </a:xfrm>
        </p:grpSpPr>
        <p:sp>
          <p:nvSpPr>
            <p:cNvPr name="Freeform 6" id="6"/>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7" id="7"/>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a:off x="1028700" y="4406188"/>
            <a:ext cx="16242377" cy="0"/>
          </a:xfrm>
          <a:prstGeom prst="line">
            <a:avLst/>
          </a:prstGeom>
          <a:ln cap="flat" w="38100">
            <a:solidFill>
              <a:srgbClr val="B05510"/>
            </a:solidFill>
            <a:prstDash val="solid"/>
            <a:headEnd type="none" len="sm" w="sm"/>
            <a:tailEnd type="none" len="sm" w="sm"/>
          </a:ln>
        </p:spPr>
      </p:sp>
      <p:sp>
        <p:nvSpPr>
          <p:cNvPr name="Freeform 11" id="11"/>
          <p:cNvSpPr/>
          <p:nvPr/>
        </p:nvSpPr>
        <p:spPr>
          <a:xfrm flipH="false" flipV="false" rot="5400000">
            <a:off x="2444927" y="4112825"/>
            <a:ext cx="729357" cy="729357"/>
          </a:xfrm>
          <a:custGeom>
            <a:avLst/>
            <a:gdLst/>
            <a:ahLst/>
            <a:cxnLst/>
            <a:rect r="r" b="b" t="t" l="l"/>
            <a:pathLst>
              <a:path h="729357" w="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400000">
            <a:off x="6667453" y="4112825"/>
            <a:ext cx="729357" cy="729357"/>
          </a:xfrm>
          <a:custGeom>
            <a:avLst/>
            <a:gdLst/>
            <a:ahLst/>
            <a:cxnLst/>
            <a:rect r="r" b="b" t="t" l="l"/>
            <a:pathLst>
              <a:path h="729357" w="729357">
                <a:moveTo>
                  <a:pt x="0" y="0"/>
                </a:moveTo>
                <a:lnTo>
                  <a:pt x="729358" y="0"/>
                </a:lnTo>
                <a:lnTo>
                  <a:pt x="729358"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5400000">
            <a:off x="10890585" y="4112825"/>
            <a:ext cx="729357" cy="729357"/>
          </a:xfrm>
          <a:custGeom>
            <a:avLst/>
            <a:gdLst/>
            <a:ahLst/>
            <a:cxnLst/>
            <a:rect r="r" b="b" t="t" l="l"/>
            <a:pathLst>
              <a:path h="729357" w="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5400000">
            <a:off x="15113716" y="4112825"/>
            <a:ext cx="729357" cy="729357"/>
          </a:xfrm>
          <a:custGeom>
            <a:avLst/>
            <a:gdLst/>
            <a:ahLst/>
            <a:cxnLst/>
            <a:rect r="r" b="b" t="t" l="l"/>
            <a:pathLst>
              <a:path h="729357" w="729357">
                <a:moveTo>
                  <a:pt x="0" y="0"/>
                </a:moveTo>
                <a:lnTo>
                  <a:pt x="729357" y="0"/>
                </a:lnTo>
                <a:lnTo>
                  <a:pt x="729357" y="729358"/>
                </a:lnTo>
                <a:lnTo>
                  <a:pt x="0" y="7293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2877118" y="1000125"/>
            <a:ext cx="12533763" cy="2157095"/>
          </a:xfrm>
          <a:prstGeom prst="rect">
            <a:avLst/>
          </a:prstGeom>
        </p:spPr>
        <p:txBody>
          <a:bodyPr anchor="t" rtlCol="false" tIns="0" lIns="0" bIns="0" rIns="0">
            <a:spAutoFit/>
          </a:bodyPr>
          <a:lstStyle/>
          <a:p>
            <a:pPr algn="ctr">
              <a:lnSpc>
                <a:spcPts val="8680"/>
              </a:lnSpc>
              <a:spcBef>
                <a:spcPct val="0"/>
              </a:spcBef>
            </a:pPr>
            <a:r>
              <a:rPr lang="en-US" b="true" sz="6200" spc="-124">
                <a:solidFill>
                  <a:srgbClr val="B05510"/>
                </a:solidFill>
                <a:latin typeface="Gordita Bold"/>
                <a:ea typeface="Gordita Bold"/>
                <a:cs typeface="Gordita Bold"/>
                <a:sym typeface="Gordita Bold"/>
              </a:rPr>
              <a:t>SYST</a:t>
            </a:r>
            <a:r>
              <a:rPr lang="en-US" b="true" sz="6200" spc="-124">
                <a:solidFill>
                  <a:srgbClr val="B05510"/>
                </a:solidFill>
                <a:latin typeface="Gordita Bold"/>
                <a:ea typeface="Gordita Bold"/>
                <a:cs typeface="Gordita Bold"/>
                <a:sym typeface="Gordita Bold"/>
              </a:rPr>
              <a:t>EM MODERNIZATION ROADMAP</a:t>
            </a:r>
          </a:p>
        </p:txBody>
      </p:sp>
      <p:sp>
        <p:nvSpPr>
          <p:cNvPr name="TextBox 16" id="16"/>
          <p:cNvSpPr txBox="true"/>
          <p:nvPr/>
        </p:nvSpPr>
        <p:spPr>
          <a:xfrm rot="0">
            <a:off x="998077" y="5302410"/>
            <a:ext cx="3623056" cy="523900"/>
          </a:xfrm>
          <a:prstGeom prst="rect">
            <a:avLst/>
          </a:prstGeom>
        </p:spPr>
        <p:txBody>
          <a:bodyPr anchor="t" rtlCol="false" tIns="0" lIns="0" bIns="0" rIns="0">
            <a:spAutoFit/>
          </a:bodyPr>
          <a:lstStyle/>
          <a:p>
            <a:pPr algn="ctr">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System</a:t>
            </a:r>
            <a:r>
              <a:rPr lang="en-US" b="true" sz="3000" spc="273">
                <a:solidFill>
                  <a:srgbClr val="B05510"/>
                </a:solidFill>
                <a:latin typeface="Pier Sans Light Bold"/>
                <a:ea typeface="Pier Sans Light Bold"/>
                <a:cs typeface="Pier Sans Light Bold"/>
                <a:sym typeface="Pier Sans Light Bold"/>
              </a:rPr>
              <a:t> Audit</a:t>
            </a:r>
          </a:p>
        </p:txBody>
      </p:sp>
      <p:sp>
        <p:nvSpPr>
          <p:cNvPr name="TextBox 17" id="17"/>
          <p:cNvSpPr txBox="true"/>
          <p:nvPr/>
        </p:nvSpPr>
        <p:spPr>
          <a:xfrm rot="0">
            <a:off x="5220604" y="5035698"/>
            <a:ext cx="3623056" cy="1057325"/>
          </a:xfrm>
          <a:prstGeom prst="rect">
            <a:avLst/>
          </a:prstGeom>
        </p:spPr>
        <p:txBody>
          <a:bodyPr anchor="t" rtlCol="false" tIns="0" lIns="0" bIns="0" rIns="0">
            <a:spAutoFit/>
          </a:bodyPr>
          <a:lstStyle/>
          <a:p>
            <a:pPr algn="ctr">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W</a:t>
            </a:r>
            <a:r>
              <a:rPr lang="en-US" b="true" sz="3000" spc="273">
                <a:solidFill>
                  <a:srgbClr val="B05510"/>
                </a:solidFill>
                <a:latin typeface="Pier Sans Light Bold"/>
                <a:ea typeface="Pier Sans Light Bold"/>
                <a:cs typeface="Pier Sans Light Bold"/>
                <a:sym typeface="Pier Sans Light Bold"/>
              </a:rPr>
              <a:t>arehouse Smart IoT</a:t>
            </a:r>
          </a:p>
        </p:txBody>
      </p:sp>
      <p:sp>
        <p:nvSpPr>
          <p:cNvPr name="TextBox 18" id="18"/>
          <p:cNvSpPr txBox="true"/>
          <p:nvPr/>
        </p:nvSpPr>
        <p:spPr>
          <a:xfrm rot="0">
            <a:off x="9443735" y="5035698"/>
            <a:ext cx="3623056" cy="1057325"/>
          </a:xfrm>
          <a:prstGeom prst="rect">
            <a:avLst/>
          </a:prstGeom>
        </p:spPr>
        <p:txBody>
          <a:bodyPr anchor="t" rtlCol="false" tIns="0" lIns="0" bIns="0" rIns="0">
            <a:spAutoFit/>
          </a:bodyPr>
          <a:lstStyle/>
          <a:p>
            <a:pPr algn="ctr">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Re</a:t>
            </a:r>
            <a:r>
              <a:rPr lang="en-US" b="true" sz="3000" spc="273">
                <a:solidFill>
                  <a:srgbClr val="B05510"/>
                </a:solidFill>
                <a:latin typeface="Pier Sans Light Bold"/>
                <a:ea typeface="Pier Sans Light Bold"/>
                <a:cs typeface="Pier Sans Light Bold"/>
                <a:sym typeface="Pier Sans Light Bold"/>
              </a:rPr>
              <a:t>al-Time AI Routing</a:t>
            </a:r>
          </a:p>
        </p:txBody>
      </p:sp>
      <p:sp>
        <p:nvSpPr>
          <p:cNvPr name="TextBox 19" id="19"/>
          <p:cNvSpPr txBox="true"/>
          <p:nvPr/>
        </p:nvSpPr>
        <p:spPr>
          <a:xfrm rot="0">
            <a:off x="13666866" y="5302410"/>
            <a:ext cx="3623056" cy="523900"/>
          </a:xfrm>
          <a:prstGeom prst="rect">
            <a:avLst/>
          </a:prstGeom>
        </p:spPr>
        <p:txBody>
          <a:bodyPr anchor="t" rtlCol="false" tIns="0" lIns="0" bIns="0" rIns="0">
            <a:spAutoFit/>
          </a:bodyPr>
          <a:lstStyle/>
          <a:p>
            <a:pPr algn="ctr">
              <a:lnSpc>
                <a:spcPts val="4200"/>
              </a:lnSpc>
              <a:spcBef>
                <a:spcPct val="0"/>
              </a:spcBef>
            </a:pPr>
            <a:r>
              <a:rPr lang="en-US" b="true" sz="3000" spc="273">
                <a:solidFill>
                  <a:srgbClr val="B05510"/>
                </a:solidFill>
                <a:latin typeface="Pier Sans Light Bold"/>
                <a:ea typeface="Pier Sans Light Bold"/>
                <a:cs typeface="Pier Sans Light Bold"/>
                <a:sym typeface="Pier Sans Light Bold"/>
              </a:rPr>
              <a:t>Autonomic</a:t>
            </a:r>
            <a:r>
              <a:rPr lang="en-US" b="true" sz="3000" spc="273">
                <a:solidFill>
                  <a:srgbClr val="B05510"/>
                </a:solidFill>
                <a:latin typeface="Pier Sans Light Bold"/>
                <a:ea typeface="Pier Sans Light Bold"/>
                <a:cs typeface="Pier Sans Light Bold"/>
                <a:sym typeface="Pier Sans Light Bold"/>
              </a:rPr>
              <a:t> Flow</a:t>
            </a:r>
          </a:p>
        </p:txBody>
      </p:sp>
      <p:sp>
        <p:nvSpPr>
          <p:cNvPr name="TextBox 20" id="20"/>
          <p:cNvSpPr txBox="true"/>
          <p:nvPr/>
        </p:nvSpPr>
        <p:spPr>
          <a:xfrm rot="0">
            <a:off x="1406410" y="6369247"/>
            <a:ext cx="2806392" cy="1759198"/>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Map struc</a:t>
            </a:r>
            <a:r>
              <a:rPr lang="en-US" sz="2000" spc="182">
                <a:solidFill>
                  <a:srgbClr val="B05510"/>
                </a:solidFill>
                <a:latin typeface="Pier Sans Light"/>
                <a:ea typeface="Pier Sans Light"/>
                <a:cs typeface="Pier Sans Light"/>
                <a:sym typeface="Pier Sans Light"/>
              </a:rPr>
              <a:t>tural inefficiencies, collect data baselines, and locate network bottlenecks.</a:t>
            </a:r>
          </a:p>
        </p:txBody>
      </p:sp>
      <p:sp>
        <p:nvSpPr>
          <p:cNvPr name="TextBox 21" id="21"/>
          <p:cNvSpPr txBox="true"/>
          <p:nvPr/>
        </p:nvSpPr>
        <p:spPr>
          <a:xfrm rot="0">
            <a:off x="5606602" y="6369247"/>
            <a:ext cx="2851665" cy="1759198"/>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D</a:t>
            </a:r>
            <a:r>
              <a:rPr lang="en-US" sz="2000" spc="182">
                <a:solidFill>
                  <a:srgbClr val="B05510"/>
                </a:solidFill>
                <a:latin typeface="Pier Sans Light"/>
                <a:ea typeface="Pier Sans Light"/>
                <a:cs typeface="Pier Sans Light"/>
                <a:sym typeface="Pier Sans Light"/>
              </a:rPr>
              <a:t>eploy RFID infrastructure, smart storage tags, and automated sorting racks.</a:t>
            </a:r>
          </a:p>
        </p:txBody>
      </p:sp>
      <p:sp>
        <p:nvSpPr>
          <p:cNvPr name="TextBox 22" id="22"/>
          <p:cNvSpPr txBox="true"/>
          <p:nvPr/>
        </p:nvSpPr>
        <p:spPr>
          <a:xfrm rot="0">
            <a:off x="9732417" y="6369247"/>
            <a:ext cx="3045693" cy="1759198"/>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Ac</a:t>
            </a:r>
            <a:r>
              <a:rPr lang="en-US" sz="2000" spc="182">
                <a:solidFill>
                  <a:srgbClr val="B05510"/>
                </a:solidFill>
                <a:latin typeface="Pier Sans Light"/>
                <a:ea typeface="Pier Sans Light"/>
                <a:cs typeface="Pier Sans Light"/>
                <a:sym typeface="Pier Sans Light"/>
              </a:rPr>
              <a:t>tivate dispatch machine learning for predictive, dynamically adjusted transport paths.</a:t>
            </a:r>
          </a:p>
        </p:txBody>
      </p:sp>
      <p:sp>
        <p:nvSpPr>
          <p:cNvPr name="TextBox 23" id="23"/>
          <p:cNvSpPr txBox="true"/>
          <p:nvPr/>
        </p:nvSpPr>
        <p:spPr>
          <a:xfrm rot="0">
            <a:off x="14123238" y="6369247"/>
            <a:ext cx="2710314" cy="1759198"/>
          </a:xfrm>
          <a:prstGeom prst="rect">
            <a:avLst/>
          </a:prstGeom>
        </p:spPr>
        <p:txBody>
          <a:bodyPr anchor="t" rtlCol="false" tIns="0" lIns="0" bIns="0" rIns="0">
            <a:spAutoFit/>
          </a:bodyPr>
          <a:lstStyle/>
          <a:p>
            <a:pPr algn="ctr">
              <a:lnSpc>
                <a:spcPts val="2800"/>
              </a:lnSpc>
              <a:spcBef>
                <a:spcPct val="0"/>
              </a:spcBef>
            </a:pPr>
            <a:r>
              <a:rPr lang="en-US" sz="2000" spc="182">
                <a:solidFill>
                  <a:srgbClr val="B05510"/>
                </a:solidFill>
                <a:latin typeface="Pier Sans Light"/>
                <a:ea typeface="Pier Sans Light"/>
                <a:cs typeface="Pier Sans Light"/>
                <a:sym typeface="Pier Sans Light"/>
              </a:rPr>
              <a:t>Ac</a:t>
            </a:r>
            <a:r>
              <a:rPr lang="en-US" sz="2000" spc="182">
                <a:solidFill>
                  <a:srgbClr val="B05510"/>
                </a:solidFill>
                <a:latin typeface="Pier Sans Light"/>
                <a:ea typeface="Pier Sans Light"/>
                <a:cs typeface="Pier Sans Light"/>
                <a:sym typeface="Pier Sans Light"/>
              </a:rPr>
              <a:t>hieve self-optimizing inventory and self-healing supply networks globally.</a:t>
            </a:r>
          </a:p>
        </p:txBody>
      </p:sp>
      <p:grpSp>
        <p:nvGrpSpPr>
          <p:cNvPr name="Group 24" id="24"/>
          <p:cNvGrpSpPr/>
          <p:nvPr/>
        </p:nvGrpSpPr>
        <p:grpSpPr>
          <a:xfrm rot="0">
            <a:off x="11255263" y="9227000"/>
            <a:ext cx="3315105" cy="2874132"/>
            <a:chOff x="0" y="0"/>
            <a:chExt cx="937506" cy="812800"/>
          </a:xfrm>
        </p:grpSpPr>
        <p:sp>
          <p:nvSpPr>
            <p:cNvPr name="Freeform 25" id="25"/>
            <p:cNvSpPr/>
            <p:nvPr/>
          </p:nvSpPr>
          <p:spPr>
            <a:xfrm flipH="false" flipV="false" rot="0">
              <a:off x="0" y="0"/>
              <a:ext cx="937506" cy="812800"/>
            </a:xfrm>
            <a:custGeom>
              <a:avLst/>
              <a:gdLst/>
              <a:ahLst/>
              <a:cxnLst/>
              <a:rect r="r" b="b" t="t" l="l"/>
              <a:pathLst>
                <a:path h="812800" w="937506">
                  <a:moveTo>
                    <a:pt x="468753" y="0"/>
                  </a:moveTo>
                  <a:cubicBezTo>
                    <a:pt x="209868" y="0"/>
                    <a:pt x="0" y="181951"/>
                    <a:pt x="0" y="406400"/>
                  </a:cubicBezTo>
                  <a:cubicBezTo>
                    <a:pt x="0" y="630849"/>
                    <a:pt x="209868" y="812800"/>
                    <a:pt x="468753" y="812800"/>
                  </a:cubicBezTo>
                  <a:cubicBezTo>
                    <a:pt x="727638" y="812800"/>
                    <a:pt x="937506" y="630849"/>
                    <a:pt x="937506" y="406400"/>
                  </a:cubicBezTo>
                  <a:cubicBezTo>
                    <a:pt x="937506" y="181951"/>
                    <a:pt x="727638" y="0"/>
                    <a:pt x="468753" y="0"/>
                  </a:cubicBezTo>
                  <a:close/>
                </a:path>
              </a:pathLst>
            </a:custGeom>
            <a:solidFill>
              <a:srgbClr val="B05510"/>
            </a:solidFill>
          </p:spPr>
        </p:sp>
        <p:sp>
          <p:nvSpPr>
            <p:cNvPr name="TextBox 26" id="26"/>
            <p:cNvSpPr txBox="true"/>
            <p:nvPr/>
          </p:nvSpPr>
          <p:spPr>
            <a:xfrm>
              <a:off x="87891" y="38100"/>
              <a:ext cx="761724"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5884013">
            <a:off x="8101823" y="9287854"/>
            <a:ext cx="453167" cy="45316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5884013">
            <a:off x="1079368" y="1547854"/>
            <a:ext cx="776908" cy="77690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17239839" y="641973"/>
            <a:ext cx="486449" cy="386727"/>
          </a:xfrm>
          <a:custGeom>
            <a:avLst/>
            <a:gdLst/>
            <a:ahLst/>
            <a:cxnLst/>
            <a:rect r="r" b="b" t="t" l="l"/>
            <a:pathLst>
              <a:path h="386727" w="486449">
                <a:moveTo>
                  <a:pt x="0" y="0"/>
                </a:moveTo>
                <a:lnTo>
                  <a:pt x="486449" y="0"/>
                </a:lnTo>
                <a:lnTo>
                  <a:pt x="486449" y="386727"/>
                </a:lnTo>
                <a:lnTo>
                  <a:pt x="0" y="386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40677" y="9227000"/>
            <a:ext cx="7315200" cy="746760"/>
          </a:xfrm>
          <a:custGeom>
            <a:avLst/>
            <a:gdLst/>
            <a:ahLst/>
            <a:cxnLst/>
            <a:rect r="r" b="b" t="t" l="l"/>
            <a:pathLst>
              <a:path h="746760" w="7315200">
                <a:moveTo>
                  <a:pt x="0" y="0"/>
                </a:moveTo>
                <a:lnTo>
                  <a:pt x="7315200" y="0"/>
                </a:lnTo>
                <a:lnTo>
                  <a:pt x="7315200" y="746760"/>
                </a:lnTo>
                <a:lnTo>
                  <a:pt x="0" y="746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917013" y="256703"/>
            <a:ext cx="8587338" cy="858733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alpha val="11765"/>
              </a:srgbClr>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2977767" y="-2598924"/>
            <a:ext cx="6801961" cy="6163477"/>
            <a:chOff x="0" y="0"/>
            <a:chExt cx="896999" cy="812800"/>
          </a:xfrm>
        </p:grpSpPr>
        <p:sp>
          <p:nvSpPr>
            <p:cNvPr name="Freeform 8" id="8"/>
            <p:cNvSpPr/>
            <p:nvPr/>
          </p:nvSpPr>
          <p:spPr>
            <a:xfrm flipH="false" flipV="false" rot="0">
              <a:off x="0" y="0"/>
              <a:ext cx="896999" cy="812800"/>
            </a:xfrm>
            <a:custGeom>
              <a:avLst/>
              <a:gdLst/>
              <a:ahLst/>
              <a:cxnLst/>
              <a:rect r="r" b="b" t="t" l="l"/>
              <a:pathLst>
                <a:path h="812800" w="896999">
                  <a:moveTo>
                    <a:pt x="448500" y="0"/>
                  </a:moveTo>
                  <a:cubicBezTo>
                    <a:pt x="200800" y="0"/>
                    <a:pt x="0" y="181951"/>
                    <a:pt x="0" y="406400"/>
                  </a:cubicBezTo>
                  <a:cubicBezTo>
                    <a:pt x="0" y="630849"/>
                    <a:pt x="200800" y="812800"/>
                    <a:pt x="448500" y="812800"/>
                  </a:cubicBezTo>
                  <a:cubicBezTo>
                    <a:pt x="696199" y="812800"/>
                    <a:pt x="896999" y="630849"/>
                    <a:pt x="896999" y="406400"/>
                  </a:cubicBezTo>
                  <a:cubicBezTo>
                    <a:pt x="896999" y="181951"/>
                    <a:pt x="696199" y="0"/>
                    <a:pt x="448500" y="0"/>
                  </a:cubicBezTo>
                  <a:close/>
                </a:path>
              </a:pathLst>
            </a:custGeom>
            <a:ln w="952500" cap="sq">
              <a:solidFill>
                <a:srgbClr val="B05510"/>
              </a:solidFill>
              <a:prstDash val="solid"/>
              <a:miter/>
            </a:ln>
          </p:spPr>
        </p:sp>
        <p:sp>
          <p:nvSpPr>
            <p:cNvPr name="TextBox 9" id="9"/>
            <p:cNvSpPr txBox="true"/>
            <p:nvPr/>
          </p:nvSpPr>
          <p:spPr>
            <a:xfrm>
              <a:off x="84094" y="38100"/>
              <a:ext cx="728812"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3606043" y="1028700"/>
            <a:ext cx="5561760" cy="556176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551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3120978" y="3184046"/>
            <a:ext cx="12046044" cy="2068512"/>
          </a:xfrm>
          <a:prstGeom prst="rect">
            <a:avLst/>
          </a:prstGeom>
        </p:spPr>
        <p:txBody>
          <a:bodyPr anchor="t" rtlCol="false" tIns="0" lIns="0" bIns="0" rIns="0">
            <a:spAutoFit/>
          </a:bodyPr>
          <a:lstStyle/>
          <a:p>
            <a:pPr algn="ctr">
              <a:lnSpc>
                <a:spcPts val="16902"/>
              </a:lnSpc>
              <a:spcBef>
                <a:spcPct val="0"/>
              </a:spcBef>
            </a:pPr>
            <a:r>
              <a:rPr lang="en-US" b="true" sz="12072" spc="-241">
                <a:solidFill>
                  <a:srgbClr val="B05510"/>
                </a:solidFill>
                <a:latin typeface="Gordita Bold"/>
                <a:ea typeface="Gordita Bold"/>
                <a:cs typeface="Gordita Bold"/>
                <a:sym typeface="Gordita Bold"/>
              </a:rPr>
              <a:t>QUE</a:t>
            </a:r>
            <a:r>
              <a:rPr lang="en-US" b="true" sz="12072" spc="-241">
                <a:solidFill>
                  <a:srgbClr val="B05510"/>
                </a:solidFill>
                <a:latin typeface="Gordita Bold"/>
                <a:ea typeface="Gordita Bold"/>
                <a:cs typeface="Gordita Bold"/>
                <a:sym typeface="Gordita Bold"/>
              </a:rPr>
              <a:t>STIONS?</a:t>
            </a:r>
          </a:p>
        </p:txBody>
      </p:sp>
      <p:grpSp>
        <p:nvGrpSpPr>
          <p:cNvPr name="Group 14" id="14"/>
          <p:cNvGrpSpPr/>
          <p:nvPr/>
        </p:nvGrpSpPr>
        <p:grpSpPr>
          <a:xfrm rot="0">
            <a:off x="3631898" y="7317602"/>
            <a:ext cx="4689517" cy="588286"/>
            <a:chOff x="0" y="0"/>
            <a:chExt cx="796430" cy="99910"/>
          </a:xfrm>
        </p:grpSpPr>
        <p:sp>
          <p:nvSpPr>
            <p:cNvPr name="Freeform 15" id="15"/>
            <p:cNvSpPr/>
            <p:nvPr/>
          </p:nvSpPr>
          <p:spPr>
            <a:xfrm flipH="false" flipV="false" rot="0">
              <a:off x="0" y="0"/>
              <a:ext cx="796430" cy="99910"/>
            </a:xfrm>
            <a:custGeom>
              <a:avLst/>
              <a:gdLst/>
              <a:ahLst/>
              <a:cxnLst/>
              <a:rect r="r" b="b" t="t" l="l"/>
              <a:pathLst>
                <a:path h="99910" w="79643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9A379"/>
            </a:solidFill>
          </p:spPr>
        </p:sp>
        <p:sp>
          <p:nvSpPr>
            <p:cNvPr name="TextBox 16" id="16"/>
            <p:cNvSpPr txBox="true"/>
            <p:nvPr/>
          </p:nvSpPr>
          <p:spPr>
            <a:xfrm>
              <a:off x="0" y="-38100"/>
              <a:ext cx="796430" cy="13801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966585" y="7317602"/>
            <a:ext cx="4689517" cy="588286"/>
            <a:chOff x="0" y="0"/>
            <a:chExt cx="796430" cy="99910"/>
          </a:xfrm>
        </p:grpSpPr>
        <p:sp>
          <p:nvSpPr>
            <p:cNvPr name="Freeform 18" id="18"/>
            <p:cNvSpPr/>
            <p:nvPr/>
          </p:nvSpPr>
          <p:spPr>
            <a:xfrm flipH="false" flipV="false" rot="0">
              <a:off x="0" y="0"/>
              <a:ext cx="796430" cy="99910"/>
            </a:xfrm>
            <a:custGeom>
              <a:avLst/>
              <a:gdLst/>
              <a:ahLst/>
              <a:cxnLst/>
              <a:rect r="r" b="b" t="t" l="l"/>
              <a:pathLst>
                <a:path h="99910" w="796430">
                  <a:moveTo>
                    <a:pt x="19346" y="0"/>
                  </a:moveTo>
                  <a:lnTo>
                    <a:pt x="777083" y="0"/>
                  </a:lnTo>
                  <a:cubicBezTo>
                    <a:pt x="787768" y="0"/>
                    <a:pt x="796430" y="8662"/>
                    <a:pt x="796430" y="19346"/>
                  </a:cubicBezTo>
                  <a:lnTo>
                    <a:pt x="796430" y="80563"/>
                  </a:lnTo>
                  <a:cubicBezTo>
                    <a:pt x="796430" y="91248"/>
                    <a:pt x="787768" y="99910"/>
                    <a:pt x="777083" y="99910"/>
                  </a:cubicBezTo>
                  <a:lnTo>
                    <a:pt x="19346" y="99910"/>
                  </a:lnTo>
                  <a:cubicBezTo>
                    <a:pt x="14215" y="99910"/>
                    <a:pt x="9295" y="97871"/>
                    <a:pt x="5666" y="94243"/>
                  </a:cubicBezTo>
                  <a:cubicBezTo>
                    <a:pt x="2038" y="90615"/>
                    <a:pt x="0" y="85694"/>
                    <a:pt x="0" y="80563"/>
                  </a:cubicBezTo>
                  <a:lnTo>
                    <a:pt x="0" y="19346"/>
                  </a:lnTo>
                  <a:cubicBezTo>
                    <a:pt x="0" y="14215"/>
                    <a:pt x="2038" y="9295"/>
                    <a:pt x="5666" y="5666"/>
                  </a:cubicBezTo>
                  <a:cubicBezTo>
                    <a:pt x="9295" y="2038"/>
                    <a:pt x="14215" y="0"/>
                    <a:pt x="19346" y="0"/>
                  </a:cubicBezTo>
                  <a:close/>
                </a:path>
              </a:pathLst>
            </a:custGeom>
            <a:solidFill>
              <a:srgbClr val="EEB243"/>
            </a:solidFill>
          </p:spPr>
        </p:sp>
        <p:sp>
          <p:nvSpPr>
            <p:cNvPr name="TextBox 19" id="19"/>
            <p:cNvSpPr txBox="true"/>
            <p:nvPr/>
          </p:nvSpPr>
          <p:spPr>
            <a:xfrm>
              <a:off x="0" y="-38100"/>
              <a:ext cx="796430" cy="13801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060817" y="5667280"/>
            <a:ext cx="12166366" cy="827930"/>
          </a:xfrm>
          <a:prstGeom prst="rect">
            <a:avLst/>
          </a:prstGeom>
        </p:spPr>
        <p:txBody>
          <a:bodyPr anchor="t" rtlCol="false" tIns="0" lIns="0" bIns="0" rIns="0">
            <a:spAutoFit/>
          </a:bodyPr>
          <a:lstStyle/>
          <a:p>
            <a:pPr algn="ctr">
              <a:lnSpc>
                <a:spcPts val="3339"/>
              </a:lnSpc>
              <a:spcBef>
                <a:spcPct val="0"/>
              </a:spcBef>
            </a:pPr>
            <a:r>
              <a:rPr lang="en-US" sz="2385" spc="217">
                <a:solidFill>
                  <a:srgbClr val="B05510"/>
                </a:solidFill>
                <a:latin typeface="Pier Sans Light"/>
                <a:ea typeface="Pier Sans Light"/>
                <a:cs typeface="Pier Sans Light"/>
                <a:sym typeface="Pier Sans Light"/>
              </a:rPr>
              <a:t>Tha</a:t>
            </a:r>
            <a:r>
              <a:rPr lang="en-US" sz="2385" spc="217">
                <a:solidFill>
                  <a:srgbClr val="B05510"/>
                </a:solidFill>
                <a:latin typeface="Pier Sans Light"/>
                <a:ea typeface="Pier Sans Light"/>
                <a:cs typeface="Pier Sans Light"/>
                <a:sym typeface="Pier Sans Light"/>
              </a:rPr>
              <a:t>nk you for your active participation. Let's discuss optimizing your logistics network.</a:t>
            </a:r>
          </a:p>
        </p:txBody>
      </p:sp>
      <p:sp>
        <p:nvSpPr>
          <p:cNvPr name="TextBox 21" id="21"/>
          <p:cNvSpPr txBox="true"/>
          <p:nvPr/>
        </p:nvSpPr>
        <p:spPr>
          <a:xfrm rot="0">
            <a:off x="3734417" y="7381372"/>
            <a:ext cx="4484479" cy="414703"/>
          </a:xfrm>
          <a:prstGeom prst="rect">
            <a:avLst/>
          </a:prstGeom>
        </p:spPr>
        <p:txBody>
          <a:bodyPr anchor="t" rtlCol="false" tIns="0" lIns="0" bIns="0" rIns="0">
            <a:spAutoFit/>
          </a:bodyPr>
          <a:lstStyle/>
          <a:p>
            <a:pPr algn="ctr">
              <a:lnSpc>
                <a:spcPts val="3392"/>
              </a:lnSpc>
              <a:spcBef>
                <a:spcPct val="0"/>
              </a:spcBef>
            </a:pPr>
            <a:r>
              <a:rPr lang="en-US" sz="2423" spc="220">
                <a:solidFill>
                  <a:srgbClr val="B05510"/>
                </a:solidFill>
                <a:latin typeface="Pier Sans Light"/>
                <a:ea typeface="Pier Sans Light"/>
                <a:cs typeface="Pier Sans Light"/>
                <a:sym typeface="Pier Sans Light"/>
              </a:rPr>
              <a:t>h</a:t>
            </a:r>
            <a:r>
              <a:rPr lang="en-US" sz="2423" spc="220">
                <a:solidFill>
                  <a:srgbClr val="B05510"/>
                </a:solidFill>
                <a:latin typeface="Pier Sans Light"/>
                <a:ea typeface="Pier Sans Light"/>
                <a:cs typeface="Pier Sans Light"/>
                <a:sym typeface="Pier Sans Light"/>
              </a:rPr>
              <a:t>ello@reallygreatsite.com</a:t>
            </a:r>
          </a:p>
        </p:txBody>
      </p:sp>
      <p:sp>
        <p:nvSpPr>
          <p:cNvPr name="TextBox 22" id="22"/>
          <p:cNvSpPr txBox="true"/>
          <p:nvPr/>
        </p:nvSpPr>
        <p:spPr>
          <a:xfrm rot="0">
            <a:off x="10216739" y="7381372"/>
            <a:ext cx="4189209" cy="414703"/>
          </a:xfrm>
          <a:prstGeom prst="rect">
            <a:avLst/>
          </a:prstGeom>
        </p:spPr>
        <p:txBody>
          <a:bodyPr anchor="t" rtlCol="false" tIns="0" lIns="0" bIns="0" rIns="0">
            <a:spAutoFit/>
          </a:bodyPr>
          <a:lstStyle/>
          <a:p>
            <a:pPr algn="ctr">
              <a:lnSpc>
                <a:spcPts val="3392"/>
              </a:lnSpc>
              <a:spcBef>
                <a:spcPct val="0"/>
              </a:spcBef>
            </a:pPr>
            <a:r>
              <a:rPr lang="en-US" sz="2423" spc="220">
                <a:solidFill>
                  <a:srgbClr val="B05510"/>
                </a:solidFill>
                <a:latin typeface="Pier Sans Light"/>
                <a:ea typeface="Pier Sans Light"/>
                <a:cs typeface="Pier Sans Light"/>
                <a:sym typeface="Pier Sans Light"/>
              </a:rPr>
              <a:t>www.r</a:t>
            </a:r>
            <a:r>
              <a:rPr lang="en-US" sz="2423" spc="220">
                <a:solidFill>
                  <a:srgbClr val="B05510"/>
                </a:solidFill>
                <a:latin typeface="Pier Sans Light"/>
                <a:ea typeface="Pier Sans Light"/>
                <a:cs typeface="Pier Sans Light"/>
                <a:sym typeface="Pier Sans Light"/>
              </a:rPr>
              <a:t>eallygreatsite.com</a:t>
            </a:r>
          </a:p>
        </p:txBody>
      </p:sp>
      <p:grpSp>
        <p:nvGrpSpPr>
          <p:cNvPr name="Group 23" id="23"/>
          <p:cNvGrpSpPr/>
          <p:nvPr/>
        </p:nvGrpSpPr>
        <p:grpSpPr>
          <a:xfrm rot="5884013">
            <a:off x="14744462" y="8873595"/>
            <a:ext cx="453167" cy="45316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5884013">
            <a:off x="4806166" y="1057473"/>
            <a:ext cx="776908" cy="77690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B243"/>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DAHSO21TfQM</dc:identifier>
  <dcterms:modified xsi:type="dcterms:W3CDTF">2011-08-01T06:04:30Z</dcterms:modified>
  <cp:revision>1</cp:revision>
  <dc:title>Orange Gray and White Modern Logistics Presentation</dc:title>
</cp:coreProperties>
</file>