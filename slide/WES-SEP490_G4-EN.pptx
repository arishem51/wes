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1000" r:id="rId2"/>
    <p:sldId id="1001" r:id="rId3"/>
    <p:sldId id="1002" r:id="rId4"/>
    <p:sldId id="1003" r:id="rId5"/>
    <p:sldId id="1004" r:id="rId6"/>
    <p:sldId id="1005" r:id="rId7"/>
    <p:sldId id="1006" r:id="rId8"/>
    <p:sldId id="1007" r:id="rId9"/>
    <p:sldId id="1008" r:id="rId10"/>
    <p:sldId id="1009" r:id="rId11"/>
    <p:sldId id="1010" r:id="rId12"/>
    <p:sldId id="1011" r:id="rId13"/>
    <p:sldId id="1012" r:id="rId14"/>
    <p:sldId id="1013" r:id="rId15"/>
    <p:sldId id="1014" r:id="rId16"/>
    <p:sldId id="1015" r:id="rId17"/>
    <p:sldId id="1016" r:id="rId18"/>
    <p:sldId id="1017" r:id="rId19"/>
    <p:sldId id="1018" r:id="rId20"/>
    <p:sldId id="1019" r:id="rId21"/>
  </p:sldIdLst>
  <p:sldSz cx="18288000" cy="10287000"/>
  <p:notesSz cx="6858000" cy="9144000"/>
  <p:embeddedFontLst>
    <p:embeddedFont>
      <p:font typeface="Roboto" panose="02000000000000000000" pitchFamily="2"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124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Roboto"/>
          <a:ea typeface="Roboto"/>
          <a:cs typeface="Roboto"/>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Roboto"/>
          <a:ea typeface="Roboto"/>
          <a:cs typeface="Roboto"/>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Roboto"/>
          <a:ea typeface="Roboto"/>
          <a:cs typeface="Roboto"/>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Roboto"/>
          <a:ea typeface="Roboto"/>
          <a:cs typeface="Roboto"/>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Roboto"/>
          <a:ea typeface="Roboto"/>
          <a:cs typeface="Roboto"/>
        </a:defRPr>
      </a:lvl9pPr>
    </p:bodyStyle>
    <p:otherStyle>
      <a:defPPr>
        <a:defRPr lang="en-US"/>
      </a:defPPr>
      <a:lvl1pPr marL="0" algn="l" defTabSz="914400" rtl="0" eaLnBrk="1" latinLnBrk="0" hangingPunct="1">
        <a:defRPr sz="1800" kern="1200">
          <a:solidFill>
            <a:schemeClr val="tx1"/>
          </a:solidFill>
          <a:latin typeface="Roboto"/>
          <a:ea typeface="Roboto"/>
          <a:cs typeface="Roboto"/>
        </a:defRPr>
      </a:lvl1pPr>
      <a:lvl2pPr marL="457200" algn="l" defTabSz="914400" rtl="0" eaLnBrk="1" latinLnBrk="0" hangingPunct="1">
        <a:defRPr sz="1800" kern="1200">
          <a:solidFill>
            <a:schemeClr val="tx1"/>
          </a:solidFill>
          <a:latin typeface="Roboto"/>
          <a:ea typeface="Roboto"/>
          <a:cs typeface="Roboto"/>
        </a:defRPr>
      </a:lvl2pPr>
      <a:lvl3pPr marL="914400" algn="l" defTabSz="914400" rtl="0" eaLnBrk="1" latinLnBrk="0" hangingPunct="1">
        <a:defRPr sz="1800" kern="1200">
          <a:solidFill>
            <a:schemeClr val="tx1"/>
          </a:solidFill>
          <a:latin typeface="Roboto"/>
          <a:ea typeface="Roboto"/>
          <a:cs typeface="Roboto"/>
        </a:defRPr>
      </a:lvl3pPr>
      <a:lvl4pPr marL="1371600" algn="l" defTabSz="914400" rtl="0" eaLnBrk="1" latinLnBrk="0" hangingPunct="1">
        <a:defRPr sz="1800" kern="1200">
          <a:solidFill>
            <a:schemeClr val="tx1"/>
          </a:solidFill>
          <a:latin typeface="Roboto"/>
          <a:ea typeface="Roboto"/>
          <a:cs typeface="Roboto"/>
        </a:defRPr>
      </a:lvl4pPr>
      <a:lvl5pPr marL="1828800" algn="l" defTabSz="914400" rtl="0" eaLnBrk="1" latinLnBrk="0" hangingPunct="1">
        <a:defRPr sz="1800" kern="1200">
          <a:solidFill>
            <a:schemeClr val="tx1"/>
          </a:solidFill>
          <a:latin typeface="Roboto"/>
          <a:ea typeface="Roboto"/>
          <a:cs typeface="Roboto"/>
        </a:defRPr>
      </a:lvl5pPr>
      <a:lvl6pPr marL="2286000" algn="l" defTabSz="914400" rtl="0" eaLnBrk="1" latinLnBrk="0" hangingPunct="1">
        <a:defRPr sz="1800" kern="1200">
          <a:solidFill>
            <a:schemeClr val="tx1"/>
          </a:solidFill>
          <a:latin typeface="Roboto"/>
          <a:ea typeface="Roboto"/>
          <a:cs typeface="Roboto"/>
        </a:defRPr>
      </a:lvl6pPr>
      <a:lvl7pPr marL="2743200" algn="l" defTabSz="914400" rtl="0" eaLnBrk="1" latinLnBrk="0" hangingPunct="1">
        <a:defRPr sz="1800" kern="1200">
          <a:solidFill>
            <a:schemeClr val="tx1"/>
          </a:solidFill>
          <a:latin typeface="Roboto"/>
          <a:ea typeface="Roboto"/>
          <a:cs typeface="Roboto"/>
        </a:defRPr>
      </a:lvl7pPr>
      <a:lvl8pPr marL="3200400" algn="l" defTabSz="914400" rtl="0" eaLnBrk="1" latinLnBrk="0" hangingPunct="1">
        <a:defRPr sz="1800" kern="1200">
          <a:solidFill>
            <a:schemeClr val="tx1"/>
          </a:solidFill>
          <a:latin typeface="Roboto"/>
          <a:ea typeface="Roboto"/>
          <a:cs typeface="Roboto"/>
        </a:defRPr>
      </a:lvl8pPr>
      <a:lvl9pPr marL="3657600" algn="l" defTabSz="914400" rtl="0" eaLnBrk="1" latinLnBrk="0" hangingPunct="1">
        <a:defRPr sz="1800" kern="1200">
          <a:solidFill>
            <a:schemeClr val="tx1"/>
          </a:solidFill>
          <a:latin typeface="Roboto"/>
          <a:ea typeface="Roboto"/>
          <a:cs typeface="Roboto"/>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hyperlink" Target="https://aubot.vn/" TargetMode="External"/><Relationship Id="rId3" Type="http://schemas.openxmlformats.org/officeDocument/2006/relationships/image" Target="../media/image8.svg"/><Relationship Id="rId7" Type="http://schemas.openxmlformats.org/officeDocument/2006/relationships/hyperlink" Target="https://e.vnexpress.net/news/business/first-samsung-electronics-factory-to-implement-phenikaa-x-s-amr-pallet-mover-robot-solution-4770812.html"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tuoitre.vn/doanh-nghiep-viet-nam-dau-tien-dung-robot-chia-hang-giam-60-chi-phi-nhan-cong-20240121115633405.htm"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sv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2.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drive.google.com/file/d/1Vq91ItVYS-wmGyFaAN_T9E4rswi66vu6/view"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TextBox 2"/>
          <p:cNvSpPr txBox="1"/>
          <p:nvPr/>
        </p:nvSpPr>
        <p:spPr>
          <a:xfrm>
            <a:off x="605317" y="3482665"/>
            <a:ext cx="9537898" cy="3658869"/>
          </a:xfrm>
          <a:prstGeom prst="rect">
            <a:avLst/>
          </a:prstGeom>
        </p:spPr>
        <p:txBody>
          <a:bodyPr lIns="0" tIns="0" rIns="0" bIns="0" rtlCol="0" anchor="t">
            <a:spAutoFit/>
          </a:bodyPr>
          <a:lstStyle/>
          <a:p>
            <a:pPr algn="l">
              <a:lnSpc>
                <a:spcPts val="7280"/>
              </a:lnSpc>
              <a:spcBef>
                <a:spcPct val="0"/>
              </a:spcBef>
            </a:pPr>
            <a:r>
              <a:rPr lang="en-US" sz="5200" b="1" spc="-104">
                <a:solidFill>
                  <a:srgbClr val="B05510"/>
                </a:solidFill>
                <a:latin typeface="Roboto"/>
                <a:ea typeface="Roboto"/>
                <a:cs typeface="Roboto"/>
                <a:sym typeface="Gordita Bold"/>
              </a:rPr>
              <a:t>THE SMART WAREHOUSE EXECUTION SYSTEM FOR AGV COORDINATION (WES)</a:t>
            </a:r>
          </a:p>
        </p:txBody>
      </p:sp>
      <p:grpSp>
        <p:nvGrpSpPr>
          <p:cNvPr id="3" name="Group 3"/>
          <p:cNvGrpSpPr/>
          <p:nvPr/>
        </p:nvGrpSpPr>
        <p:grpSpPr>
          <a:xfrm>
            <a:off x="-2592532" y="773931"/>
            <a:ext cx="7793119" cy="779311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298606" y="0"/>
            <a:ext cx="5561760" cy="55617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4193570" y="6696204"/>
            <a:ext cx="3865184" cy="2562096"/>
            <a:chOff x="0" y="0"/>
            <a:chExt cx="1343602" cy="890627"/>
          </a:xfrm>
        </p:grpSpPr>
        <p:sp>
          <p:nvSpPr>
            <p:cNvPr id="10" name="Freeform 10"/>
            <p:cNvSpPr/>
            <p:nvPr/>
          </p:nvSpPr>
          <p:spPr>
            <a:xfrm>
              <a:off x="0" y="0"/>
              <a:ext cx="1343602" cy="890627"/>
            </a:xfrm>
            <a:custGeom>
              <a:avLst/>
              <a:gdLst/>
              <a:ahLst/>
              <a:cxnLst/>
              <a:rect l="l" t="t" r="r" b="b"/>
              <a:pathLst>
                <a:path w="1343602" h="890627">
                  <a:moveTo>
                    <a:pt x="671801" y="0"/>
                  </a:moveTo>
                  <a:cubicBezTo>
                    <a:pt x="300776" y="0"/>
                    <a:pt x="0" y="199374"/>
                    <a:pt x="0" y="445313"/>
                  </a:cubicBezTo>
                  <a:cubicBezTo>
                    <a:pt x="0" y="691253"/>
                    <a:pt x="300776" y="890627"/>
                    <a:pt x="671801" y="890627"/>
                  </a:cubicBezTo>
                  <a:cubicBezTo>
                    <a:pt x="1042826" y="890627"/>
                    <a:pt x="1343602" y="691253"/>
                    <a:pt x="1343602" y="445313"/>
                  </a:cubicBezTo>
                  <a:cubicBezTo>
                    <a:pt x="1343602" y="199374"/>
                    <a:pt x="1042826" y="0"/>
                    <a:pt x="671801" y="0"/>
                  </a:cubicBezTo>
                  <a:close/>
                </a:path>
              </a:pathLst>
            </a:custGeom>
            <a:solidFill>
              <a:srgbClr val="B05510">
                <a:alpha val="35686"/>
              </a:srgbClr>
            </a:solidFill>
          </p:spPr>
        </p:sp>
        <p:sp>
          <p:nvSpPr>
            <p:cNvPr id="11" name="TextBox 11"/>
            <p:cNvSpPr txBox="1"/>
            <p:nvPr/>
          </p:nvSpPr>
          <p:spPr>
            <a:xfrm>
              <a:off x="125963" y="45396"/>
              <a:ext cx="1091677" cy="761734"/>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1365720" y="1532977"/>
            <a:ext cx="677868" cy="67786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826927" y="-2356557"/>
            <a:ext cx="6302891" cy="5711253"/>
            <a:chOff x="0" y="0"/>
            <a:chExt cx="896999" cy="812800"/>
          </a:xfrm>
        </p:grpSpPr>
        <p:sp>
          <p:nvSpPr>
            <p:cNvPr id="16" name="Freeform 1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17" name="TextBox 1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9376640" y="1871911"/>
            <a:ext cx="8349648" cy="7024142"/>
          </a:xfrm>
          <a:custGeom>
            <a:avLst/>
            <a:gdLst/>
            <a:ahLst/>
            <a:cxnLst/>
            <a:rect l="l" t="t" r="r" b="b"/>
            <a:pathLst>
              <a:path w="8349648" h="7024142">
                <a:moveTo>
                  <a:pt x="0" y="0"/>
                </a:moveTo>
                <a:lnTo>
                  <a:pt x="8349648" y="0"/>
                </a:lnTo>
                <a:lnTo>
                  <a:pt x="8349648" y="7024142"/>
                </a:lnTo>
                <a:lnTo>
                  <a:pt x="0" y="7024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605317" y="7273405"/>
            <a:ext cx="2398969" cy="485561"/>
            <a:chOff x="0" y="0"/>
            <a:chExt cx="895826" cy="181319"/>
          </a:xfrm>
        </p:grpSpPr>
        <p:sp>
          <p:nvSpPr>
            <p:cNvPr id="20" name="Freeform 20"/>
            <p:cNvSpPr/>
            <p:nvPr/>
          </p:nvSpPr>
          <p:spPr>
            <a:xfrm>
              <a:off x="0" y="0"/>
              <a:ext cx="895826" cy="181319"/>
            </a:xfrm>
            <a:custGeom>
              <a:avLst/>
              <a:gdLst/>
              <a:ahLst/>
              <a:cxnLst/>
              <a:rect l="l" t="t" r="r" b="b"/>
              <a:pathLst>
                <a:path w="895826" h="181319">
                  <a:moveTo>
                    <a:pt x="37819" y="0"/>
                  </a:moveTo>
                  <a:lnTo>
                    <a:pt x="858008" y="0"/>
                  </a:lnTo>
                  <a:cubicBezTo>
                    <a:pt x="878894" y="0"/>
                    <a:pt x="895826" y="16932"/>
                    <a:pt x="895826" y="37819"/>
                  </a:cubicBezTo>
                  <a:lnTo>
                    <a:pt x="895826" y="143500"/>
                  </a:lnTo>
                  <a:cubicBezTo>
                    <a:pt x="895826" y="153531"/>
                    <a:pt x="891842" y="163150"/>
                    <a:pt x="884749" y="170242"/>
                  </a:cubicBezTo>
                  <a:cubicBezTo>
                    <a:pt x="877657" y="177335"/>
                    <a:pt x="868038" y="181319"/>
                    <a:pt x="858008" y="181319"/>
                  </a:cubicBezTo>
                  <a:lnTo>
                    <a:pt x="37819" y="181319"/>
                  </a:lnTo>
                  <a:cubicBezTo>
                    <a:pt x="27788" y="181319"/>
                    <a:pt x="18169" y="177335"/>
                    <a:pt x="11077" y="170242"/>
                  </a:cubicBezTo>
                  <a:cubicBezTo>
                    <a:pt x="3984" y="163150"/>
                    <a:pt x="0" y="153531"/>
                    <a:pt x="0" y="143500"/>
                  </a:cubicBezTo>
                  <a:lnTo>
                    <a:pt x="0" y="37819"/>
                  </a:lnTo>
                  <a:cubicBezTo>
                    <a:pt x="0" y="27788"/>
                    <a:pt x="3984" y="18169"/>
                    <a:pt x="11077" y="11077"/>
                  </a:cubicBezTo>
                  <a:cubicBezTo>
                    <a:pt x="18169" y="3984"/>
                    <a:pt x="27788" y="0"/>
                    <a:pt x="37819" y="0"/>
                  </a:cubicBezTo>
                  <a:close/>
                </a:path>
              </a:pathLst>
            </a:custGeom>
            <a:solidFill>
              <a:srgbClr val="E9A379"/>
            </a:solidFill>
          </p:spPr>
        </p:sp>
        <p:sp>
          <p:nvSpPr>
            <p:cNvPr id="21" name="TextBox 21"/>
            <p:cNvSpPr txBox="1"/>
            <p:nvPr/>
          </p:nvSpPr>
          <p:spPr>
            <a:xfrm>
              <a:off x="0" y="-38100"/>
              <a:ext cx="895826" cy="219419"/>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133722" y="7255836"/>
            <a:ext cx="3430516" cy="520700"/>
            <a:chOff x="0" y="0"/>
            <a:chExt cx="1331041" cy="202032"/>
          </a:xfrm>
        </p:grpSpPr>
        <p:sp>
          <p:nvSpPr>
            <p:cNvPr id="23" name="Freeform 23"/>
            <p:cNvSpPr/>
            <p:nvPr/>
          </p:nvSpPr>
          <p:spPr>
            <a:xfrm>
              <a:off x="0" y="0"/>
              <a:ext cx="1331041" cy="202032"/>
            </a:xfrm>
            <a:custGeom>
              <a:avLst/>
              <a:gdLst/>
              <a:ahLst/>
              <a:cxnLst/>
              <a:rect l="l" t="t" r="r" b="b"/>
              <a:pathLst>
                <a:path w="1331041" h="202032">
                  <a:moveTo>
                    <a:pt x="26447" y="0"/>
                  </a:moveTo>
                  <a:lnTo>
                    <a:pt x="1304594" y="0"/>
                  </a:lnTo>
                  <a:cubicBezTo>
                    <a:pt x="1311608" y="0"/>
                    <a:pt x="1318335" y="2786"/>
                    <a:pt x="1323295" y="7746"/>
                  </a:cubicBezTo>
                  <a:cubicBezTo>
                    <a:pt x="1328254" y="12706"/>
                    <a:pt x="1331041" y="19433"/>
                    <a:pt x="1331041" y="26447"/>
                  </a:cubicBezTo>
                  <a:lnTo>
                    <a:pt x="1331041" y="175585"/>
                  </a:lnTo>
                  <a:cubicBezTo>
                    <a:pt x="1331041" y="190191"/>
                    <a:pt x="1319200" y="202032"/>
                    <a:pt x="1304594" y="202032"/>
                  </a:cubicBezTo>
                  <a:lnTo>
                    <a:pt x="26447" y="202032"/>
                  </a:lnTo>
                  <a:cubicBezTo>
                    <a:pt x="11841" y="202032"/>
                    <a:pt x="0" y="190191"/>
                    <a:pt x="0" y="175585"/>
                  </a:cubicBezTo>
                  <a:lnTo>
                    <a:pt x="0" y="26447"/>
                  </a:lnTo>
                  <a:cubicBezTo>
                    <a:pt x="0" y="11841"/>
                    <a:pt x="11841" y="0"/>
                    <a:pt x="26447" y="0"/>
                  </a:cubicBezTo>
                  <a:close/>
                </a:path>
              </a:pathLst>
            </a:custGeom>
            <a:solidFill>
              <a:srgbClr val="EEB243"/>
            </a:solidFill>
          </p:spPr>
        </p:sp>
        <p:sp>
          <p:nvSpPr>
            <p:cNvPr id="24" name="TextBox 24"/>
            <p:cNvSpPr txBox="1"/>
            <p:nvPr/>
          </p:nvSpPr>
          <p:spPr>
            <a:xfrm>
              <a:off x="0" y="-38100"/>
              <a:ext cx="1331041" cy="240132"/>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2839236"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TextBox 27"/>
          <p:cNvSpPr txBox="1"/>
          <p:nvPr/>
        </p:nvSpPr>
        <p:spPr>
          <a:xfrm>
            <a:off x="3310945" y="7312984"/>
            <a:ext cx="2872523" cy="34925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Lecturer: TamNT122</a:t>
            </a:r>
          </a:p>
        </p:txBody>
      </p:sp>
      <p:sp>
        <p:nvSpPr>
          <p:cNvPr id="28" name="TextBox 28"/>
          <p:cNvSpPr txBox="1"/>
          <p:nvPr/>
        </p:nvSpPr>
        <p:spPr>
          <a:xfrm>
            <a:off x="818364" y="7317748"/>
            <a:ext cx="1807811" cy="34925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SEP490_G4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2617123" y="835337"/>
            <a:ext cx="7291646" cy="72916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826927" y="-2356557"/>
            <a:ext cx="7416842" cy="672064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93968" y="1275404"/>
            <a:ext cx="7963993" cy="8052946"/>
            <a:chOff x="0" y="0"/>
            <a:chExt cx="1233831" cy="1247612"/>
          </a:xfrm>
        </p:grpSpPr>
        <p:sp>
          <p:nvSpPr>
            <p:cNvPr id="10" name="Freeform 10"/>
            <p:cNvSpPr/>
            <p:nvPr/>
          </p:nvSpPr>
          <p:spPr>
            <a:xfrm>
              <a:off x="0" y="0"/>
              <a:ext cx="1233831" cy="1247612"/>
            </a:xfrm>
            <a:custGeom>
              <a:avLst/>
              <a:gdLst/>
              <a:ahLst/>
              <a:cxnLst/>
              <a:rect l="l" t="t" r="r" b="b"/>
              <a:pathLst>
                <a:path w="1233831" h="1247612">
                  <a:moveTo>
                    <a:pt x="0" y="0"/>
                  </a:moveTo>
                  <a:lnTo>
                    <a:pt x="1233831" y="0"/>
                  </a:lnTo>
                  <a:lnTo>
                    <a:pt x="1233831" y="1247612"/>
                  </a:lnTo>
                  <a:lnTo>
                    <a:pt x="0" y="1247612"/>
                  </a:lnTo>
                  <a:close/>
                </a:path>
              </a:pathLst>
            </a:custGeom>
            <a:blipFill>
              <a:blip r:embed="rId4"/>
              <a:stretch>
                <a:fillRect l="-39881" r="-39881"/>
              </a:stretch>
            </a:blipFill>
          </p:spPr>
        </p:sp>
      </p:grpSp>
      <p:sp>
        <p:nvSpPr>
          <p:cNvPr id="11" name="Freeform 11"/>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6619038" y="4681647"/>
            <a:ext cx="4277180" cy="427718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8950109" y="1039035"/>
            <a:ext cx="7402229"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AGV &amp; WAREHOUSE AUTOMATION</a:t>
            </a:r>
          </a:p>
        </p:txBody>
      </p:sp>
      <p:sp>
        <p:nvSpPr>
          <p:cNvPr id="19" name="TextBox 19"/>
          <p:cNvSpPr txBox="1"/>
          <p:nvPr/>
        </p:nvSpPr>
        <p:spPr>
          <a:xfrm>
            <a:off x="9683453" y="3865136"/>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Vehicles that follow a QR grid</a:t>
            </a:r>
          </a:p>
        </p:txBody>
      </p:sp>
      <p:sp>
        <p:nvSpPr>
          <p:cNvPr id="20" name="TextBox 20"/>
          <p:cNvSpPr txBox="1"/>
          <p:nvPr/>
        </p:nvSpPr>
        <p:spPr>
          <a:xfrm>
            <a:off x="9683453" y="5718278"/>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Replacing manual handling</a:t>
            </a:r>
          </a:p>
        </p:txBody>
      </p:sp>
      <p:sp>
        <p:nvSpPr>
          <p:cNvPr id="21" name="TextBox 21"/>
          <p:cNvSpPr txBox="1"/>
          <p:nvPr/>
        </p:nvSpPr>
        <p:spPr>
          <a:xfrm>
            <a:off x="9683453" y="7572651"/>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A new problem appears</a:t>
            </a:r>
          </a:p>
        </p:txBody>
      </p:sp>
      <p:sp>
        <p:nvSpPr>
          <p:cNvPr id="22" name="TextBox 22"/>
          <p:cNvSpPr txBox="1"/>
          <p:nvPr/>
        </p:nvSpPr>
        <p:spPr>
          <a:xfrm>
            <a:off x="9704895" y="4465235"/>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AGVs move along a grid of QR codes stuck to the warehouse floor. Each code is a point on the map; the vehicle reads the code beneath itself to know where it is.</a:t>
            </a:r>
          </a:p>
        </p:txBody>
      </p:sp>
      <p:sp>
        <p:nvSpPr>
          <p:cNvPr id="23" name="TextBox 23"/>
          <p:cNvSpPr txBox="1"/>
          <p:nvPr/>
        </p:nvSpPr>
        <p:spPr>
          <a:xfrm>
            <a:off x="9704895" y="6318378"/>
            <a:ext cx="6647443"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Pushing carts, dragging pallets, moving loads between areas — work people used to do by hand.</a:t>
            </a:r>
          </a:p>
        </p:txBody>
      </p:sp>
      <p:sp>
        <p:nvSpPr>
          <p:cNvPr id="24" name="TextBox 24"/>
          <p:cNvSpPr txBox="1"/>
          <p:nvPr/>
        </p:nvSpPr>
        <p:spPr>
          <a:xfrm>
            <a:off x="9704895" y="8172751"/>
            <a:ext cx="7208472" cy="1054249"/>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Decisions that used to live in an operator’s head now need software to make them: what runs first, which vehicle takes it, which way it goes.</a:t>
            </a:r>
          </a:p>
        </p:txBody>
      </p:sp>
      <p:grpSp>
        <p:nvGrpSpPr>
          <p:cNvPr id="25" name="Group 25"/>
          <p:cNvGrpSpPr/>
          <p:nvPr/>
        </p:nvGrpSpPr>
        <p:grpSpPr>
          <a:xfrm>
            <a:off x="16352338" y="2454341"/>
            <a:ext cx="453167" cy="45316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1" name="Num 1"/>
          <p:cNvSpPr/>
          <p:nvPr/>
        </p:nvSpPr>
        <p:spPr>
          <a:xfrm>
            <a:off x="8953500" y="39370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2" name="Num 2"/>
          <p:cNvSpPr/>
          <p:nvPr/>
        </p:nvSpPr>
        <p:spPr>
          <a:xfrm>
            <a:off x="8953500" y="57912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3" name="Num 3"/>
          <p:cNvSpPr/>
          <p:nvPr/>
        </p:nvSpPr>
        <p:spPr>
          <a:xfrm>
            <a:off x="8953500" y="76454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37084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37084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37084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AGV LOGISTICS</a:t>
            </a:r>
          </a:p>
          <a:p>
            <a:pPr algn="ctr">
              <a:lnSpc>
                <a:spcPts val="8680"/>
              </a:lnSpc>
              <a:spcBef>
                <a:spcPct val="0"/>
              </a:spcBef>
            </a:pPr>
            <a:r>
              <a:rPr lang="en-US" sz="6200" b="1" spc="-124">
                <a:solidFill>
                  <a:srgbClr val="B05510"/>
                </a:solidFill>
                <a:latin typeface="Roboto"/>
                <a:ea typeface="Roboto"/>
                <a:cs typeface="Roboto"/>
                <a:sym typeface="Gordita Bold"/>
              </a:rPr>
              <a:t>IN VIETNAM</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6"/>
              </a:rPr>
              <a:t>Viettel Post</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7"/>
              </a:rPr>
              <a:t>Phenikaa-X</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hlinkClick r:id="rId8"/>
              </a:rPr>
              <a:t>Aubot</a:t>
            </a:r>
          </a:p>
        </p:txBody>
      </p:sp>
      <p:sp>
        <p:nvSpPr>
          <p:cNvPr id="35" name="TextBox 35"/>
          <p:cNvSpPr txBox="1"/>
          <p:nvPr/>
        </p:nvSpPr>
        <p:spPr>
          <a:xfrm>
            <a:off x="857526"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Vietnam’s first robot sorting complex (Jan 2024): 1.4 million parcels a day, 60% lower labour cost. By Oct 2024 it ran 300 self-built AGVs.</a:t>
            </a:r>
          </a:p>
        </p:txBody>
      </p:sp>
      <p:sp>
        <p:nvSpPr>
          <p:cNvPr id="36" name="TextBox 36"/>
          <p:cNvSpPr txBox="1"/>
          <p:nvPr/>
        </p:nvSpPr>
        <p:spPr>
          <a:xfrm>
            <a:off x="6799794"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 1,000 kg AMR deployed into the Samsung Thai Nguyen plant (Apr 2024), integrated over VDA5050 — the same standard this project uses.</a:t>
            </a:r>
          </a:p>
        </p:txBody>
      </p:sp>
      <p:sp>
        <p:nvSpPr>
          <p:cNvPr id="37" name="TextBox 37"/>
          <p:cNvSpPr txBox="1"/>
          <p:nvPr/>
        </p:nvSpPr>
        <p:spPr>
          <a:xfrm>
            <a:off x="12715813" y="5080000"/>
            <a:ext cx="4713683" cy="3175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More than 300 AGVs deployed, the T500 and B300 lines. Customers include Sumitomo, NITORI and BEING Holdings.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2220017" y="405258"/>
            <a:ext cx="7770886" cy="777088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943796" y="-1607865"/>
            <a:ext cx="6071536" cy="550161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AutoShape 10"/>
          <p:cNvSpPr/>
          <p:nvPr/>
        </p:nvSpPr>
        <p:spPr>
          <a:xfrm>
            <a:off x="1028700" y="4406188"/>
            <a:ext cx="16242377" cy="0"/>
          </a:xfrm>
          <a:prstGeom prst="line">
            <a:avLst/>
          </a:prstGeom>
          <a:ln w="38100" cap="flat">
            <a:solidFill>
              <a:srgbClr val="B05510"/>
            </a:solidFill>
            <a:prstDash val="solid"/>
            <a:headEnd type="none" w="sm" len="sm"/>
            <a:tailEnd type="none" w="sm" len="sm"/>
          </a:ln>
        </p:spPr>
      </p:sp>
      <p:sp>
        <p:nvSpPr>
          <p:cNvPr id="11" name="Freeform 11"/>
          <p:cNvSpPr/>
          <p:nvPr/>
        </p:nvSpPr>
        <p:spPr>
          <a:xfrm rot="5400000">
            <a:off x="2444927"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5400000">
            <a:off x="6667453" y="4112825"/>
            <a:ext cx="729357" cy="729357"/>
          </a:xfrm>
          <a:custGeom>
            <a:avLst/>
            <a:gdLst/>
            <a:ahLst/>
            <a:cxnLst/>
            <a:rect l="l" t="t" r="r" b="b"/>
            <a:pathLst>
              <a:path w="729357" h="729357">
                <a:moveTo>
                  <a:pt x="0" y="0"/>
                </a:moveTo>
                <a:lnTo>
                  <a:pt x="729358" y="0"/>
                </a:lnTo>
                <a:lnTo>
                  <a:pt x="729358"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rot="5400000">
            <a:off x="10890585"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rot="5400000">
            <a:off x="15113716" y="4112825"/>
            <a:ext cx="729357" cy="729357"/>
          </a:xfrm>
          <a:custGeom>
            <a:avLst/>
            <a:gdLst/>
            <a:ahLst/>
            <a:cxnLst/>
            <a:rect l="l" t="t" r="r" b="b"/>
            <a:pathLst>
              <a:path w="729357" h="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2877118" y="1000125"/>
            <a:ext cx="1253376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ONE LAYER,</a:t>
            </a:r>
          </a:p>
          <a:p>
            <a:pPr algn="ctr">
              <a:lnSpc>
                <a:spcPts val="8680"/>
              </a:lnSpc>
              <a:spcBef>
                <a:spcPct val="0"/>
              </a:spcBef>
            </a:pPr>
            <a:r>
              <a:rPr lang="en-US" sz="6200" b="1" spc="-124">
                <a:solidFill>
                  <a:srgbClr val="B05510"/>
                </a:solidFill>
                <a:latin typeface="Roboto"/>
                <a:ea typeface="Roboto"/>
                <a:cs typeface="Roboto"/>
                <a:sym typeface="Gordita Bold"/>
              </a:rPr>
              <a:t>ONE RESPONSIBILITY</a:t>
            </a:r>
          </a:p>
        </p:txBody>
      </p:sp>
      <p:sp>
        <p:nvSpPr>
          <p:cNvPr id="16" name="TextBox 16"/>
          <p:cNvSpPr txBox="1"/>
          <p:nvPr/>
        </p:nvSpPr>
        <p:spPr>
          <a:xfrm>
            <a:off x="998077"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WMS</a:t>
            </a:r>
          </a:p>
        </p:txBody>
      </p:sp>
      <p:sp>
        <p:nvSpPr>
          <p:cNvPr id="17" name="TextBox 17"/>
          <p:cNvSpPr txBox="1"/>
          <p:nvPr/>
        </p:nvSpPr>
        <p:spPr>
          <a:xfrm>
            <a:off x="5220604"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WES</a:t>
            </a:r>
          </a:p>
        </p:txBody>
      </p:sp>
      <p:sp>
        <p:nvSpPr>
          <p:cNvPr id="18" name="TextBox 18"/>
          <p:cNvSpPr txBox="1"/>
          <p:nvPr/>
        </p:nvSpPr>
        <p:spPr>
          <a:xfrm>
            <a:off x="9443735"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FMS</a:t>
            </a:r>
          </a:p>
        </p:txBody>
      </p:sp>
      <p:sp>
        <p:nvSpPr>
          <p:cNvPr id="19" name="TextBox 19"/>
          <p:cNvSpPr txBox="1"/>
          <p:nvPr/>
        </p:nvSpPr>
        <p:spPr>
          <a:xfrm>
            <a:off x="13666866" y="5207000"/>
            <a:ext cx="3623056" cy="571500"/>
          </a:xfrm>
          <a:prstGeom prst="rect">
            <a:avLst/>
          </a:prstGeom>
        </p:spPr>
        <p:txBody>
          <a:bodyPr lIns="0" tIns="0" rIns="0" bIns="0" rtlCol="0" anchor="t">
            <a:spAutoFit/>
          </a:bodyPr>
          <a:lstStyle/>
          <a:p>
            <a:pPr algn="ctr">
              <a:lnSpc>
                <a:spcPts val="4200"/>
              </a:lnSpc>
              <a:spcBef>
                <a:spcPct val="0"/>
              </a:spcBef>
            </a:pPr>
            <a:r>
              <a:rPr lang="en-US" sz="3000" b="1" spc="0">
                <a:solidFill>
                  <a:srgbClr val="B05510"/>
                </a:solidFill>
                <a:latin typeface="Roboto"/>
                <a:ea typeface="Roboto"/>
                <a:cs typeface="Roboto"/>
                <a:sym typeface="Pier Sans Light Bold"/>
              </a:rPr>
              <a:t>AGV</a:t>
            </a:r>
          </a:p>
        </p:txBody>
      </p:sp>
      <p:sp>
        <p:nvSpPr>
          <p:cNvPr id="20" name="TextBox 20"/>
          <p:cNvSpPr txBox="1"/>
          <p:nvPr/>
        </p:nvSpPr>
        <p:spPr>
          <a:xfrm>
            <a:off x="1406410" y="6369247"/>
            <a:ext cx="2806392"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Runs stock and orders. Knows what has to reach which area, but not when or by which vehicle. Outside the scope of this project.</a:t>
            </a:r>
          </a:p>
        </p:txBody>
      </p:sp>
      <p:sp>
        <p:nvSpPr>
          <p:cNvPr id="21" name="TextBox 21"/>
          <p:cNvSpPr txBox="1"/>
          <p:nvPr/>
        </p:nvSpPr>
        <p:spPr>
          <a:xfrm>
            <a:off x="5606602" y="6369247"/>
            <a:ext cx="2851665"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What runs first? Which vehicle takes it? Which exact cell inside the destination area? This is the system we built.</a:t>
            </a:r>
          </a:p>
        </p:txBody>
      </p:sp>
      <p:sp>
        <p:nvSpPr>
          <p:cNvPr id="22" name="TextBox 22"/>
          <p:cNvSpPr txBox="1"/>
          <p:nvPr/>
        </p:nvSpPr>
        <p:spPr>
          <a:xfrm>
            <a:off x="9732417" y="6369247"/>
            <a:ext cx="3045693"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Which route? Who enters a cell first? Physical routing and path allocation. Built on our fork of openTCS.</a:t>
            </a:r>
          </a:p>
        </p:txBody>
      </p:sp>
      <p:sp>
        <p:nvSpPr>
          <p:cNvPr id="23" name="TextBox 23"/>
          <p:cNvSpPr txBox="1"/>
          <p:nvPr/>
        </p:nvSpPr>
        <p:spPr>
          <a:xfrm>
            <a:off x="14123238" y="6369247"/>
            <a:ext cx="2710314" cy="2667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Carries out movement commands. B300 vehicles, driven over MQTT using the VDA5050 standard.</a:t>
            </a:r>
          </a:p>
        </p:txBody>
      </p:sp>
      <p:grpSp>
        <p:nvGrpSpPr>
          <p:cNvPr id="24" name="Group 24"/>
          <p:cNvGrpSpPr/>
          <p:nvPr/>
        </p:nvGrpSpPr>
        <p:grpSpPr>
          <a:xfrm>
            <a:off x="11255263" y="9227000"/>
            <a:ext cx="3315105" cy="2874132"/>
            <a:chOff x="0" y="0"/>
            <a:chExt cx="937506" cy="812800"/>
          </a:xfrm>
        </p:grpSpPr>
        <p:sp>
          <p:nvSpPr>
            <p:cNvPr id="25" name="Freeform 25"/>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6" name="TextBox 26"/>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rot="5884013">
            <a:off x="8101823" y="9287854"/>
            <a:ext cx="453167" cy="45316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rot="5884013">
            <a:off x="1079368" y="1547854"/>
            <a:ext cx="776908" cy="776908"/>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9437183" y="1283683"/>
            <a:ext cx="8690077" cy="86900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1581441">
            <a:off x="13985738" y="6869137"/>
            <a:ext cx="5875218" cy="532372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915006" y="2077408"/>
            <a:ext cx="8906532" cy="7180892"/>
          </a:xfrm>
          <a:custGeom>
            <a:avLst/>
            <a:gdLst/>
            <a:ahLst/>
            <a:cxnLst/>
            <a:rect l="l" t="t" r="r" b="b"/>
            <a:pathLst>
              <a:path w="8906532" h="7180892">
                <a:moveTo>
                  <a:pt x="0" y="0"/>
                </a:moveTo>
                <a:lnTo>
                  <a:pt x="8906532" y="0"/>
                </a:lnTo>
                <a:lnTo>
                  <a:pt x="8906532" y="7180892"/>
                </a:lnTo>
                <a:lnTo>
                  <a:pt x="0" y="7180892"/>
                </a:lnTo>
                <a:lnTo>
                  <a:pt x="0" y="0"/>
                </a:lnTo>
                <a:close/>
              </a:path>
            </a:pathLst>
          </a:custGeom>
          <a:blipFill>
            <a:blip r:embed="rId6"/>
            <a:stretch>
              <a:fillRect/>
            </a:stretch>
          </a:blipFill>
        </p:spPr>
      </p:sp>
      <p:sp>
        <p:nvSpPr>
          <p:cNvPr id="14" name="TextBox 14"/>
          <p:cNvSpPr txBox="1"/>
          <p:nvPr/>
        </p:nvSpPr>
        <p:spPr>
          <a:xfrm>
            <a:off x="1016923" y="1563426"/>
            <a:ext cx="8420260" cy="2157095"/>
          </a:xfrm>
          <a:prstGeom prst="rect">
            <a:avLst/>
          </a:prstGeom>
        </p:spPr>
        <p:txBody>
          <a:bodyPr lIns="0" tIns="0" rIns="0" bIns="0" rtlCol="0" anchor="t">
            <a:spAutoFit/>
          </a:bodyPr>
          <a:lstStyle/>
          <a:p>
            <a:pPr algn="l">
              <a:lnSpc>
                <a:spcPts val="8680"/>
              </a:lnSpc>
              <a:spcBef>
                <a:spcPct val="0"/>
              </a:spcBef>
            </a:pPr>
            <a:r>
              <a:rPr lang="en-US" sz="6200" b="1" spc="-124">
                <a:solidFill>
                  <a:srgbClr val="B05510"/>
                </a:solidFill>
                <a:latin typeface="Roboto"/>
                <a:ea typeface="Roboto"/>
                <a:cs typeface="Roboto"/>
                <a:sym typeface="Gordita Bold"/>
              </a:rPr>
              <a:t>AUBOT &amp; PROJECT SCOPE</a:t>
            </a:r>
          </a:p>
        </p:txBody>
      </p:sp>
      <p:sp>
        <p:nvSpPr>
          <p:cNvPr id="15" name="TextBox 15"/>
          <p:cNvSpPr txBox="1"/>
          <p:nvPr/>
        </p:nvSpPr>
        <p:spPr>
          <a:xfrm>
            <a:off x="1016923" y="4081734"/>
            <a:ext cx="7429375" cy="1676400"/>
          </a:xfrm>
          <a:prstGeom prst="rect">
            <a:avLst/>
          </a:prstGeom>
        </p:spPr>
        <p:txBody>
          <a:bodyPr lIns="0" tIns="0" rIns="0" bIns="0" rtlCol="0" anchor="t">
            <a:spAutoFit/>
          </a:bodyPr>
          <a:lstStyle/>
          <a:p>
            <a:pPr algn="l">
              <a:lnSpc>
                <a:spcPts val="3079"/>
              </a:lnSpc>
              <a:spcBef>
                <a:spcPct val="0"/>
              </a:spcBef>
            </a:pPr>
            <a:r>
              <a:rPr lang="en-US" sz="2199" spc="0">
                <a:solidFill>
                  <a:srgbClr val="B05510"/>
                </a:solidFill>
                <a:latin typeface="Roboto"/>
                <a:ea typeface="Roboto"/>
                <a:cs typeface="Roboto"/>
                <a:sym typeface="Pier Sans Light"/>
              </a:rPr>
              <a:t>The project runs on the live fleet-management system of Aubot, a Vietnamese AGV company operating the B300 line. Every figure in this talk comes from real operating data, not from assumptions.</a:t>
            </a:r>
          </a:p>
        </p:txBody>
      </p:sp>
      <p:sp>
        <p:nvSpPr>
          <p:cNvPr id="16" name="TextBox 16"/>
          <p:cNvSpPr txBox="1"/>
          <p:nvPr/>
        </p:nvSpPr>
        <p:spPr>
          <a:xfrm>
            <a:off x="1748650" y="6078674"/>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The WES layer: business rules, dispatch, vehicle assignment.</a:t>
            </a:r>
          </a:p>
        </p:txBody>
      </p:sp>
      <p:sp>
        <p:nvSpPr>
          <p:cNvPr id="17" name="TextBox 17"/>
          <p:cNvSpPr txBox="1"/>
          <p:nvPr/>
        </p:nvSpPr>
        <p:spPr>
          <a:xfrm>
            <a:off x="1748650" y="679565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Changes inside the routing layer of the FMS.</a:t>
            </a:r>
          </a:p>
        </p:txBody>
      </p:sp>
      <p:sp>
        <p:nvSpPr>
          <p:cNvPr id="18" name="TextBox 18"/>
          <p:cNvSpPr txBox="1"/>
          <p:nvPr/>
        </p:nvSpPr>
        <p:spPr>
          <a:xfrm>
            <a:off x="1748650" y="750944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Out of scope: stock management, hardware, firmware.</a:t>
            </a:r>
          </a:p>
        </p:txBody>
      </p:sp>
      <p:grpSp>
        <p:nvGrpSpPr>
          <p:cNvPr id="19" name="Group 19"/>
          <p:cNvGrpSpPr/>
          <p:nvPr/>
        </p:nvGrpSpPr>
        <p:grpSpPr>
          <a:xfrm>
            <a:off x="7779631" y="-1845432"/>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10599" y="7472249"/>
            <a:ext cx="453167" cy="45316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48537" y="2355348"/>
            <a:ext cx="697075" cy="69707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7779631" y="8754091"/>
            <a:ext cx="776908" cy="77690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1" name="Num 1"/>
          <p:cNvSpPr/>
          <p:nvPr/>
        </p:nvSpPr>
        <p:spPr>
          <a:xfrm>
            <a:off x="1016000" y="60198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2" name="Num 2"/>
          <p:cNvSpPr/>
          <p:nvPr/>
        </p:nvSpPr>
        <p:spPr>
          <a:xfrm>
            <a:off x="1016000" y="67437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3" name="Num 3"/>
          <p:cNvSpPr/>
          <p:nvPr/>
        </p:nvSpPr>
        <p:spPr>
          <a:xfrm>
            <a:off x="1016000" y="74549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Freeform 2"/>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319105" y="249638"/>
            <a:ext cx="7647074" cy="764707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288076">
            <a:off x="12595500" y="8956623"/>
            <a:ext cx="6253509" cy="4894824"/>
            <a:chOff x="0" y="0"/>
            <a:chExt cx="1038414" cy="812800"/>
          </a:xfrm>
        </p:grpSpPr>
        <p:sp>
          <p:nvSpPr>
            <p:cNvPr id="8" name="Freeform 8"/>
            <p:cNvSpPr/>
            <p:nvPr/>
          </p:nvSpPr>
          <p:spPr>
            <a:xfrm>
              <a:off x="0" y="0"/>
              <a:ext cx="1038414" cy="812800"/>
            </a:xfrm>
            <a:custGeom>
              <a:avLst/>
              <a:gdLst/>
              <a:ahLst/>
              <a:cxnLst/>
              <a:rect l="l" t="t" r="r" b="b"/>
              <a:pathLst>
                <a:path w="1038414" h="812800">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solidFill>
              <a:srgbClr val="B05510"/>
            </a:solidFill>
            <a:ln cap="sq">
              <a:noFill/>
              <a:prstDash val="solid"/>
              <a:miter/>
            </a:ln>
          </p:spPr>
        </p:sp>
        <p:sp>
          <p:nvSpPr>
            <p:cNvPr id="9" name="TextBox 9"/>
            <p:cNvSpPr txBox="1"/>
            <p:nvPr/>
          </p:nvSpPr>
          <p:spPr>
            <a:xfrm>
              <a:off x="97351" y="38100"/>
              <a:ext cx="843711"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7966179" y="8876224"/>
            <a:ext cx="453167" cy="45316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279"/>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6531496" y="8703502"/>
            <a:ext cx="951568" cy="95156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rot="-7167358">
            <a:off x="-5778500" y="-5778500"/>
            <a:ext cx="8175663" cy="7408233"/>
            <a:chOff x="0" y="0"/>
            <a:chExt cx="896999" cy="812800"/>
          </a:xfrm>
        </p:grpSpPr>
        <p:sp>
          <p:nvSpPr>
            <p:cNvPr id="20" name="Freeform 20"/>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21" name="TextBox 21"/>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4457278" y="2598746"/>
            <a:ext cx="12506380" cy="2771544"/>
            <a:chOff x="0" y="0"/>
            <a:chExt cx="16675174" cy="3695393"/>
          </a:xfrm>
        </p:grpSpPr>
        <p:grpSp>
          <p:nvGrpSpPr>
            <p:cNvPr id="23" name="Group 23"/>
            <p:cNvGrpSpPr/>
            <p:nvPr/>
          </p:nvGrpSpPr>
          <p:grpSpPr>
            <a:xfrm>
              <a:off x="0" y="0"/>
              <a:ext cx="16675174" cy="446226"/>
              <a:chOff x="0" y="0"/>
              <a:chExt cx="2573329" cy="68862"/>
            </a:xfrm>
          </p:grpSpPr>
          <p:sp>
            <p:nvSpPr>
              <p:cNvPr id="24" name="Freeform 24"/>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25" name="TextBox 25"/>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0" y="1083970"/>
              <a:ext cx="16675174" cy="446226"/>
              <a:chOff x="0" y="0"/>
              <a:chExt cx="2573329" cy="68862"/>
            </a:xfrm>
          </p:grpSpPr>
          <p:sp>
            <p:nvSpPr>
              <p:cNvPr id="27" name="Freeform 27"/>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28" name="TextBox 28"/>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0" y="2167940"/>
              <a:ext cx="16675174" cy="446226"/>
              <a:chOff x="0" y="0"/>
              <a:chExt cx="2573329" cy="68862"/>
            </a:xfrm>
          </p:grpSpPr>
          <p:sp>
            <p:nvSpPr>
              <p:cNvPr id="30" name="Freeform 30"/>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31" name="TextBox 31"/>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0" y="3249166"/>
              <a:ext cx="16675174" cy="446226"/>
              <a:chOff x="0" y="0"/>
              <a:chExt cx="2573329" cy="68862"/>
            </a:xfrm>
          </p:grpSpPr>
          <p:sp>
            <p:nvSpPr>
              <p:cNvPr id="33" name="Freeform 33"/>
              <p:cNvSpPr/>
              <p:nvPr/>
            </p:nvSpPr>
            <p:spPr>
              <a:xfrm>
                <a:off x="0" y="0"/>
                <a:ext cx="2573329" cy="68862"/>
              </a:xfrm>
              <a:custGeom>
                <a:avLst/>
                <a:gdLst/>
                <a:ahLst/>
                <a:cxnLst/>
                <a:rect l="l" t="t" r="r" b="b"/>
                <a:pathLst>
                  <a:path w="2573329" h="68862">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id="34" name="TextBox 34"/>
              <p:cNvSpPr txBox="1"/>
              <p:nvPr/>
            </p:nvSpPr>
            <p:spPr>
              <a:xfrm>
                <a:off x="0" y="-38100"/>
                <a:ext cx="2573329" cy="106962"/>
              </a:xfrm>
              <a:prstGeom prst="rect">
                <a:avLst/>
              </a:prstGeom>
            </p:spPr>
            <p:txBody>
              <a:bodyPr lIns="50800" tIns="50800" rIns="50800" bIns="50800" rtlCol="0" anchor="ctr"/>
              <a:lstStyle/>
              <a:p>
                <a:pPr algn="ctr">
                  <a:lnSpc>
                    <a:spcPts val="2659"/>
                  </a:lnSpc>
                </a:pPr>
                <a:endParaRPr/>
              </a:p>
            </p:txBody>
          </p:sp>
        </p:grpSp>
      </p:grpSp>
      <p:grpSp>
        <p:nvGrpSpPr>
          <p:cNvPr id="35" name="Group 35"/>
          <p:cNvGrpSpPr/>
          <p:nvPr/>
        </p:nvGrpSpPr>
        <p:grpSpPr>
          <a:xfrm>
            <a:off x="4457278" y="2598746"/>
            <a:ext cx="11196002" cy="334670"/>
            <a:chOff x="0" y="0"/>
            <a:chExt cx="2290686" cy="68862"/>
          </a:xfrm>
        </p:grpSpPr>
        <p:sp>
          <p:nvSpPr>
            <p:cNvPr id="36" name="Freeform 36"/>
            <p:cNvSpPr/>
            <p:nvPr/>
          </p:nvSpPr>
          <p:spPr>
            <a:xfrm>
              <a:off x="0" y="0"/>
              <a:ext cx="2290686" cy="68862"/>
            </a:xfrm>
            <a:custGeom>
              <a:avLst/>
              <a:gdLst/>
              <a:ahLst/>
              <a:cxnLst/>
              <a:rect l="l" t="t" r="r" b="b"/>
              <a:pathLst>
                <a:path w="2290686" h="68862">
                  <a:moveTo>
                    <a:pt x="13582" y="0"/>
                  </a:moveTo>
                  <a:lnTo>
                    <a:pt x="2277104" y="0"/>
                  </a:lnTo>
                  <a:cubicBezTo>
                    <a:pt x="2280706" y="0"/>
                    <a:pt x="2284161" y="1431"/>
                    <a:pt x="2286708" y="3978"/>
                  </a:cubicBezTo>
                  <a:cubicBezTo>
                    <a:pt x="2289255" y="6525"/>
                    <a:pt x="2290686" y="9980"/>
                    <a:pt x="2290686" y="13582"/>
                  </a:cubicBezTo>
                  <a:lnTo>
                    <a:pt x="2290686" y="55280"/>
                  </a:lnTo>
                  <a:cubicBezTo>
                    <a:pt x="2290686" y="62781"/>
                    <a:pt x="2284605" y="68862"/>
                    <a:pt x="2277104" y="68862"/>
                  </a:cubicBezTo>
                  <a:lnTo>
                    <a:pt x="13582" y="68862"/>
                  </a:lnTo>
                  <a:cubicBezTo>
                    <a:pt x="6081" y="68862"/>
                    <a:pt x="0" y="62781"/>
                    <a:pt x="0" y="55280"/>
                  </a:cubicBezTo>
                  <a:lnTo>
                    <a:pt x="0" y="13582"/>
                  </a:lnTo>
                  <a:cubicBezTo>
                    <a:pt x="0" y="6081"/>
                    <a:pt x="6081" y="0"/>
                    <a:pt x="13582" y="0"/>
                  </a:cubicBezTo>
                  <a:close/>
                </a:path>
              </a:pathLst>
            </a:custGeom>
            <a:solidFill>
              <a:srgbClr val="E9873C"/>
            </a:solidFill>
          </p:spPr>
        </p:sp>
        <p:sp>
          <p:nvSpPr>
            <p:cNvPr id="37" name="TextBox 37"/>
            <p:cNvSpPr txBox="1"/>
            <p:nvPr/>
          </p:nvSpPr>
          <p:spPr>
            <a:xfrm>
              <a:off x="0" y="-38100"/>
              <a:ext cx="2290686" cy="106962"/>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4457278" y="3413781"/>
            <a:ext cx="7030339" cy="334670"/>
            <a:chOff x="0" y="0"/>
            <a:chExt cx="1837721" cy="68862"/>
          </a:xfrm>
        </p:grpSpPr>
        <p:sp>
          <p:nvSpPr>
            <p:cNvPr id="39" name="Freeform 39"/>
            <p:cNvSpPr/>
            <p:nvPr/>
          </p:nvSpPr>
          <p:spPr>
            <a:xfrm>
              <a:off x="0" y="0"/>
              <a:ext cx="1837721" cy="68862"/>
            </a:xfrm>
            <a:custGeom>
              <a:avLst/>
              <a:gdLst/>
              <a:ahLst/>
              <a:cxnLst/>
              <a:rect l="l" t="t" r="r" b="b"/>
              <a:pathLst>
                <a:path w="1837721" h="68862">
                  <a:moveTo>
                    <a:pt x="16930" y="0"/>
                  </a:moveTo>
                  <a:lnTo>
                    <a:pt x="1820791" y="0"/>
                  </a:lnTo>
                  <a:cubicBezTo>
                    <a:pt x="1825281" y="0"/>
                    <a:pt x="1829588" y="1784"/>
                    <a:pt x="1832763" y="4959"/>
                  </a:cubicBezTo>
                  <a:cubicBezTo>
                    <a:pt x="1835938" y="8134"/>
                    <a:pt x="1837721" y="12440"/>
                    <a:pt x="1837721" y="16930"/>
                  </a:cubicBezTo>
                  <a:lnTo>
                    <a:pt x="1837721" y="51932"/>
                  </a:lnTo>
                  <a:cubicBezTo>
                    <a:pt x="1837721" y="56422"/>
                    <a:pt x="1835938" y="60728"/>
                    <a:pt x="1832763" y="63903"/>
                  </a:cubicBezTo>
                  <a:cubicBezTo>
                    <a:pt x="1829588" y="67078"/>
                    <a:pt x="1825281" y="68862"/>
                    <a:pt x="1820791" y="68862"/>
                  </a:cubicBezTo>
                  <a:lnTo>
                    <a:pt x="16930" y="68862"/>
                  </a:lnTo>
                  <a:cubicBezTo>
                    <a:pt x="12440" y="68862"/>
                    <a:pt x="8134" y="67078"/>
                    <a:pt x="4959" y="63903"/>
                  </a:cubicBezTo>
                  <a:cubicBezTo>
                    <a:pt x="1784" y="60728"/>
                    <a:pt x="0" y="56422"/>
                    <a:pt x="0" y="51932"/>
                  </a:cubicBezTo>
                  <a:lnTo>
                    <a:pt x="0" y="16930"/>
                  </a:lnTo>
                  <a:cubicBezTo>
                    <a:pt x="0" y="12440"/>
                    <a:pt x="1784" y="8134"/>
                    <a:pt x="4959" y="4959"/>
                  </a:cubicBezTo>
                  <a:cubicBezTo>
                    <a:pt x="8134" y="1784"/>
                    <a:pt x="12440" y="0"/>
                    <a:pt x="16930" y="0"/>
                  </a:cubicBezTo>
                  <a:close/>
                </a:path>
              </a:pathLst>
            </a:custGeom>
            <a:solidFill>
              <a:srgbClr val="E9A379"/>
            </a:solidFill>
          </p:spPr>
        </p:sp>
        <p:sp>
          <p:nvSpPr>
            <p:cNvPr id="40" name="TextBox 40"/>
            <p:cNvSpPr txBox="1"/>
            <p:nvPr/>
          </p:nvSpPr>
          <p:spPr>
            <a:xfrm>
              <a:off x="0" y="-38100"/>
              <a:ext cx="1837721" cy="106962"/>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4457278" y="5035620"/>
            <a:ext cx="788098" cy="334670"/>
            <a:chOff x="0" y="0"/>
            <a:chExt cx="1145383" cy="68862"/>
          </a:xfrm>
        </p:grpSpPr>
        <p:sp>
          <p:nvSpPr>
            <p:cNvPr id="42" name="Freeform 42"/>
            <p:cNvSpPr/>
            <p:nvPr/>
          </p:nvSpPr>
          <p:spPr>
            <a:xfrm>
              <a:off x="0" y="0"/>
              <a:ext cx="1145383" cy="68862"/>
            </a:xfrm>
            <a:custGeom>
              <a:avLst/>
              <a:gdLst/>
              <a:ahLst/>
              <a:cxnLst/>
              <a:rect l="l" t="t" r="r" b="b"/>
              <a:pathLst>
                <a:path w="1145383" h="68862">
                  <a:moveTo>
                    <a:pt x="27164" y="0"/>
                  </a:moveTo>
                  <a:lnTo>
                    <a:pt x="1118219" y="0"/>
                  </a:lnTo>
                  <a:cubicBezTo>
                    <a:pt x="1125423" y="0"/>
                    <a:pt x="1132333" y="2862"/>
                    <a:pt x="1137427" y="7956"/>
                  </a:cubicBezTo>
                  <a:cubicBezTo>
                    <a:pt x="1142521" y="13050"/>
                    <a:pt x="1145383" y="19960"/>
                    <a:pt x="1145383" y="27164"/>
                  </a:cubicBezTo>
                  <a:lnTo>
                    <a:pt x="1145383" y="41698"/>
                  </a:lnTo>
                  <a:cubicBezTo>
                    <a:pt x="1145383" y="48903"/>
                    <a:pt x="1142521" y="55812"/>
                    <a:pt x="1137427" y="60906"/>
                  </a:cubicBezTo>
                  <a:cubicBezTo>
                    <a:pt x="1132333" y="66000"/>
                    <a:pt x="1125423" y="68862"/>
                    <a:pt x="1118219" y="68862"/>
                  </a:cubicBezTo>
                  <a:lnTo>
                    <a:pt x="27164" y="68862"/>
                  </a:lnTo>
                  <a:cubicBezTo>
                    <a:pt x="12162" y="68862"/>
                    <a:pt x="0" y="56700"/>
                    <a:pt x="0" y="41698"/>
                  </a:cubicBezTo>
                  <a:lnTo>
                    <a:pt x="0" y="27164"/>
                  </a:lnTo>
                  <a:cubicBezTo>
                    <a:pt x="0" y="19960"/>
                    <a:pt x="2862" y="13050"/>
                    <a:pt x="7956" y="7956"/>
                  </a:cubicBezTo>
                  <a:cubicBezTo>
                    <a:pt x="13050" y="2862"/>
                    <a:pt x="19960" y="0"/>
                    <a:pt x="27164" y="0"/>
                  </a:cubicBezTo>
                  <a:close/>
                </a:path>
              </a:pathLst>
            </a:custGeom>
            <a:solidFill>
              <a:srgbClr val="E9C279"/>
            </a:solidFill>
          </p:spPr>
        </p:sp>
        <p:sp>
          <p:nvSpPr>
            <p:cNvPr id="43" name="TextBox 43"/>
            <p:cNvSpPr txBox="1"/>
            <p:nvPr/>
          </p:nvSpPr>
          <p:spPr>
            <a:xfrm>
              <a:off x="0" y="-38100"/>
              <a:ext cx="1145383" cy="106962"/>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4457278" y="4224701"/>
            <a:ext cx="5529199" cy="334670"/>
            <a:chOff x="0" y="0"/>
            <a:chExt cx="1571913" cy="68862"/>
          </a:xfrm>
        </p:grpSpPr>
        <p:sp>
          <p:nvSpPr>
            <p:cNvPr id="45" name="Freeform 45"/>
            <p:cNvSpPr/>
            <p:nvPr/>
          </p:nvSpPr>
          <p:spPr>
            <a:xfrm>
              <a:off x="0" y="0"/>
              <a:ext cx="1571913" cy="68862"/>
            </a:xfrm>
            <a:custGeom>
              <a:avLst/>
              <a:gdLst/>
              <a:ahLst/>
              <a:cxnLst/>
              <a:rect l="l" t="t" r="r" b="b"/>
              <a:pathLst>
                <a:path w="1571913" h="68862">
                  <a:moveTo>
                    <a:pt x="19793" y="0"/>
                  </a:moveTo>
                  <a:lnTo>
                    <a:pt x="1552120" y="0"/>
                  </a:lnTo>
                  <a:cubicBezTo>
                    <a:pt x="1563051" y="0"/>
                    <a:pt x="1571913" y="8862"/>
                    <a:pt x="1571913" y="19793"/>
                  </a:cubicBezTo>
                  <a:lnTo>
                    <a:pt x="1571913" y="49069"/>
                  </a:lnTo>
                  <a:cubicBezTo>
                    <a:pt x="1571913" y="54318"/>
                    <a:pt x="1569828" y="59353"/>
                    <a:pt x="1566116" y="63065"/>
                  </a:cubicBezTo>
                  <a:cubicBezTo>
                    <a:pt x="1562404" y="66777"/>
                    <a:pt x="1557369" y="68862"/>
                    <a:pt x="1552120" y="68862"/>
                  </a:cubicBezTo>
                  <a:lnTo>
                    <a:pt x="19793" y="68862"/>
                  </a:lnTo>
                  <a:cubicBezTo>
                    <a:pt x="8862" y="68862"/>
                    <a:pt x="0" y="60000"/>
                    <a:pt x="0" y="49069"/>
                  </a:cubicBezTo>
                  <a:lnTo>
                    <a:pt x="0" y="19793"/>
                  </a:lnTo>
                  <a:cubicBezTo>
                    <a:pt x="0" y="8862"/>
                    <a:pt x="8862" y="0"/>
                    <a:pt x="19793" y="0"/>
                  </a:cubicBezTo>
                  <a:close/>
                </a:path>
              </a:pathLst>
            </a:custGeom>
            <a:solidFill>
              <a:srgbClr val="EEB243"/>
            </a:solidFill>
          </p:spPr>
        </p:sp>
        <p:sp>
          <p:nvSpPr>
            <p:cNvPr id="46" name="TextBox 46"/>
            <p:cNvSpPr txBox="1"/>
            <p:nvPr/>
          </p:nvSpPr>
          <p:spPr>
            <a:xfrm>
              <a:off x="0" y="-38100"/>
              <a:ext cx="1571913" cy="106962"/>
            </a:xfrm>
            <a:prstGeom prst="rect">
              <a:avLst/>
            </a:prstGeom>
          </p:spPr>
          <p:txBody>
            <a:bodyPr lIns="50800" tIns="50800" rIns="50800" bIns="50800" rtlCol="0" anchor="ctr"/>
            <a:lstStyle/>
            <a:p>
              <a:pPr algn="ctr">
                <a:lnSpc>
                  <a:spcPts val="2659"/>
                </a:lnSpc>
              </a:pPr>
              <a:endParaRPr/>
            </a:p>
          </p:txBody>
        </p:sp>
      </p:grpSp>
      <p:sp>
        <p:nvSpPr>
          <p:cNvPr id="47" name="TextBox 47"/>
          <p:cNvSpPr txBox="1"/>
          <p:nvPr/>
        </p:nvSpPr>
        <p:spPr>
          <a:xfrm>
            <a:off x="1449184" y="5664200"/>
            <a:ext cx="15389632" cy="11684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All of that 44% comes from charging and parking — but most of it is deliberate withdrawal: an idle vehicle on its way to charge gets recalled because a load arrives. The number measures churn in the idle-vehicle lifecycle, not failure. Those three symptoms give the project its three problems:</a:t>
            </a:r>
          </a:p>
        </p:txBody>
      </p:sp>
      <p:sp>
        <p:nvSpPr>
          <p:cNvPr id="48" name="TextBox 48"/>
          <p:cNvSpPr txBox="1"/>
          <p:nvPr/>
        </p:nvSpPr>
        <p:spPr>
          <a:xfrm>
            <a:off x="1324341" y="2551121"/>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Charging orders</a:t>
            </a:r>
          </a:p>
        </p:txBody>
      </p:sp>
      <p:sp>
        <p:nvSpPr>
          <p:cNvPr id="49" name="TextBox 49"/>
          <p:cNvSpPr txBox="1"/>
          <p:nvPr/>
        </p:nvSpPr>
        <p:spPr>
          <a:xfrm>
            <a:off x="14688502" y="2567618"/>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89.5%</a:t>
            </a:r>
          </a:p>
        </p:txBody>
      </p:sp>
      <p:sp>
        <p:nvSpPr>
          <p:cNvPr id="50" name="TextBox 50"/>
          <p:cNvSpPr txBox="1"/>
          <p:nvPr/>
        </p:nvSpPr>
        <p:spPr>
          <a:xfrm>
            <a:off x="10522839" y="3382654"/>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56.2%</a:t>
            </a:r>
          </a:p>
        </p:txBody>
      </p:sp>
      <p:sp>
        <p:nvSpPr>
          <p:cNvPr id="51" name="TextBox 51"/>
          <p:cNvSpPr txBox="1"/>
          <p:nvPr/>
        </p:nvSpPr>
        <p:spPr>
          <a:xfrm>
            <a:off x="9021699" y="4198678"/>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44.2%</a:t>
            </a:r>
          </a:p>
        </p:txBody>
      </p:sp>
      <p:sp>
        <p:nvSpPr>
          <p:cNvPr id="52" name="TextBox 52"/>
          <p:cNvSpPr txBox="1"/>
          <p:nvPr/>
        </p:nvSpPr>
        <p:spPr>
          <a:xfrm>
            <a:off x="5372798" y="5004493"/>
            <a:ext cx="838200" cy="349300"/>
          </a:xfrm>
          <a:prstGeom prst="rect">
            <a:avLst/>
          </a:prstGeom>
        </p:spPr>
        <p:txBody>
          <a:bodyPr lIns="0" tIns="0" rIns="0" bIns="0" rtlCol="0" anchor="t">
            <a:spAutoFit/>
          </a:bodyPr>
          <a:lstStyle/>
          <a:p>
            <a:pPr algn="just">
              <a:lnSpc>
                <a:spcPts val="2800"/>
              </a:lnSpc>
              <a:spcBef>
                <a:spcPct val="0"/>
              </a:spcBef>
            </a:pPr>
            <a:r>
              <a:rPr lang="en-US" sz="2000" spc="0">
                <a:solidFill>
                  <a:srgbClr val="B05510"/>
                </a:solidFill>
                <a:latin typeface="Roboto"/>
                <a:ea typeface="Roboto"/>
                <a:cs typeface="Roboto"/>
                <a:sym typeface="Pier Sans Light"/>
              </a:rPr>
              <a:t>6.3%</a:t>
            </a:r>
          </a:p>
        </p:txBody>
      </p:sp>
      <p:sp>
        <p:nvSpPr>
          <p:cNvPr id="53" name="TextBox 53"/>
          <p:cNvSpPr txBox="1"/>
          <p:nvPr/>
        </p:nvSpPr>
        <p:spPr>
          <a:xfrm>
            <a:off x="1324341" y="336615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Parking orders</a:t>
            </a:r>
          </a:p>
        </p:txBody>
      </p:sp>
      <p:sp>
        <p:nvSpPr>
          <p:cNvPr id="54" name="TextBox 54"/>
          <p:cNvSpPr txBox="1"/>
          <p:nvPr/>
        </p:nvSpPr>
        <p:spPr>
          <a:xfrm>
            <a:off x="1324341" y="417707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All orders</a:t>
            </a:r>
          </a:p>
        </p:txBody>
      </p:sp>
      <p:sp>
        <p:nvSpPr>
          <p:cNvPr id="55" name="TextBox 55"/>
          <p:cNvSpPr txBox="1"/>
          <p:nvPr/>
        </p:nvSpPr>
        <p:spPr>
          <a:xfrm>
            <a:off x="1324341" y="4987996"/>
            <a:ext cx="3132937" cy="389305"/>
          </a:xfrm>
          <a:prstGeom prst="rect">
            <a:avLst/>
          </a:prstGeom>
        </p:spPr>
        <p:txBody>
          <a:bodyPr lIns="0" tIns="0" rIns="0" bIns="0" rtlCol="0" anchor="t">
            <a:spAutoFit/>
          </a:bodyPr>
          <a:lstStyle/>
          <a:p>
            <a:pPr algn="just">
              <a:lnSpc>
                <a:spcPts val="3219"/>
              </a:lnSpc>
              <a:spcBef>
                <a:spcPct val="0"/>
              </a:spcBef>
            </a:pPr>
            <a:r>
              <a:rPr lang="en-US" sz="2299" b="1" spc="0">
                <a:solidFill>
                  <a:srgbClr val="B05510"/>
                </a:solidFill>
                <a:latin typeface="Roboto"/>
                <a:ea typeface="Roboto"/>
                <a:cs typeface="Roboto"/>
                <a:sym typeface="Pier Sans Light Bold"/>
              </a:rPr>
              <a:t>Transport orders</a:t>
            </a:r>
          </a:p>
        </p:txBody>
      </p:sp>
      <p:sp>
        <p:nvSpPr>
          <p:cNvPr id="56" name="TextBox 56"/>
          <p:cNvSpPr txBox="1"/>
          <p:nvPr/>
        </p:nvSpPr>
        <p:spPr>
          <a:xfrm>
            <a:off x="2152186" y="558800"/>
            <a:ext cx="13983628" cy="1016000"/>
          </a:xfrm>
          <a:prstGeom prst="rect">
            <a:avLst/>
          </a:prstGeom>
        </p:spPr>
        <p:txBody>
          <a:bodyPr lIns="0" tIns="0" rIns="0" bIns="0" rtlCol="0" anchor="t">
            <a:spAutoFit/>
          </a:bodyPr>
          <a:lstStyle/>
          <a:p>
            <a:pPr algn="ctr">
              <a:lnSpc>
                <a:spcPts val="8680"/>
              </a:lnSpc>
              <a:spcBef>
                <a:spcPct val="0"/>
              </a:spcBef>
            </a:pPr>
            <a:r>
              <a:rPr lang="en-US" sz="4400" b="1" spc="-124">
                <a:solidFill>
                  <a:srgbClr val="B05510"/>
                </a:solidFill>
                <a:latin typeface="Roboto"/>
                <a:ea typeface="Roboto"/>
                <a:cs typeface="Roboto"/>
                <a:sym typeface="Gordita Bold"/>
              </a:rPr>
              <a:t>NEARLY HALF THE ORDERS NEVER ARRIVE</a:t>
            </a:r>
          </a:p>
        </p:txBody>
      </p:sp>
      <p:sp>
        <p:nvSpPr>
          <p:cNvPr id="9501" name="Txt 9501"/>
          <p:cNvSpPr txBox="1"/>
          <p:nvPr/>
        </p:nvSpPr>
        <p:spPr>
          <a:xfrm>
            <a:off x="1447800" y="1752600"/>
            <a:ext cx="15392400" cy="736600"/>
          </a:xfrm>
          <a:prstGeom prst="rect">
            <a:avLst/>
          </a:prstGeom>
          <a:noFill/>
        </p:spPr>
        <p:txBody>
          <a:bodyPr wrap="square" lIns="0" tIns="0" rIns="0" bIns="0">
            <a:noAutofit/>
          </a:bodyPr>
          <a:lstStyle/>
          <a:p>
            <a:pPr algn="ctr"/>
            <a:r>
              <a:rPr lang="vi-VN" sz="2000" b="0" dirty="0">
                <a:solidFill>
                  <a:srgbClr val="B05510"/>
                </a:solidFill>
                <a:latin typeface="Roboto"/>
                <a:cs typeface="Roboto"/>
              </a:rPr>
              <a:t>On the busiest day: 44.2% of orders never completed, and on average 309 seconds passed before a vehicle was assigned. Every order did get a vehicle — the failures happen after assignment, not because the system could not assign.</a:t>
            </a:r>
          </a:p>
        </p:txBody>
      </p:sp>
      <p:sp>
        <p:nvSpPr>
          <p:cNvPr id="9502" name="Disc 1"/>
          <p:cNvSpPr/>
          <p:nvPr/>
        </p:nvSpPr>
        <p:spPr>
          <a:xfrm>
            <a:off x="13208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1</a:t>
            </a:r>
          </a:p>
        </p:txBody>
      </p:sp>
      <p:sp>
        <p:nvSpPr>
          <p:cNvPr id="9503" name="Txt 9503"/>
          <p:cNvSpPr txBox="1"/>
          <p:nvPr/>
        </p:nvSpPr>
        <p:spPr>
          <a:xfrm>
            <a:off x="20828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Assignment</a:t>
            </a:r>
          </a:p>
        </p:txBody>
      </p:sp>
      <p:sp>
        <p:nvSpPr>
          <p:cNvPr id="9504" name="Txt 9504"/>
          <p:cNvSpPr txBox="1"/>
          <p:nvPr/>
        </p:nvSpPr>
        <p:spPr>
          <a:xfrm>
            <a:off x="20828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Long waits, and no way to tell a legitimate block from a slow dispatcher.</a:t>
            </a:r>
          </a:p>
        </p:txBody>
      </p:sp>
      <p:sp>
        <p:nvSpPr>
          <p:cNvPr id="9505" name="Disc 2"/>
          <p:cNvSpPr/>
          <p:nvPr/>
        </p:nvSpPr>
        <p:spPr>
          <a:xfrm>
            <a:off x="70104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2</a:t>
            </a:r>
          </a:p>
        </p:txBody>
      </p:sp>
      <p:sp>
        <p:nvSpPr>
          <p:cNvPr id="9506" name="Txt 9506"/>
          <p:cNvSpPr txBox="1"/>
          <p:nvPr/>
        </p:nvSpPr>
        <p:spPr>
          <a:xfrm>
            <a:off x="77724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Fleet-wide routing</a:t>
            </a:r>
          </a:p>
        </p:txBody>
      </p:sp>
      <p:sp>
        <p:nvSpPr>
          <p:cNvPr id="9507" name="Txt 9507"/>
          <p:cNvSpPr txBox="1"/>
          <p:nvPr/>
        </p:nvSpPr>
        <p:spPr>
          <a:xfrm>
            <a:off x="77724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Crowding causes gridlock; failures pile into the two busiest hours of the day.</a:t>
            </a:r>
          </a:p>
        </p:txBody>
      </p:sp>
      <p:sp>
        <p:nvSpPr>
          <p:cNvPr id="9508" name="Disc 3"/>
          <p:cNvSpPr/>
          <p:nvPr/>
        </p:nvSpPr>
        <p:spPr>
          <a:xfrm>
            <a:off x="12700000" y="7010400"/>
            <a:ext cx="584200" cy="584200"/>
          </a:xfrm>
          <a:prstGeom prst="ellipse">
            <a:avLst/>
          </a:prstGeom>
          <a:solidFill>
            <a:srgbClr val="B05510"/>
          </a:solidFill>
          <a:ln>
            <a:noFill/>
          </a:ln>
        </p:spPr>
        <p:txBody>
          <a:bodyPr lIns="0" tIns="0" rIns="0" bIns="0" anchor="ctr"/>
          <a:lstStyle/>
          <a:p>
            <a:pPr algn="ctr"/>
            <a:r>
              <a:rPr lang="en-US" sz="2000" b="1" dirty="0">
                <a:solidFill>
                  <a:srgbClr val="FFFFFF"/>
                </a:solidFill>
                <a:latin typeface="Roboto"/>
                <a:cs typeface="Roboto"/>
              </a:rPr>
              <a:t>3</a:t>
            </a:r>
          </a:p>
        </p:txBody>
      </p:sp>
      <p:sp>
        <p:nvSpPr>
          <p:cNvPr id="9509" name="Txt 9509"/>
          <p:cNvSpPr txBox="1"/>
          <p:nvPr/>
        </p:nvSpPr>
        <p:spPr>
          <a:xfrm>
            <a:off x="13462000" y="7035800"/>
            <a:ext cx="4267200" cy="457200"/>
          </a:xfrm>
          <a:prstGeom prst="rect">
            <a:avLst/>
          </a:prstGeom>
          <a:noFill/>
        </p:spPr>
        <p:txBody>
          <a:bodyPr wrap="square" lIns="0" tIns="0" rIns="0" bIns="0">
            <a:noAutofit/>
          </a:bodyPr>
          <a:lstStyle/>
          <a:p>
            <a:pPr algn="l"/>
            <a:r>
              <a:rPr lang="vi-VN" sz="2400" b="1" dirty="0">
                <a:solidFill>
                  <a:srgbClr val="B05510"/>
                </a:solidFill>
                <a:latin typeface="Roboto"/>
                <a:cs typeface="Roboto"/>
              </a:rPr>
              <a:t>Idle-vehicle lifecycle</a:t>
            </a:r>
          </a:p>
        </p:txBody>
      </p:sp>
      <p:sp>
        <p:nvSpPr>
          <p:cNvPr id="9510" name="Txt 9510"/>
          <p:cNvSpPr txBox="1"/>
          <p:nvPr/>
        </p:nvSpPr>
        <p:spPr>
          <a:xfrm>
            <a:off x="13462000" y="7620000"/>
            <a:ext cx="4267200" cy="1524000"/>
          </a:xfrm>
          <a:prstGeom prst="rect">
            <a:avLst/>
          </a:prstGeom>
          <a:noFill/>
        </p:spPr>
        <p:txBody>
          <a:bodyPr wrap="square" lIns="0" tIns="0" rIns="0" bIns="0">
            <a:noAutofit/>
          </a:bodyPr>
          <a:lstStyle/>
          <a:p>
            <a:pPr algn="l"/>
            <a:r>
              <a:rPr lang="vi-VN" sz="1800" b="0" dirty="0">
                <a:solidFill>
                  <a:srgbClr val="B05510"/>
                </a:solidFill>
                <a:latin typeface="Roboto"/>
                <a:cs typeface="Roboto"/>
              </a:rPr>
              <a:t>Sent away and recalled over and over, burning distance that creates no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2617123" y="835337"/>
            <a:ext cx="7291646" cy="72916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826927" y="-2356557"/>
            <a:ext cx="7416842" cy="672064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93968" y="1275404"/>
            <a:ext cx="7963993" cy="8052946"/>
            <a:chOff x="0" y="0"/>
            <a:chExt cx="1233831" cy="1247612"/>
          </a:xfrm>
        </p:grpSpPr>
        <p:sp>
          <p:nvSpPr>
            <p:cNvPr id="10" name="Freeform 10"/>
            <p:cNvSpPr/>
            <p:nvPr/>
          </p:nvSpPr>
          <p:spPr>
            <a:xfrm>
              <a:off x="0" y="0"/>
              <a:ext cx="1233831" cy="1247612"/>
            </a:xfrm>
            <a:custGeom>
              <a:avLst/>
              <a:gdLst/>
              <a:ahLst/>
              <a:cxnLst/>
              <a:rect l="l" t="t" r="r" b="b"/>
              <a:pathLst>
                <a:path w="1233831" h="1247612">
                  <a:moveTo>
                    <a:pt x="0" y="0"/>
                  </a:moveTo>
                  <a:lnTo>
                    <a:pt x="1233831" y="0"/>
                  </a:lnTo>
                  <a:lnTo>
                    <a:pt x="1233831" y="1247612"/>
                  </a:lnTo>
                  <a:lnTo>
                    <a:pt x="0" y="1247612"/>
                  </a:lnTo>
                  <a:close/>
                </a:path>
              </a:pathLst>
            </a:custGeom>
            <a:blipFill>
              <a:blip r:embed="rId4"/>
              <a:stretch>
                <a:fillRect/>
              </a:stretch>
            </a:blipFill>
          </p:spPr>
        </p:sp>
      </p:grpSp>
      <p:sp>
        <p:nvSpPr>
          <p:cNvPr id="11" name="Freeform 11"/>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6619038" y="4681647"/>
            <a:ext cx="4277180" cy="427718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8950109" y="1039035"/>
            <a:ext cx="7402229" cy="2157095"/>
          </a:xfrm>
          <a:prstGeom prst="rect">
            <a:avLst/>
          </a:prstGeom>
        </p:spPr>
        <p:txBody>
          <a:bodyPr lIns="0" tIns="0" rIns="0" bIns="0" rtlCol="0" anchor="t">
            <a:spAutoFit/>
          </a:bodyPr>
          <a:lstStyle/>
          <a:p>
            <a:pPr algn="l">
              <a:lnSpc>
                <a:spcPts val="8680"/>
              </a:lnSpc>
              <a:spcBef>
                <a:spcPct val="0"/>
              </a:spcBef>
            </a:pPr>
            <a:r>
              <a:rPr lang="en-US" sz="4400" b="1" spc="-124">
                <a:solidFill>
                  <a:srgbClr val="B05510"/>
                </a:solidFill>
                <a:latin typeface="Roboto"/>
                <a:ea typeface="Roboto"/>
                <a:cs typeface="Roboto"/>
                <a:sym typeface="Gordita Bold"/>
              </a:rPr>
              <a:t>WES PICKS THE VEHICLE,</a:t>
            </a:r>
          </a:p>
          <a:p>
            <a:pPr algn="l">
              <a:lnSpc>
                <a:spcPts val="8680"/>
              </a:lnSpc>
              <a:spcBef>
                <a:spcPct val="0"/>
              </a:spcBef>
            </a:pPr>
            <a:r>
              <a:rPr lang="en-US" sz="4400" b="1" spc="-124">
                <a:solidFill>
                  <a:srgbClr val="B05510"/>
                </a:solidFill>
                <a:latin typeface="Roboto"/>
                <a:ea typeface="Roboto"/>
                <a:cs typeface="Roboto"/>
                <a:sym typeface="Gordita Bold"/>
              </a:rPr>
              <a:t>FMS PICKS THE ROUTE</a:t>
            </a:r>
          </a:p>
        </p:txBody>
      </p:sp>
      <p:sp>
        <p:nvSpPr>
          <p:cNvPr id="19" name="TextBox 19"/>
          <p:cNvSpPr txBox="1"/>
          <p:nvPr/>
        </p:nvSpPr>
        <p:spPr>
          <a:xfrm>
            <a:off x="9683453" y="3865136"/>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WES decides</a:t>
            </a:r>
          </a:p>
        </p:txBody>
      </p:sp>
      <p:sp>
        <p:nvSpPr>
          <p:cNvPr id="20" name="TextBox 20"/>
          <p:cNvSpPr txBox="1"/>
          <p:nvPr/>
        </p:nvSpPr>
        <p:spPr>
          <a:xfrm>
            <a:off x="9683453" y="5718278"/>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FMS executes</a:t>
            </a:r>
          </a:p>
        </p:txBody>
      </p:sp>
      <p:sp>
        <p:nvSpPr>
          <p:cNvPr id="21" name="TextBox 21"/>
          <p:cNvSpPr txBox="1"/>
          <p:nvPr/>
        </p:nvSpPr>
        <p:spPr>
          <a:xfrm>
            <a:off x="9683453" y="7572651"/>
            <a:ext cx="7112000" cy="523900"/>
          </a:xfrm>
          <a:prstGeom prst="rect">
            <a:avLst/>
          </a:prstGeom>
        </p:spPr>
        <p:txBody>
          <a:bodyPr lIns="0" tIns="0" rIns="0" bIns="0" rtlCol="0" anchor="t">
            <a:spAutoFit/>
          </a:bodyPr>
          <a:lstStyle/>
          <a:p>
            <a:pPr algn="just">
              <a:lnSpc>
                <a:spcPts val="4200"/>
              </a:lnSpc>
              <a:spcBef>
                <a:spcPct val="0"/>
              </a:spcBef>
            </a:pPr>
            <a:r>
              <a:rPr lang="en-US" sz="3000" b="1" spc="0">
                <a:solidFill>
                  <a:srgbClr val="B05510"/>
                </a:solidFill>
                <a:latin typeface="Roboto"/>
                <a:ea typeface="Roboto"/>
                <a:cs typeface="Roboto"/>
                <a:sym typeface="Pier Sans Light Bold"/>
              </a:rPr>
              <a:t>Talking to the vehicles</a:t>
            </a:r>
          </a:p>
        </p:txBody>
      </p:sp>
      <p:sp>
        <p:nvSpPr>
          <p:cNvPr id="22" name="TextBox 22"/>
          <p:cNvSpPr txBox="1"/>
          <p:nvPr/>
        </p:nvSpPr>
        <p:spPr>
          <a:xfrm>
            <a:off x="9704895" y="4465235"/>
            <a:ext cx="7208472" cy="14986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Takes in the load, creates the order, decides what runs first, picks the exact drop-off cell inside the destination area, and picks which vehicle does which job.</a:t>
            </a:r>
          </a:p>
        </p:txBody>
      </p:sp>
      <p:sp>
        <p:nvSpPr>
          <p:cNvPr id="23" name="TextBox 23"/>
          <p:cNvSpPr txBox="1"/>
          <p:nvPr/>
        </p:nvSpPr>
        <p:spPr>
          <a:xfrm>
            <a:off x="9704895" y="6318378"/>
            <a:ext cx="6647443" cy="14986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Computes routes, prevents collisions, allocates cells. openTCS normally picks the vehicle itself — we took that back, because picking needs business data the FMS lacks.</a:t>
            </a:r>
          </a:p>
        </p:txBody>
      </p:sp>
      <p:sp>
        <p:nvSpPr>
          <p:cNvPr id="24" name="TextBox 24"/>
          <p:cNvSpPr txBox="1"/>
          <p:nvPr/>
        </p:nvSpPr>
        <p:spPr>
          <a:xfrm>
            <a:off x="9704895" y="8172751"/>
            <a:ext cx="7208472" cy="14986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The open VDA5050 standard over MQTT, so no lock-in to one vendor. The comm adapter handles what is specific to the B300: command constraints, state normalisation, QR-orientation compensation, three speed tiers.</a:t>
            </a:r>
          </a:p>
        </p:txBody>
      </p:sp>
      <p:grpSp>
        <p:nvGrpSpPr>
          <p:cNvPr id="25" name="Group 25"/>
          <p:cNvGrpSpPr/>
          <p:nvPr/>
        </p:nvGrpSpPr>
        <p:grpSpPr>
          <a:xfrm>
            <a:off x="16352338" y="2454341"/>
            <a:ext cx="453167" cy="45316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4" name="Num 1"/>
          <p:cNvSpPr/>
          <p:nvPr/>
        </p:nvSpPr>
        <p:spPr>
          <a:xfrm>
            <a:off x="8953500" y="39370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5" name="Num 2"/>
          <p:cNvSpPr/>
          <p:nvPr/>
        </p:nvSpPr>
        <p:spPr>
          <a:xfrm>
            <a:off x="8953500" y="57912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6" name="Num 3"/>
          <p:cNvSpPr/>
          <p:nvPr/>
        </p:nvSpPr>
        <p:spPr>
          <a:xfrm>
            <a:off x="8953500" y="76454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652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100330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0108" name="Fig"/>
          <p:cNvPicPr>
            <a:picLocks noChangeAspect="1"/>
          </p:cNvPicPr>
          <p:nvPr/>
        </p:nvPicPr>
        <p:blipFill>
          <a:blip r:embed="rId6"/>
          <a:stretch>
            <a:fillRect/>
          </a:stretch>
        </p:blipFill>
        <p:spPr>
          <a:xfrm>
            <a:off x="1524000" y="2844800"/>
            <a:ext cx="15240000" cy="3378200"/>
          </a:xfrm>
          <a:prstGeom prst="rect">
            <a:avLst/>
          </a:prstGeom>
        </p:spPr>
      </p:pic>
      <p:sp>
        <p:nvSpPr>
          <p:cNvPr id="10103" name="T10103"/>
          <p:cNvSpPr txBox="1"/>
          <p:nvPr/>
        </p:nvSpPr>
        <p:spPr>
          <a:xfrm>
            <a:off x="1320800" y="6705600"/>
            <a:ext cx="4876800" cy="508000"/>
          </a:xfrm>
          <a:prstGeom prst="rect">
            <a:avLst/>
          </a:prstGeom>
          <a:noFill/>
        </p:spPr>
        <p:txBody>
          <a:bodyPr wrap="square" lIns="0" tIns="0" rIns="0" bIns="0">
            <a:noAutofit/>
          </a:bodyPr>
          <a:lstStyle/>
          <a:p>
            <a:pPr algn="l"/>
            <a:r>
              <a:rPr lang="vi-VN" sz="2200" b="1" dirty="0">
                <a:solidFill>
                  <a:srgbClr val="B05510"/>
                </a:solidFill>
                <a:latin typeface="Roboto"/>
                <a:cs typeface="Roboto"/>
              </a:rPr>
              <a:t>Block or recall</a:t>
            </a:r>
          </a:p>
        </p:txBody>
      </p:sp>
      <p:sp>
        <p:nvSpPr>
          <p:cNvPr id="10104" name="T10104"/>
          <p:cNvSpPr txBox="1"/>
          <p:nvPr/>
        </p:nvSpPr>
        <p:spPr>
          <a:xfrm>
            <a:off x="1320800" y="7340600"/>
            <a:ext cx="4876800" cy="2667000"/>
          </a:xfrm>
          <a:prstGeom prst="rect">
            <a:avLst/>
          </a:prstGeom>
          <a:noFill/>
        </p:spPr>
        <p:txBody>
          <a:bodyPr wrap="square" lIns="0" tIns="0" rIns="0" bIns="0">
            <a:noAutofit/>
          </a:bodyPr>
          <a:lstStyle/>
          <a:p>
            <a:pPr algn="l"/>
            <a:r>
              <a:rPr lang="vi-VN" sz="1900" b="0" dirty="0">
                <a:solidFill>
                  <a:srgbClr val="B05510"/>
                </a:solidFill>
                <a:latin typeface="Roboto"/>
                <a:cs typeface="Roboto"/>
              </a:rPr>
              <a:t>When a lane stops being safe, the system reads how much of the path has already been granted to the vehicle. If it is already inside the lane, no further load is accepted; if not, the vehicle is called back out.</a:t>
            </a:r>
          </a:p>
        </p:txBody>
      </p:sp>
      <p:sp>
        <p:nvSpPr>
          <p:cNvPr id="10105" name="T10105"/>
          <p:cNvSpPr txBox="1"/>
          <p:nvPr/>
        </p:nvSpPr>
        <p:spPr>
          <a:xfrm>
            <a:off x="6604000" y="6705600"/>
            <a:ext cx="4876800" cy="508000"/>
          </a:xfrm>
          <a:prstGeom prst="rect">
            <a:avLst/>
          </a:prstGeom>
          <a:noFill/>
        </p:spPr>
        <p:txBody>
          <a:bodyPr wrap="square" lIns="0" tIns="0" rIns="0" bIns="0">
            <a:noAutofit/>
          </a:bodyPr>
          <a:lstStyle/>
          <a:p>
            <a:pPr algn="l"/>
            <a:r>
              <a:rPr lang="vi-VN" sz="2200" b="1" dirty="0">
                <a:solidFill>
                  <a:srgbClr val="B05510"/>
                </a:solidFill>
                <a:latin typeface="Roboto"/>
                <a:cs typeface="Roboto"/>
              </a:rPr>
              <a:t>Lost localisation</a:t>
            </a:r>
          </a:p>
        </p:txBody>
      </p:sp>
      <p:sp>
        <p:nvSpPr>
          <p:cNvPr id="10106" name="T10106"/>
          <p:cNvSpPr txBox="1"/>
          <p:nvPr/>
        </p:nvSpPr>
        <p:spPr>
          <a:xfrm>
            <a:off x="6604000" y="7340600"/>
            <a:ext cx="4876800" cy="2667000"/>
          </a:xfrm>
          <a:prstGeom prst="rect">
            <a:avLst/>
          </a:prstGeom>
          <a:noFill/>
        </p:spPr>
        <p:txBody>
          <a:bodyPr wrap="square" lIns="0" tIns="0" rIns="0" bIns="0">
            <a:noAutofit/>
          </a:bodyPr>
          <a:lstStyle/>
          <a:p>
            <a:pPr algn="l"/>
            <a:r>
              <a:rPr lang="vi-VN" sz="1900" b="0" dirty="0">
                <a:solidFill>
                  <a:srgbClr val="B05510"/>
                </a:solidFill>
                <a:latin typeface="Roboto"/>
                <a:cs typeface="Roboto"/>
              </a:rPr>
              <a:t>Recovery is per leg: still on the way to pick up, hand the job to another vehicle; entering the lane, reissue; already unloaded, reissue only the retreat. The load is never dropped twice.</a:t>
            </a:r>
          </a:p>
        </p:txBody>
      </p:sp>
      <p:sp>
        <p:nvSpPr>
          <p:cNvPr id="10107" name="T10107"/>
          <p:cNvSpPr txBox="1"/>
          <p:nvPr/>
        </p:nvSpPr>
        <p:spPr>
          <a:xfrm>
            <a:off x="11887200" y="6705600"/>
            <a:ext cx="4876800" cy="508000"/>
          </a:xfrm>
          <a:prstGeom prst="rect">
            <a:avLst/>
          </a:prstGeom>
          <a:noFill/>
        </p:spPr>
        <p:txBody>
          <a:bodyPr wrap="square" lIns="0" tIns="0" rIns="0" bIns="0">
            <a:noAutofit/>
          </a:bodyPr>
          <a:lstStyle/>
          <a:p>
            <a:pPr algn="l"/>
            <a:r>
              <a:rPr lang="vi-VN" sz="2200" b="1" dirty="0">
                <a:solidFill>
                  <a:srgbClr val="B05510"/>
                </a:solidFill>
                <a:latin typeface="Roboto"/>
                <a:cs typeface="Roboto"/>
              </a:rPr>
              <a:t>Continuous reconciliation</a:t>
            </a:r>
          </a:p>
        </p:txBody>
      </p:sp>
      <p:sp>
        <p:nvSpPr>
          <p:cNvPr id="10" name="T10108"/>
          <p:cNvSpPr txBox="1"/>
          <p:nvPr/>
        </p:nvSpPr>
        <p:spPr>
          <a:xfrm>
            <a:off x="11887200" y="7340600"/>
            <a:ext cx="4876800" cy="2667000"/>
          </a:xfrm>
          <a:prstGeom prst="rect">
            <a:avLst/>
          </a:prstGeom>
          <a:noFill/>
        </p:spPr>
        <p:txBody>
          <a:bodyPr wrap="square" lIns="0" tIns="0" rIns="0" bIns="0">
            <a:noAutofit/>
          </a:bodyPr>
          <a:lstStyle/>
          <a:p>
            <a:pPr algn="l"/>
            <a:r>
              <a:rPr lang="vi-VN" sz="1900" b="0" dirty="0">
                <a:solidFill>
                  <a:srgbClr val="B05510"/>
                </a:solidFill>
                <a:latin typeface="Roboto"/>
                <a:cs typeface="Roboto"/>
              </a:rPr>
              <a:t>Correctness never depends on a single event. Every cycle rebuilds state from the layer below, so a lost notification heals itself on the next pass.</a:t>
            </a:r>
          </a:p>
        </p:txBody>
      </p:sp>
      <p:sp>
        <p:nvSpPr>
          <p:cNvPr id="10101" name="T10101"/>
          <p:cNvSpPr txBox="1"/>
          <p:nvPr/>
        </p:nvSpPr>
        <p:spPr>
          <a:xfrm>
            <a:off x="2540000" y="889000"/>
            <a:ext cx="13208000" cy="1651000"/>
          </a:xfrm>
          <a:prstGeom prst="rect">
            <a:avLst/>
          </a:prstGeom>
          <a:noFill/>
        </p:spPr>
        <p:txBody>
          <a:bodyPr wrap="square" lIns="0" tIns="0" rIns="0" bIns="0">
            <a:noAutofit/>
          </a:bodyPr>
          <a:lstStyle/>
          <a:p>
            <a:pPr algn="ctr"/>
            <a:r>
              <a:rPr lang="vi-VN" sz="4400" b="1" dirty="0">
                <a:solidFill>
                  <a:srgbClr val="B05510"/>
                </a:solidFill>
                <a:latin typeface="Roboto"/>
                <a:cs typeface="Roboto"/>
              </a:rPr>
              <a:t>SYSTEM ARCHITECTURE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9437183" y="1283683"/>
            <a:ext cx="8690077" cy="86900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1581441">
            <a:off x="13985738" y="6869137"/>
            <a:ext cx="5875218" cy="5323725"/>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8915006" y="2077408"/>
            <a:ext cx="8906532" cy="7180892"/>
          </a:xfrm>
          <a:custGeom>
            <a:avLst/>
            <a:gdLst/>
            <a:ahLst/>
            <a:cxnLst/>
            <a:rect l="l" t="t" r="r" b="b"/>
            <a:pathLst>
              <a:path w="8906532" h="7180892">
                <a:moveTo>
                  <a:pt x="0" y="0"/>
                </a:moveTo>
                <a:lnTo>
                  <a:pt x="8906532" y="0"/>
                </a:lnTo>
                <a:lnTo>
                  <a:pt x="8906532" y="7180892"/>
                </a:lnTo>
                <a:lnTo>
                  <a:pt x="0" y="7180892"/>
                </a:lnTo>
                <a:lnTo>
                  <a:pt x="0" y="0"/>
                </a:lnTo>
                <a:close/>
              </a:path>
            </a:pathLst>
          </a:custGeom>
          <a:blipFill>
            <a:blip r:embed="rId6"/>
            <a:stretch>
              <a:fillRect/>
            </a:stretch>
          </a:blipFill>
        </p:spPr>
      </p:sp>
      <p:sp>
        <p:nvSpPr>
          <p:cNvPr id="14" name="TextBox 14"/>
          <p:cNvSpPr txBox="1"/>
          <p:nvPr/>
        </p:nvSpPr>
        <p:spPr>
          <a:xfrm>
            <a:off x="1016923" y="1563426"/>
            <a:ext cx="8420260" cy="2157095"/>
          </a:xfrm>
          <a:prstGeom prst="rect">
            <a:avLst/>
          </a:prstGeom>
        </p:spPr>
        <p:txBody>
          <a:bodyPr lIns="0" tIns="0" rIns="0" bIns="0" rtlCol="0" anchor="t">
            <a:spAutoFit/>
          </a:bodyPr>
          <a:lstStyle/>
          <a:p>
            <a:pPr algn="l">
              <a:lnSpc>
                <a:spcPts val="8680"/>
              </a:lnSpc>
              <a:spcBef>
                <a:spcPct val="0"/>
              </a:spcBef>
            </a:pPr>
            <a:r>
              <a:rPr lang="en-US" sz="4800" b="1" spc="-124">
                <a:solidFill>
                  <a:srgbClr val="B05510"/>
                </a:solidFill>
                <a:latin typeface="Roboto"/>
                <a:ea typeface="Roboto"/>
                <a:cs typeface="Roboto"/>
                <a:sym typeface="Gordita Bold"/>
              </a:rPr>
              <a:t>THE LIFE OF ONE TRANSPORT REQUEST</a:t>
            </a:r>
          </a:p>
        </p:txBody>
      </p:sp>
      <p:sp>
        <p:nvSpPr>
          <p:cNvPr id="15" name="TextBox 15"/>
          <p:cNvSpPr txBox="1"/>
          <p:nvPr/>
        </p:nvSpPr>
        <p:spPr>
          <a:xfrm>
            <a:off x="1016923" y="4081734"/>
            <a:ext cx="7429375" cy="1676400"/>
          </a:xfrm>
          <a:prstGeom prst="rect">
            <a:avLst/>
          </a:prstGeom>
        </p:spPr>
        <p:txBody>
          <a:bodyPr lIns="0" tIns="0" rIns="0" bIns="0" rtlCol="0" anchor="t">
            <a:spAutoFit/>
          </a:bodyPr>
          <a:lstStyle/>
          <a:p>
            <a:pPr algn="l">
              <a:lnSpc>
                <a:spcPts val="3079"/>
              </a:lnSpc>
              <a:spcBef>
                <a:spcPct val="0"/>
              </a:spcBef>
            </a:pPr>
            <a:r>
              <a:rPr lang="en-US" sz="2199" spc="0">
                <a:solidFill>
                  <a:srgbClr val="B05510"/>
                </a:solidFill>
                <a:latin typeface="Roboto"/>
                <a:ea typeface="Roboto"/>
                <a:cs typeface="Roboto"/>
                <a:sym typeface="Pier Sans Light"/>
              </a:rPr>
              <a:t>The minimum input is just two things: where the load is now, and which area it must reach. WES splits that request into three legs, and each leg ends at a real business milestone.</a:t>
            </a:r>
          </a:p>
        </p:txBody>
      </p:sp>
      <p:sp>
        <p:nvSpPr>
          <p:cNvPr id="16" name="TextBox 16"/>
          <p:cNvSpPr txBox="1"/>
          <p:nvPr/>
        </p:nvSpPr>
        <p:spPr>
          <a:xfrm>
            <a:off x="1748650" y="6078674"/>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Drive to the pickup point and lift the load.</a:t>
            </a:r>
          </a:p>
        </p:txBody>
      </p:sp>
      <p:sp>
        <p:nvSpPr>
          <p:cNvPr id="17" name="TextBox 17"/>
          <p:cNvSpPr txBox="1"/>
          <p:nvPr/>
        </p:nvSpPr>
        <p:spPr>
          <a:xfrm>
            <a:off x="1748650" y="679565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Move to the head of the drop-off lane.</a:t>
            </a:r>
          </a:p>
        </p:txBody>
      </p:sp>
      <p:sp>
        <p:nvSpPr>
          <p:cNvPr id="18" name="TextBox 18"/>
          <p:cNvSpPr txBox="1"/>
          <p:nvPr/>
        </p:nvSpPr>
        <p:spPr>
          <a:xfrm>
            <a:off x="1748650" y="7509441"/>
            <a:ext cx="6937756" cy="3493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Set the load down, then back out of the cell.</a:t>
            </a:r>
          </a:p>
        </p:txBody>
      </p:sp>
      <p:grpSp>
        <p:nvGrpSpPr>
          <p:cNvPr id="19" name="Group 19"/>
          <p:cNvGrpSpPr/>
          <p:nvPr/>
        </p:nvGrpSpPr>
        <p:grpSpPr>
          <a:xfrm>
            <a:off x="7779631" y="-1845432"/>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10599" y="7472249"/>
            <a:ext cx="453167" cy="45316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48537" y="2355348"/>
            <a:ext cx="697075" cy="69707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7779631" y="8754091"/>
            <a:ext cx="776908" cy="77690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007" name="Num 1"/>
          <p:cNvSpPr/>
          <p:nvPr/>
        </p:nvSpPr>
        <p:spPr>
          <a:xfrm>
            <a:off x="1016000" y="60198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1</a:t>
            </a:r>
          </a:p>
        </p:txBody>
      </p:sp>
      <p:sp>
        <p:nvSpPr>
          <p:cNvPr id="9008" name="Num 2"/>
          <p:cNvSpPr/>
          <p:nvPr/>
        </p:nvSpPr>
        <p:spPr>
          <a:xfrm>
            <a:off x="1016000" y="67437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2</a:t>
            </a:r>
          </a:p>
        </p:txBody>
      </p:sp>
      <p:sp>
        <p:nvSpPr>
          <p:cNvPr id="9009" name="Num 3"/>
          <p:cNvSpPr/>
          <p:nvPr/>
        </p:nvSpPr>
        <p:spPr>
          <a:xfrm>
            <a:off x="1016000" y="7454900"/>
            <a:ext cx="508000" cy="508000"/>
          </a:xfrm>
          <a:prstGeom prst="ellipse">
            <a:avLst/>
          </a:prstGeom>
          <a:solidFill>
            <a:srgbClr val="B05510"/>
          </a:solidFill>
          <a:ln>
            <a:noFill/>
          </a:ln>
        </p:spPr>
        <p:txBody>
          <a:bodyPr lIns="0" tIns="0" rIns="0" bIns="0" anchor="ctr"/>
          <a:lstStyle/>
          <a:p>
            <a:pPr algn="ctr"/>
            <a:r>
              <a:rPr lang="en-US" sz="1400" b="1" dirty="0">
                <a:solidFill>
                  <a:srgbClr val="FFFFFF"/>
                </a:solidFill>
                <a:latin typeface="Roboto"/>
                <a:cs typeface="Roboto"/>
              </a:rPr>
              <a:t>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329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6100" y="9245600"/>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THE RULES</a:t>
            </a:r>
          </a:p>
          <a:p>
            <a:pPr algn="ctr">
              <a:lnSpc>
                <a:spcPts val="8680"/>
              </a:lnSpc>
              <a:spcBef>
                <a:spcPct val="0"/>
              </a:spcBef>
            </a:pPr>
            <a:r>
              <a:rPr lang="en-US" sz="6200" b="1" spc="-124">
                <a:solidFill>
                  <a:srgbClr val="B05510"/>
                </a:solidFill>
                <a:latin typeface="Roboto"/>
                <a:ea typeface="Roboto"/>
                <a:cs typeface="Roboto"/>
                <a:sym typeface="Gordita Bold"/>
              </a:rPr>
              <a:t>OF THE WAREHOUSE</a:t>
            </a:r>
          </a:p>
        </p:txBody>
      </p:sp>
      <p:sp>
        <p:nvSpPr>
          <p:cNvPr id="32" name="TextBox 32"/>
          <p:cNvSpPr txBox="1"/>
          <p:nvPr/>
        </p:nvSpPr>
        <p:spPr>
          <a:xfrm>
            <a:off x="5842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Picking up</a:t>
            </a:r>
          </a:p>
        </p:txBody>
      </p:sp>
      <p:sp>
        <p:nvSpPr>
          <p:cNvPr id="33" name="TextBox 33"/>
          <p:cNvSpPr txBox="1"/>
          <p:nvPr/>
        </p:nvSpPr>
        <p:spPr>
          <a:xfrm>
            <a:off x="64770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Dropping off</a:t>
            </a:r>
          </a:p>
        </p:txBody>
      </p:sp>
      <p:sp>
        <p:nvSpPr>
          <p:cNvPr id="34" name="TextBox 34"/>
          <p:cNvSpPr txBox="1"/>
          <p:nvPr/>
        </p:nvSpPr>
        <p:spPr>
          <a:xfrm>
            <a:off x="12369800" y="6299200"/>
            <a:ext cx="5334000" cy="508000"/>
          </a:xfrm>
          <a:prstGeom prst="rect">
            <a:avLst/>
          </a:prstGeom>
        </p:spPr>
        <p:txBody>
          <a:bodyPr lIns="0" tIns="0" rIns="0" bIns="0" rtlCol="0" anchor="t">
            <a:spAutoFit/>
          </a:bodyPr>
          <a:lstStyle/>
          <a:p>
            <a:pPr algn="ctr">
              <a:lnSpc>
                <a:spcPts val="4200"/>
              </a:lnSpc>
              <a:spcBef>
                <a:spcPct val="0"/>
              </a:spcBef>
            </a:pPr>
            <a:r>
              <a:rPr lang="en-US" sz="3000" b="1" u="none" spc="0">
                <a:solidFill>
                  <a:srgbClr val="B05510"/>
                </a:solidFill>
                <a:latin typeface="Roboto"/>
                <a:ea typeface="Roboto"/>
                <a:cs typeface="Roboto"/>
                <a:sym typeface="Pier Sans Light Bold"/>
              </a:rPr>
              <a:t>Charge &amp; park</a:t>
            </a:r>
          </a:p>
        </p:txBody>
      </p:sp>
      <p:sp>
        <p:nvSpPr>
          <p:cNvPr id="35" name="TextBox 35"/>
          <p:cNvSpPr txBox="1"/>
          <p:nvPr/>
        </p:nvSpPr>
        <p:spPr>
          <a:xfrm>
            <a:off x="7112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Only the outermost load can be taken. Anything behind it waits until that one is gone.</a:t>
            </a:r>
          </a:p>
        </p:txBody>
      </p:sp>
      <p:sp>
        <p:nvSpPr>
          <p:cNvPr id="36" name="TextBox 36"/>
          <p:cNvSpPr txBox="1"/>
          <p:nvPr/>
        </p:nvSpPr>
        <p:spPr>
          <a:xfrm>
            <a:off x="66040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Fill from the deepest cell outwards, so a later load never blocks an earlier one and the vehicle can still back out.</a:t>
            </a:r>
          </a:p>
        </p:txBody>
      </p:sp>
      <p:sp>
        <p:nvSpPr>
          <p:cNvPr id="37" name="TextBox 37"/>
          <p:cNvSpPr txBox="1"/>
          <p:nvPr/>
        </p:nvSpPr>
        <p:spPr>
          <a:xfrm>
            <a:off x="12496800" y="6959600"/>
            <a:ext cx="5080000" cy="1905000"/>
          </a:xfrm>
          <a:prstGeom prst="rect">
            <a:avLst/>
          </a:prstGeom>
        </p:spPr>
        <p:txBody>
          <a:bodyPr lIns="0" tIns="0" rIns="0" bIns="0" rtlCol="0" anchor="t">
            <a:spAutoFit/>
          </a:bodyPr>
          <a:lstStyle/>
          <a:p>
            <a:pPr algn="ctr">
              <a:lnSpc>
                <a:spcPts val="2800"/>
              </a:lnSpc>
              <a:spcBef>
                <a:spcPct val="0"/>
              </a:spcBef>
            </a:pPr>
            <a:r>
              <a:rPr lang="en-US" sz="2000" spc="0">
                <a:solidFill>
                  <a:srgbClr val="B05510"/>
                </a:solidFill>
                <a:latin typeface="Roboto"/>
                <a:ea typeface="Roboto"/>
                <a:cs typeface="Roboto"/>
                <a:sym typeface="Pier Sans Light"/>
              </a:rPr>
              <a:t>A full battery is not enough to leave the charger — there has to be work waiting. Charging outranks parking.</a:t>
            </a:r>
          </a:p>
        </p:txBody>
      </p:sp>
      <p:pic>
        <p:nvPicPr>
          <p:cNvPr id="9801" name="rule-pickup"/>
          <p:cNvPicPr>
            <a:picLocks noChangeAspect="1"/>
          </p:cNvPicPr>
          <p:nvPr/>
        </p:nvPicPr>
        <p:blipFill>
          <a:blip r:embed="rId6"/>
          <a:stretch>
            <a:fillRect/>
          </a:stretch>
        </p:blipFill>
        <p:spPr>
          <a:xfrm>
            <a:off x="584200" y="3327400"/>
            <a:ext cx="5334000" cy="2540000"/>
          </a:xfrm>
          <a:prstGeom prst="rect">
            <a:avLst/>
          </a:prstGeom>
        </p:spPr>
      </p:pic>
      <p:pic>
        <p:nvPicPr>
          <p:cNvPr id="9802" name="rule-dropoff"/>
          <p:cNvPicPr>
            <a:picLocks noChangeAspect="1"/>
          </p:cNvPicPr>
          <p:nvPr/>
        </p:nvPicPr>
        <p:blipFill>
          <a:blip r:embed="rId7"/>
          <a:stretch>
            <a:fillRect/>
          </a:stretch>
        </p:blipFill>
        <p:spPr>
          <a:xfrm>
            <a:off x="6477000" y="3327400"/>
            <a:ext cx="5334000" cy="2540000"/>
          </a:xfrm>
          <a:prstGeom prst="rect">
            <a:avLst/>
          </a:prstGeom>
        </p:spPr>
      </p:pic>
      <p:pic>
        <p:nvPicPr>
          <p:cNvPr id="9803" name="rule-battery"/>
          <p:cNvPicPr>
            <a:picLocks noChangeAspect="1"/>
          </p:cNvPicPr>
          <p:nvPr/>
        </p:nvPicPr>
        <p:blipFill>
          <a:blip r:embed="rId8"/>
          <a:stretch>
            <a:fillRect/>
          </a:stretch>
        </p:blipFill>
        <p:spPr>
          <a:xfrm>
            <a:off x="12369800" y="3327400"/>
            <a:ext cx="5334000" cy="25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42672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42672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42672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DISPATCH CYCLE</a:t>
            </a:r>
            <a:endParaRPr lang="en-US" sz="6200" b="1" spc="-124" dirty="0">
              <a:solidFill>
                <a:srgbClr val="B05510"/>
              </a:solidFill>
              <a:latin typeface="Roboto"/>
              <a:ea typeface="Roboto"/>
              <a:cs typeface="Roboto"/>
              <a:sym typeface="Gordita Bold"/>
            </a:endParaRPr>
          </a:p>
          <a:p>
            <a:pPr algn="ctr">
              <a:lnSpc>
                <a:spcPts val="8680"/>
              </a:lnSpc>
              <a:spcBef>
                <a:spcPct val="0"/>
              </a:spcBef>
            </a:pPr>
            <a:endParaRPr lang="en-US" sz="6200" b="1" spc="-124" dirty="0">
              <a:solidFill>
                <a:srgbClr val="B05510"/>
              </a:solidFill>
              <a:latin typeface="Roboto"/>
              <a:ea typeface="Roboto"/>
              <a:cs typeface="Roboto"/>
              <a:sym typeface="Gordita Bold"/>
            </a:endParaRP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Six steps, in order</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Only WES sees the loads</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The cell is chosen last</a:t>
            </a:r>
          </a:p>
        </p:txBody>
      </p:sp>
      <p:sp>
        <p:nvSpPr>
          <p:cNvPr id="35" name="TextBox 35"/>
          <p:cNvSpPr txBox="1"/>
          <p:nvPr/>
        </p:nvSpPr>
        <p:spPr>
          <a:xfrm>
            <a:off x="857526"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Rebuild the parking-claim ledger · reconcile legs in flight · decide which orders are cleared to run · assign vehicles · consider charging · consider parking. Sequential, coalesced on a 1.5-second beat, and never two cycles at once.</a:t>
            </a:r>
          </a:p>
        </p:txBody>
      </p:sp>
      <p:sp>
        <p:nvSpPr>
          <p:cNvPr id="36" name="TextBox 36"/>
          <p:cNvSpPr txBox="1"/>
          <p:nvPr/>
        </p:nvSpPr>
        <p:spPr>
          <a:xfrm>
            <a:off x="6799794"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The routing layer only sees a static map: it does not know which cell currently holds a load, which was just claimed, or which package is blocking another. Whatever knows those things has to be the business layer — that is why this layer exists.</a:t>
            </a:r>
          </a:p>
        </p:txBody>
      </p:sp>
      <p:sp>
        <p:nvSpPr>
          <p:cNvPr id="37" name="TextBox 37"/>
          <p:cNvSpPr txBox="1"/>
          <p:nvPr/>
        </p:nvSpPr>
        <p:spPr>
          <a:xfrm>
            <a:off x="12715813"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The exact drop-off cell cannot be decided when the order is created: between creation and arrival, other vehicles keep filling that area. It is committed just before the vehicle enters the lane, and locked per area so two vehicles never aim at the same one.</a:t>
            </a:r>
          </a:p>
        </p:txBody>
      </p:sp>
      <p:sp>
        <p:nvSpPr>
          <p:cNvPr id="10101" name="T10101"/>
          <p:cNvSpPr txBox="1"/>
          <p:nvPr/>
        </p:nvSpPr>
        <p:spPr>
          <a:xfrm>
            <a:off x="1320800" y="8229600"/>
            <a:ext cx="15646400" cy="762000"/>
          </a:xfrm>
          <a:prstGeom prst="rect">
            <a:avLst/>
          </a:prstGeom>
          <a:noFill/>
        </p:spPr>
        <p:txBody>
          <a:bodyPr wrap="square" lIns="0" tIns="0" rIns="0" bIns="0">
            <a:noAutofit/>
          </a:bodyPr>
          <a:lstStyle/>
          <a:p>
            <a:pPr algn="ctr"/>
            <a:r>
              <a:rPr lang="vi-VN" sz="2000" b="1" dirty="0">
                <a:solidFill>
                  <a:srgbClr val="B05510"/>
                </a:solidFill>
                <a:latin typeface="Roboto"/>
                <a:cs typeface="Roboto"/>
              </a:rPr>
              <a:t>The two algorithms that follow only work once these six steps are right.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41910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41910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41910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THE ASSIGNMENT PROBLEM</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Two questions, kept apart</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The cost matrix</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Three kinds of cell</a:t>
            </a:r>
          </a:p>
        </p:txBody>
      </p:sp>
      <p:sp>
        <p:nvSpPr>
          <p:cNvPr id="35" name="TextBox 35"/>
          <p:cNvSpPr txBox="1"/>
          <p:nvPr/>
        </p:nvSpPr>
        <p:spPr>
          <a:xfrm>
            <a:off x="857526" y="5080000"/>
            <a:ext cx="4713683" cy="3429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Is this order cleared to run at all — answered by the layered pickup rule; if not, it sits in a blocked state with the reason recorded. Among the orders that are cleared, which vehicle takes which — that is the assignment problem.</a:t>
            </a:r>
          </a:p>
        </p:txBody>
      </p:sp>
      <p:sp>
        <p:nvSpPr>
          <p:cNvPr id="36" name="TextBox 36"/>
          <p:cNvSpPr txBox="1"/>
          <p:nvPr/>
        </p:nvSpPr>
        <p:spPr>
          <a:xfrm>
            <a:off x="6799794" y="5080000"/>
            <a:ext cx="4713683" cy="3429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Each cycle builds a matrix with as many orders as there are idle vehicles. A cell holds the empty distance the vehicle must drive to the pickup point, multiplied by that vehicle’s own battery factor. Distance is measured on the real map, not as the crow flies.</a:t>
            </a:r>
          </a:p>
        </p:txBody>
      </p:sp>
      <p:sp>
        <p:nvSpPr>
          <p:cNvPr id="37" name="TextBox 37"/>
          <p:cNvSpPr txBox="1"/>
          <p:nvPr/>
        </p:nvSpPr>
        <p:spPr>
          <a:xfrm>
            <a:off x="12715813" y="5080000"/>
            <a:ext cx="4713683" cy="34290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Matchable, route unknown, and unreachable. Ordered lexicographically: maximise matched pairs first, then minimise unknown ones, and only then minimise total distance.</a:t>
            </a:r>
          </a:p>
        </p:txBody>
      </p:sp>
      <p:sp>
        <p:nvSpPr>
          <p:cNvPr id="9901" name="Cap 9901"/>
          <p:cNvSpPr txBox="1"/>
          <p:nvPr/>
        </p:nvSpPr>
        <p:spPr>
          <a:xfrm>
            <a:off x="1320800" y="8204200"/>
            <a:ext cx="15646400" cy="762000"/>
          </a:xfrm>
          <a:prstGeom prst="rect">
            <a:avLst/>
          </a:prstGeom>
          <a:noFill/>
        </p:spPr>
        <p:txBody>
          <a:bodyPr wrap="square" lIns="0" tIns="0" rIns="0" bIns="0">
            <a:noAutofit/>
          </a:bodyPr>
          <a:lstStyle/>
          <a:p>
            <a:pPr algn="ctr"/>
            <a:r>
              <a:rPr lang="vi-VN" sz="1900" b="1" dirty="0">
                <a:solidFill>
                  <a:srgbClr val="B05510"/>
                </a:solidFill>
                <a:latin typeface="Roboto"/>
                <a:cs typeface="Roboto"/>
              </a:rPr>
              <a:t>Cost is a product, not a sum — that is what makes each vehicle’s own battery factor bite.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652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100330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THE HUNGARIAN ALGORITHM</a:t>
            </a:r>
          </a:p>
        </p:txBody>
      </p:sp>
      <p:pic>
        <p:nvPicPr>
          <p:cNvPr id="10101" name="Fig"/>
          <p:cNvPicPr>
            <a:picLocks noChangeAspect="1"/>
          </p:cNvPicPr>
          <p:nvPr/>
        </p:nvPicPr>
        <p:blipFill>
          <a:blip r:embed="rId6"/>
          <a:stretch>
            <a:fillRect/>
          </a:stretch>
        </p:blipFill>
        <p:spPr>
          <a:xfrm>
            <a:off x="939800" y="3327400"/>
            <a:ext cx="7620000" cy="5080000"/>
          </a:xfrm>
          <a:prstGeom prst="rect">
            <a:avLst/>
          </a:prstGeom>
        </p:spPr>
      </p:pic>
      <p:sp>
        <p:nvSpPr>
          <p:cNvPr id="10102" name="T10102"/>
          <p:cNvSpPr txBox="1"/>
          <p:nvPr/>
        </p:nvSpPr>
        <p:spPr>
          <a:xfrm>
            <a:off x="9220200" y="3276600"/>
            <a:ext cx="7874000" cy="762000"/>
          </a:xfrm>
          <a:prstGeom prst="rect">
            <a:avLst/>
          </a:prstGeom>
          <a:noFill/>
        </p:spPr>
        <p:txBody>
          <a:bodyPr wrap="square" lIns="0" tIns="0" rIns="0" bIns="0">
            <a:noAutofit/>
          </a:bodyPr>
          <a:lstStyle/>
          <a:p>
            <a:pPr algn="l"/>
            <a:r>
              <a:rPr lang="vi-VN" sz="2000" b="1" dirty="0">
                <a:solidFill>
                  <a:srgbClr val="B05510"/>
                </a:solidFill>
                <a:latin typeface="Roboto"/>
                <a:cs typeface="Roboto"/>
              </a:rPr>
              <a:t>Greedy decides one order at a time and cannot take it back.</a:t>
            </a:r>
          </a:p>
        </p:txBody>
      </p:sp>
      <p:sp>
        <p:nvSpPr>
          <p:cNvPr id="10103" name="T10103"/>
          <p:cNvSpPr txBox="1"/>
          <p:nvPr/>
        </p:nvSpPr>
        <p:spPr>
          <a:xfrm>
            <a:off x="9220200" y="4191000"/>
            <a:ext cx="7874000" cy="4318000"/>
          </a:xfrm>
          <a:prstGeom prst="rect">
            <a:avLst/>
          </a:prstGeom>
          <a:noFill/>
        </p:spPr>
        <p:txBody>
          <a:bodyPr wrap="square" lIns="0" tIns="0" rIns="0" bIns="0">
            <a:noAutofit/>
          </a:bodyPr>
          <a:lstStyle/>
          <a:p>
            <a:pPr algn="l"/>
            <a:r>
              <a:rPr lang="vi-VN" sz="1900" b="0" dirty="0">
                <a:solidFill>
                  <a:srgbClr val="B05510"/>
                </a:solidFill>
                <a:latin typeface="Roboto"/>
                <a:cs typeface="Roboto"/>
              </a:rPr>
              <a:t>The Hungarian algorithm solves minimum-cost one-to-one matching optimally across the whole batch, in polynomial time. For a fleet of a few dozen it runs in under a millisecond.</a:t>
            </a:r>
          </a:p>
          <a:p>
            <a:pPr algn="l"/>
            <a:endParaRPr lang="vi-VN" sz="1900" b="0" dirty="0">
              <a:solidFill>
                <a:srgbClr val="B05510"/>
              </a:solidFill>
              <a:latin typeface="Roboto"/>
              <a:cs typeface="Roboto"/>
            </a:endParaRPr>
          </a:p>
          <a:p>
            <a:pPr algn="l"/>
            <a:r>
              <a:rPr lang="vi-VN" sz="1900" b="0" dirty="0">
                <a:solidFill>
                  <a:srgbClr val="B05510"/>
                </a:solidFill>
                <a:latin typeface="Roboto"/>
                <a:cs typeface="Roboto"/>
              </a:rPr>
              <a:t>Two properties matter as much as optimality: the same input must give the same result, and the result must not depend on how fast the machine is.</a:t>
            </a:r>
          </a:p>
          <a:p>
            <a:pPr algn="l"/>
            <a:endParaRPr lang="vi-VN" sz="1900" b="0" dirty="0">
              <a:solidFill>
                <a:srgbClr val="B05510"/>
              </a:solidFill>
              <a:latin typeface="Roboto"/>
              <a:cs typeface="Roboto"/>
            </a:endParaRPr>
          </a:p>
          <a:p>
            <a:pPr algn="l"/>
            <a:r>
              <a:rPr lang="vi-VN" sz="1900" b="0" dirty="0">
                <a:solidFill>
                  <a:srgbClr val="B05510"/>
                </a:solidFill>
                <a:latin typeface="Roboto"/>
                <a:cs typeface="Roboto"/>
              </a:rPr>
              <a:t>Every cycle solves both matchings on the same matrix: the system executes one and records what the other would have chosen, so any decision can be traced back.</a:t>
            </a:r>
          </a:p>
        </p:txBody>
      </p:sp>
      <p:sp>
        <p:nvSpPr>
          <p:cNvPr id="10104" name="T10104"/>
          <p:cNvSpPr txBox="1"/>
          <p:nvPr/>
        </p:nvSpPr>
        <p:spPr>
          <a:xfrm>
            <a:off x="1320800" y="8890000"/>
            <a:ext cx="15646400" cy="711200"/>
          </a:xfrm>
          <a:prstGeom prst="rect">
            <a:avLst/>
          </a:prstGeom>
          <a:noFill/>
        </p:spPr>
        <p:txBody>
          <a:bodyPr wrap="square" lIns="0" tIns="0" rIns="0" bIns="0">
            <a:noAutofit/>
          </a:bodyPr>
          <a:lstStyle/>
          <a:p>
            <a:pPr algn="ctr"/>
            <a:r>
              <a:rPr lang="vi-VN" sz="2000" b="1" dirty="0">
                <a:solidFill>
                  <a:srgbClr val="B05510"/>
                </a:solidFill>
                <a:latin typeface="Roboto"/>
                <a:cs typeface="Roboto"/>
              </a:rPr>
              <a:t>Optimal matching looks at the whole batch at once, so a cheap first choice never spoils a later order.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652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100330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2540000" y="892487"/>
            <a:ext cx="13208000" cy="2157095"/>
          </a:xfrm>
          <a:prstGeom prst="rect">
            <a:avLst/>
          </a:prstGeom>
        </p:spPr>
        <p:txBody>
          <a:bodyPr lIns="0" tIns="0" rIns="0" bIns="0" rtlCol="0" anchor="t">
            <a:spAutoFit/>
          </a:bodyPr>
          <a:lstStyle/>
          <a:p>
            <a:pPr algn="ctr">
              <a:lnSpc>
                <a:spcPts val="8680"/>
              </a:lnSpc>
              <a:spcBef>
                <a:spcPct val="0"/>
              </a:spcBef>
            </a:pPr>
            <a:r>
              <a:rPr lang="en-US" sz="4400" b="1" spc="-124">
                <a:solidFill>
                  <a:srgbClr val="B05510"/>
                </a:solidFill>
                <a:latin typeface="Roboto"/>
                <a:ea typeface="Roboto"/>
                <a:cs typeface="Roboto"/>
                <a:sym typeface="Gordita Bold"/>
              </a:rPr>
              <a:t>WHY NOT SHORTEST PATH</a:t>
            </a:r>
          </a:p>
          <a:p>
            <a:pPr algn="ctr">
              <a:lnSpc>
                <a:spcPts val="8680"/>
              </a:lnSpc>
              <a:spcBef>
                <a:spcPct val="0"/>
              </a:spcBef>
            </a:pPr>
            <a:r>
              <a:rPr lang="en-US" sz="4400" b="1" spc="-124">
                <a:solidFill>
                  <a:srgbClr val="B05510"/>
                </a:solidFill>
                <a:latin typeface="Roboto"/>
                <a:ea typeface="Roboto"/>
                <a:cs typeface="Roboto"/>
                <a:sym typeface="Gordita Bold"/>
              </a:rPr>
              <a:t>PER VEHICLE</a:t>
            </a:r>
          </a:p>
        </p:txBody>
      </p:sp>
      <p:sp>
        <p:nvSpPr>
          <p:cNvPr id="10106" name="T10106"/>
          <p:cNvSpPr txBox="1"/>
          <p:nvPr/>
        </p:nvSpPr>
        <p:spPr>
          <a:xfrm>
            <a:off x="9271000" y="3403600"/>
            <a:ext cx="7874000" cy="812800"/>
          </a:xfrm>
          <a:prstGeom prst="rect">
            <a:avLst/>
          </a:prstGeom>
          <a:noFill/>
        </p:spPr>
        <p:txBody>
          <a:bodyPr wrap="square" lIns="0" tIns="0" rIns="0" bIns="0">
            <a:noAutofit/>
          </a:bodyPr>
          <a:lstStyle/>
          <a:p>
            <a:pPr algn="l"/>
            <a:r>
              <a:rPr lang="vi-VN" sz="2000" b="1" dirty="0">
                <a:solidFill>
                  <a:srgbClr val="B05510"/>
                </a:solidFill>
                <a:latin typeface="Roboto"/>
                <a:cs typeface="Roboto"/>
              </a:rPr>
              <a:t>Dijkstra answers beautifully for one vehicle: the shortest way from here to there.</a:t>
            </a:r>
          </a:p>
        </p:txBody>
      </p:sp>
      <p:sp>
        <p:nvSpPr>
          <p:cNvPr id="10107" name="T10107"/>
          <p:cNvSpPr txBox="1"/>
          <p:nvPr/>
        </p:nvSpPr>
        <p:spPr>
          <a:xfrm>
            <a:off x="9271000" y="4470400"/>
            <a:ext cx="7874000" cy="5334000"/>
          </a:xfrm>
          <a:prstGeom prst="rect">
            <a:avLst/>
          </a:prstGeom>
          <a:noFill/>
        </p:spPr>
        <p:txBody>
          <a:bodyPr wrap="square" lIns="0" tIns="0" rIns="0" bIns="0">
            <a:noAutofit/>
          </a:bodyPr>
          <a:lstStyle/>
          <a:p>
            <a:pPr algn="l"/>
            <a:r>
              <a:rPr lang="vi-VN" sz="1900" b="0" dirty="0">
                <a:solidFill>
                  <a:srgbClr val="B05510"/>
                </a:solidFill>
                <a:latin typeface="Roboto"/>
                <a:cs typeface="Roboto"/>
              </a:rPr>
              <a:t>But it is called separately for each vehicle, and no call knows about the others. Every vehicle aims for the shortest path, so every vehicle pours into the same corridor.</a:t>
            </a:r>
          </a:p>
          <a:p>
            <a:pPr algn="l"/>
            <a:endParaRPr lang="vi-VN" sz="1900" b="0" dirty="0">
              <a:solidFill>
                <a:srgbClr val="B05510"/>
              </a:solidFill>
              <a:latin typeface="Roboto"/>
              <a:cs typeface="Roboto"/>
            </a:endParaRPr>
          </a:p>
          <a:p>
            <a:pPr algn="l"/>
            <a:r>
              <a:rPr lang="vi-VN" sz="1900" b="0" dirty="0">
                <a:solidFill>
                  <a:srgbClr val="B05510"/>
                </a:solidFill>
                <a:latin typeface="Roboto"/>
                <a:cs typeface="Roboto"/>
              </a:rPr>
              <a:t>The result is local gridlock: vehicles queue at the mouth of a lane — and a storage lane is where the map splits in two, so there is no way around.</a:t>
            </a:r>
          </a:p>
          <a:p>
            <a:pPr algn="l"/>
            <a:endParaRPr lang="vi-VN" sz="1900" b="0" dirty="0">
              <a:solidFill>
                <a:srgbClr val="B05510"/>
              </a:solidFill>
              <a:latin typeface="Roboto"/>
              <a:cs typeface="Roboto"/>
            </a:endParaRPr>
          </a:p>
          <a:p>
            <a:pPr algn="l"/>
            <a:r>
              <a:rPr lang="vi-VN" sz="1900" b="0" dirty="0">
                <a:solidFill>
                  <a:srgbClr val="B05510"/>
                </a:solidFill>
                <a:latin typeface="Roboto"/>
                <a:cs typeface="Roboto"/>
              </a:rPr>
              <a:t>Once the queue closes into a ring of mutual waiting, no vehicle has broken a rule and no vehicle can get out on its own.</a:t>
            </a:r>
          </a:p>
        </p:txBody>
      </p:sp>
      <p:pic>
        <p:nvPicPr>
          <p:cNvPr id="10101" name="Fig"/>
          <p:cNvPicPr>
            <a:picLocks noChangeAspect="1"/>
          </p:cNvPicPr>
          <p:nvPr/>
        </p:nvPicPr>
        <p:blipFill>
          <a:blip r:embed="rId6"/>
          <a:stretch>
            <a:fillRect/>
          </a:stretch>
        </p:blipFill>
        <p:spPr>
          <a:xfrm>
            <a:off x="1041400" y="3429000"/>
            <a:ext cx="7620000" cy="6553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42672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42672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42672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4400" b="1" spc="-124">
                <a:solidFill>
                  <a:srgbClr val="B05510"/>
                </a:solidFill>
                <a:latin typeface="Roboto"/>
                <a:ea typeface="Roboto"/>
                <a:cs typeface="Roboto"/>
                <a:sym typeface="Gordita Bold"/>
              </a:rPr>
              <a:t>THE COORDINATION SOLVER:</a:t>
            </a:r>
          </a:p>
          <a:p>
            <a:pPr algn="ctr">
              <a:lnSpc>
                <a:spcPts val="8680"/>
              </a:lnSpc>
              <a:spcBef>
                <a:spcPct val="0"/>
              </a:spcBef>
            </a:pPr>
            <a:r>
              <a:rPr lang="en-US" sz="4400" b="1" spc="-124">
                <a:solidFill>
                  <a:srgbClr val="B05510"/>
                </a:solidFill>
                <a:latin typeface="Roboto"/>
                <a:ea typeface="Roboto"/>
                <a:cs typeface="Roboto"/>
                <a:sym typeface="Gordita Bold"/>
              </a:rPr>
              <a:t>PIBT · LaCAM · ADG</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PIBT — pushing</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LaCAM — search tree</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ADG — execution order</a:t>
            </a:r>
          </a:p>
        </p:txBody>
      </p:sp>
      <p:sp>
        <p:nvSpPr>
          <p:cNvPr id="35" name="TextBox 35"/>
          <p:cNvSpPr txBox="1"/>
          <p:nvPr/>
        </p:nvSpPr>
        <p:spPr>
          <a:xfrm>
            <a:off x="857526"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At each step the higher-priority vehicle picks its cell first; a vehicle that loses its spot inherits priority and pushes the blocker aside. Very fast and it scales, but on its own it gives no guarantee of finding a solution when things get tangled.</a:t>
            </a:r>
          </a:p>
        </p:txBody>
      </p:sp>
      <p:sp>
        <p:nvSpPr>
          <p:cNvPr id="36" name="TextBox 36"/>
          <p:cNvSpPr txBox="1"/>
          <p:nvPr/>
        </p:nvSpPr>
        <p:spPr>
          <a:xfrm>
            <a:off x="6799794"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Wraps PIBT in a search tree whose nodes are whole-fleet configurations. PIBT proposes the next move and constraints are added only when genuinely needed, which keeps the speed without losing solutions.</a:t>
            </a:r>
          </a:p>
        </p:txBody>
      </p:sp>
      <p:sp>
        <p:nvSpPr>
          <p:cNvPr id="37" name="TextBox 37"/>
          <p:cNvSpPr txBox="1"/>
          <p:nvPr/>
        </p:nvSpPr>
        <p:spPr>
          <a:xfrm>
            <a:off x="12715813"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The plan becomes a set of ordering relations: a vehicle may only continue once the one ahead has cleared a given point. That graph is what gets enforced while the vehicles are actually moving, by refusing cells to anyone arriving early.</a:t>
            </a:r>
          </a:p>
        </p:txBody>
      </p:sp>
      <p:sp>
        <p:nvSpPr>
          <p:cNvPr id="10101" name="T10101"/>
          <p:cNvSpPr txBox="1"/>
          <p:nvPr/>
        </p:nvSpPr>
        <p:spPr>
          <a:xfrm>
            <a:off x="1320800" y="8483600"/>
            <a:ext cx="15646400" cy="762000"/>
          </a:xfrm>
          <a:prstGeom prst="rect">
            <a:avLst/>
          </a:prstGeom>
          <a:noFill/>
        </p:spPr>
        <p:txBody>
          <a:bodyPr wrap="square" lIns="0" tIns="0" rIns="0" bIns="0">
            <a:noAutofit/>
          </a:bodyPr>
          <a:lstStyle/>
          <a:p>
            <a:pPr algn="ctr"/>
            <a:r>
              <a:rPr lang="vi-VN" sz="2000" b="1" dirty="0">
                <a:solidFill>
                  <a:srgbClr val="B05510"/>
                </a:solidFill>
                <a:latin typeface="Roboto"/>
                <a:cs typeface="Roboto"/>
              </a:rPr>
              <a:t>PIBT proposes moves · LaCAM guarantees a solution is found · ADG keeps the order on the floor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105156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100330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2540000" y="892487"/>
            <a:ext cx="13208000" cy="2157095"/>
          </a:xfrm>
          <a:prstGeom prst="rect">
            <a:avLst/>
          </a:prstGeom>
        </p:spPr>
        <p:txBody>
          <a:bodyPr lIns="0" tIns="0" rIns="0" bIns="0" rtlCol="0" anchor="t">
            <a:spAutoFit/>
          </a:bodyPr>
          <a:lstStyle/>
          <a:p>
            <a:pPr algn="ctr">
              <a:lnSpc>
                <a:spcPts val="8680"/>
              </a:lnSpc>
              <a:spcBef>
                <a:spcPct val="0"/>
              </a:spcBef>
            </a:pPr>
            <a:r>
              <a:rPr lang="en-US" sz="4400" b="1" spc="-124">
                <a:solidFill>
                  <a:srgbClr val="B05510"/>
                </a:solidFill>
                <a:latin typeface="Roboto"/>
                <a:ea typeface="Roboto"/>
                <a:cs typeface="Roboto"/>
                <a:sym typeface="Gordita Bold"/>
              </a:rPr>
              <a:t>ONE-SHOT OR LIFELONG:</a:t>
            </a:r>
          </a:p>
          <a:p>
            <a:pPr algn="ctr">
              <a:lnSpc>
                <a:spcPts val="8680"/>
              </a:lnSpc>
              <a:spcBef>
                <a:spcPct val="0"/>
              </a:spcBef>
            </a:pPr>
            <a:r>
              <a:rPr lang="en-US" sz="4400" b="1" spc="-124">
                <a:solidFill>
                  <a:srgbClr val="B05510"/>
                </a:solidFill>
                <a:latin typeface="Roboto"/>
                <a:ea typeface="Roboto"/>
                <a:cs typeface="Roboto"/>
                <a:sym typeface="Gordita Bold"/>
              </a:rPr>
              <a:t>WHICH PROBLEM IS THIS REALLY</a:t>
            </a:r>
          </a:p>
        </p:txBody>
      </p:sp>
      <p:pic>
        <p:nvPicPr>
          <p:cNvPr id="10101" name="Fig"/>
          <p:cNvPicPr>
            <a:picLocks noChangeAspect="1"/>
          </p:cNvPicPr>
          <p:nvPr/>
        </p:nvPicPr>
        <p:blipFill>
          <a:blip r:embed="rId6"/>
          <a:stretch>
            <a:fillRect/>
          </a:stretch>
        </p:blipFill>
        <p:spPr>
          <a:xfrm>
            <a:off x="1397000" y="5867400"/>
            <a:ext cx="15494000" cy="3581400"/>
          </a:xfrm>
          <a:prstGeom prst="rect">
            <a:avLst/>
          </a:prstGeom>
        </p:spPr>
      </p:pic>
      <p:sp>
        <p:nvSpPr>
          <p:cNvPr id="10102" name="T10102"/>
          <p:cNvSpPr txBox="1"/>
          <p:nvPr/>
        </p:nvSpPr>
        <p:spPr>
          <a:xfrm>
            <a:off x="1320800" y="3403600"/>
            <a:ext cx="7518400" cy="2540000"/>
          </a:xfrm>
          <a:prstGeom prst="rect">
            <a:avLst/>
          </a:prstGeom>
          <a:noFill/>
        </p:spPr>
        <p:txBody>
          <a:bodyPr wrap="square" lIns="0" tIns="0" rIns="0" bIns="0">
            <a:noAutofit/>
          </a:bodyPr>
          <a:lstStyle/>
          <a:p>
            <a:pPr algn="l"/>
            <a:r>
              <a:rPr lang="vi-VN" sz="2200" b="1" dirty="0">
                <a:solidFill>
                  <a:srgbClr val="B05510"/>
                </a:solidFill>
                <a:latin typeface="Roboto"/>
                <a:cs typeface="Roboto"/>
              </a:rPr>
              <a:t>One-shot MAPF</a:t>
            </a:r>
          </a:p>
          <a:p>
            <a:pPr algn="l"/>
            <a:r>
              <a:rPr lang="vi-VN" sz="2000" b="0" dirty="0">
                <a:solidFill>
                  <a:srgbClr val="B05510"/>
                </a:solidFill>
                <a:latin typeface="Roboto"/>
                <a:cs typeface="Roboto"/>
              </a:rPr>
              <a:t>Each vehicle has exactly one fixed goal. Solve once for the whole fleet, run it out, done. This is the textbook form.</a:t>
            </a:r>
          </a:p>
        </p:txBody>
      </p:sp>
      <p:sp>
        <p:nvSpPr>
          <p:cNvPr id="10103" name="T10103"/>
          <p:cNvSpPr txBox="1"/>
          <p:nvPr/>
        </p:nvSpPr>
        <p:spPr>
          <a:xfrm>
            <a:off x="9448800" y="3403600"/>
            <a:ext cx="7518400" cy="2540000"/>
          </a:xfrm>
          <a:prstGeom prst="rect">
            <a:avLst/>
          </a:prstGeom>
          <a:noFill/>
        </p:spPr>
        <p:txBody>
          <a:bodyPr wrap="square" lIns="0" tIns="0" rIns="0" bIns="0">
            <a:noAutofit/>
          </a:bodyPr>
          <a:lstStyle/>
          <a:p>
            <a:pPr algn="l"/>
            <a:r>
              <a:rPr lang="vi-VN" sz="2200" b="1" dirty="0">
                <a:solidFill>
                  <a:srgbClr val="B05510"/>
                </a:solidFill>
                <a:latin typeface="Roboto"/>
                <a:cs typeface="Roboto"/>
              </a:rPr>
              <a:t>Here the goals will not hold still</a:t>
            </a:r>
          </a:p>
          <a:p>
            <a:pPr algn="l"/>
            <a:r>
              <a:rPr lang="vi-VN" sz="2000" b="0" dirty="0">
                <a:solidFill>
                  <a:srgbClr val="B05510"/>
                </a:solidFill>
                <a:latin typeface="Roboto"/>
                <a:cs typeface="Roboto"/>
              </a:rPr>
              <a:t>Loads are deleted, new loads arrive, and the matching runs again every cycle — if a better vehicle-order pair appears, it changes. A vehicle’s goal can change before it ever gets there.</a:t>
            </a:r>
          </a:p>
        </p:txBody>
      </p:sp>
      <p:sp>
        <p:nvSpPr>
          <p:cNvPr id="10" name="T10102"/>
          <p:cNvSpPr txBox="1"/>
          <p:nvPr/>
        </p:nvSpPr>
        <p:spPr>
          <a:xfrm>
            <a:off x="1320800" y="9652000"/>
            <a:ext cx="15646400" cy="584200"/>
          </a:xfrm>
          <a:prstGeom prst="rect">
            <a:avLst/>
          </a:prstGeom>
          <a:noFill/>
        </p:spPr>
        <p:txBody>
          <a:bodyPr wrap="square" lIns="0" tIns="0" rIns="0" bIns="0">
            <a:noAutofit/>
          </a:bodyPr>
          <a:lstStyle/>
          <a:p>
            <a:pPr algn="ctr"/>
            <a:r>
              <a:rPr lang="vi-VN" sz="2000" b="1" dirty="0">
                <a:solidFill>
                  <a:srgbClr val="B05510"/>
                </a:solidFill>
                <a:latin typeface="Roboto"/>
                <a:cs typeface="Roboto"/>
              </a:rPr>
              <a:t>So we do not solve once and finish; we solve coordination inside a short window and repeat — that is RHCR.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45212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45212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45212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FUTURE</a:t>
            </a:r>
          </a:p>
          <a:p>
            <a:pPr algn="ctr">
              <a:lnSpc>
                <a:spcPts val="8680"/>
              </a:lnSpc>
              <a:spcBef>
                <a:spcPct val="0"/>
              </a:spcBef>
            </a:pPr>
            <a:r>
              <a:rPr lang="en-US" sz="6200" b="1" spc="-124">
                <a:solidFill>
                  <a:srgbClr val="B05510"/>
                </a:solidFill>
                <a:latin typeface="Roboto"/>
                <a:ea typeface="Roboto"/>
                <a:cs typeface="Roboto"/>
                <a:sym typeface="Gordita Bold"/>
              </a:rPr>
              <a:t>WORK</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Waiting points</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Look-ahead assignment</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Upgrade to LLLG</a:t>
            </a:r>
          </a:p>
        </p:txBody>
      </p:sp>
      <p:sp>
        <p:nvSpPr>
          <p:cNvPr id="35" name="TextBox 35"/>
          <p:cNvSpPr txBox="1"/>
          <p:nvPr/>
        </p:nvSpPr>
        <p:spPr>
          <a:xfrm>
            <a:off x="857526" y="5080000"/>
            <a:ext cx="4713683" cy="3759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Instead of sending an idle vehicle all the way back to the depot and calling it out again minutes later, let it wait near the pickup area. If another vehicle needs to pass, it yields and returns. That removes a round trip that creates no value.</a:t>
            </a:r>
          </a:p>
        </p:txBody>
      </p:sp>
      <p:sp>
        <p:nvSpPr>
          <p:cNvPr id="36" name="TextBox 36"/>
          <p:cNvSpPr txBox="1"/>
          <p:nvPr/>
        </p:nvSpPr>
        <p:spPr>
          <a:xfrm>
            <a:off x="6799794" y="5080000"/>
            <a:ext cx="4713683" cy="3759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Assignment is myopic today — it only matches vehicles that are already idle, so one finishing in a few seconds never appears in the matrix. The direction: include soon-to-be-free vehicles and switch the cost unit from metres to seconds.</a:t>
            </a:r>
          </a:p>
        </p:txBody>
      </p:sp>
      <p:sp>
        <p:nvSpPr>
          <p:cNvPr id="37" name="TextBox 37"/>
          <p:cNvSpPr txBox="1"/>
          <p:nvPr/>
        </p:nvSpPr>
        <p:spPr>
          <a:xfrm>
            <a:off x="12715813" y="5080000"/>
            <a:ext cx="4713683" cy="3759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LaCAM is a one-shot solver being called repeatedly here. LLLG is built for the lifelong problem: it carries collision predictions from the previous round into the next and adds local guidance for each vehicle. The paper reports throughput gains of 30–81%.</a:t>
            </a:r>
          </a:p>
        </p:txBody>
      </p:sp>
      <p:sp>
        <p:nvSpPr>
          <p:cNvPr id="9903" name="Cap 9903"/>
          <p:cNvSpPr txBox="1"/>
          <p:nvPr/>
        </p:nvSpPr>
        <p:spPr>
          <a:xfrm>
            <a:off x="1320800" y="8585200"/>
            <a:ext cx="15646400" cy="762000"/>
          </a:xfrm>
          <a:prstGeom prst="rect">
            <a:avLst/>
          </a:prstGeom>
          <a:noFill/>
        </p:spPr>
        <p:txBody>
          <a:bodyPr wrap="square" lIns="0" tIns="0" rIns="0" bIns="0">
            <a:noAutofit/>
          </a:bodyPr>
          <a:lstStyle/>
          <a:p>
            <a:pPr algn="ctr"/>
            <a:r>
              <a:rPr lang="vi-VN" sz="1900" b="1" dirty="0">
                <a:solidFill>
                  <a:srgbClr val="B05510"/>
                </a:solidFill>
                <a:latin typeface="Roboto"/>
                <a:cs typeface="Roboto"/>
              </a:rPr>
              <a:t>Three different layers: where idle vehicles wait, how far ahead assignment looks, and the routing core itself.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5715000" y="-482600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6350000" y="-6096000"/>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652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a:off x="13375041" y="100330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7653000" y="3175000"/>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DEMO</a:t>
            </a:r>
          </a:p>
        </p:txBody>
      </p:sp>
      <p:pic>
        <p:nvPicPr>
          <p:cNvPr id="12345" name="DemoPoster">
            <a:hlinkClick r:id="rId6"/>
          </p:cNvPr>
          <p:cNvPicPr>
            <a:picLocks noChangeAspect="1"/>
          </p:cNvPicPr>
          <p:nvPr/>
        </p:nvPicPr>
        <p:blipFill>
          <a:blip r:embed="rId7"/>
          <a:stretch>
            <a:fillRect/>
          </a:stretch>
        </p:blipFill>
        <p:spPr>
          <a:xfrm>
            <a:off x="3276600" y="3022600"/>
            <a:ext cx="11734800" cy="6604000"/>
          </a:xfrm>
          <a:prstGeom prst="rect">
            <a:avLst/>
          </a:prstGeom>
          <a:ln w="38100">
            <a:solidFill>
              <a:srgbClr val="B05510"/>
            </a:solidFill>
          </a:ln>
        </p:spPr>
      </p:pic>
      <p:sp>
        <p:nvSpPr>
          <p:cNvPr id="10101" name="T10101"/>
          <p:cNvSpPr txBox="1"/>
          <p:nvPr/>
        </p:nvSpPr>
        <p:spPr>
          <a:xfrm>
            <a:off x="1320800" y="9855200"/>
            <a:ext cx="15646400" cy="508000"/>
          </a:xfrm>
          <a:prstGeom prst="rect">
            <a:avLst/>
          </a:prstGeom>
          <a:noFill/>
        </p:spPr>
        <p:txBody>
          <a:bodyPr wrap="square" lIns="0" tIns="0" rIns="0" bIns="0">
            <a:noAutofit/>
          </a:bodyPr>
          <a:lstStyle/>
          <a:p>
            <a:pPr algn="ctr"/>
            <a:r>
              <a:rPr lang="vi-VN" sz="1900" b="1" dirty="0">
                <a:solidFill>
                  <a:srgbClr val="B05510"/>
                </a:solidFill>
                <a:latin typeface="Roboto"/>
                <a:cs typeface="Roboto"/>
              </a:rPr>
              <a:t>Click the image to watch the recorded run</a:t>
            </a:r>
          </a:p>
        </p:txBody>
      </p:sp>
      <p:sp>
        <p:nvSpPr>
          <p:cNvPr id="20001" name="PlayBadge">
            <a:hlinkClick r:id="rId6"/>
          </p:cNvPr>
          <p:cNvSpPr/>
          <p:nvPr/>
        </p:nvSpPr>
        <p:spPr>
          <a:xfrm>
            <a:off x="8356600" y="5537200"/>
            <a:ext cx="1574800" cy="1574800"/>
          </a:xfrm>
          <a:prstGeom prst="ellipse">
            <a:avLst/>
          </a:prstGeom>
          <a:solidFill>
            <a:srgbClr val="B05510">
              <a:alpha val="88000"/>
            </a:srgbClr>
          </a:solidFill>
          <a:ln w="28575">
            <a:solidFill>
              <a:srgbClr val="FFFFFF"/>
            </a:solidFill>
          </a:ln>
        </p:spPr>
        <p:txBody>
          <a:bodyPr lIns="0" tIns="0" rIns="0" bIns="0" anchor="ctr"/>
          <a:lstStyle/>
          <a:p>
            <a:pPr algn="ctr"/>
            <a:r>
              <a:rPr lang="en-US" sz="4000" b="1" dirty="0">
                <a:solidFill>
                  <a:srgbClr val="FFFFFF"/>
                </a:solidFill>
                <a:latin typeface="Roboto"/>
                <a:cs typeface="Roboto"/>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pSp>
        <p:nvGrpSpPr>
          <p:cNvPr id="2" name="Group 2"/>
          <p:cNvGrpSpPr/>
          <p:nvPr/>
        </p:nvGrpSpPr>
        <p:grpSpPr>
          <a:xfrm>
            <a:off x="154303" y="266120"/>
            <a:ext cx="7637713" cy="7467204"/>
            <a:chOff x="0" y="0"/>
            <a:chExt cx="831360" cy="812800"/>
          </a:xfrm>
        </p:grpSpPr>
        <p:sp>
          <p:nvSpPr>
            <p:cNvPr id="3" name="Freeform 3"/>
            <p:cNvSpPr/>
            <p:nvPr/>
          </p:nvSpPr>
          <p:spPr>
            <a:xfrm>
              <a:off x="0" y="0"/>
              <a:ext cx="831360" cy="812800"/>
            </a:xfrm>
            <a:custGeom>
              <a:avLst/>
              <a:gdLst/>
              <a:ahLst/>
              <a:cxnLst/>
              <a:rect l="l" t="t" r="r" b="b"/>
              <a:pathLst>
                <a:path w="831360" h="81280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id="4" name="TextBox 4"/>
            <p:cNvSpPr txBox="1"/>
            <p:nvPr/>
          </p:nvSpPr>
          <p:spPr>
            <a:xfrm>
              <a:off x="77940" y="38100"/>
              <a:ext cx="67548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541611">
            <a:off x="-3130150" y="-1878432"/>
            <a:ext cx="7198850" cy="6523111"/>
            <a:chOff x="0" y="0"/>
            <a:chExt cx="896999" cy="812800"/>
          </a:xfrm>
        </p:grpSpPr>
        <p:sp>
          <p:nvSpPr>
            <p:cNvPr id="6" name="Freeform 6"/>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7" name="TextBox 7"/>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469275" y="3680254"/>
            <a:ext cx="5572263" cy="4267200"/>
            <a:chOff x="0" y="0"/>
            <a:chExt cx="1214440" cy="1075579"/>
          </a:xfrm>
        </p:grpSpPr>
        <p:sp>
          <p:nvSpPr>
            <p:cNvPr id="11" name="Freeform 11"/>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2" name="TextBox 12"/>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359459" y="3680254"/>
            <a:ext cx="5572263" cy="4267200"/>
            <a:chOff x="0" y="0"/>
            <a:chExt cx="1214440" cy="1075579"/>
          </a:xfrm>
        </p:grpSpPr>
        <p:sp>
          <p:nvSpPr>
            <p:cNvPr id="14" name="Freeform 14"/>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5" name="TextBox 15"/>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246462" y="3680254"/>
            <a:ext cx="5572263" cy="4267200"/>
            <a:chOff x="0" y="0"/>
            <a:chExt cx="1214440" cy="1075579"/>
          </a:xfrm>
        </p:grpSpPr>
        <p:sp>
          <p:nvSpPr>
            <p:cNvPr id="17" name="Freeform 17"/>
            <p:cNvSpPr/>
            <p:nvPr/>
          </p:nvSpPr>
          <p:spPr>
            <a:xfrm>
              <a:off x="0" y="0"/>
              <a:ext cx="1214440" cy="1075579"/>
            </a:xfrm>
            <a:custGeom>
              <a:avLst/>
              <a:gdLst/>
              <a:ahLst/>
              <a:cxnLst/>
              <a:rect l="l" t="t" r="r" b="b"/>
              <a:pathLst>
                <a:path w="1214440" h="1075579">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id="18" name="TextBox 18"/>
            <p:cNvSpPr txBox="1"/>
            <p:nvPr/>
          </p:nvSpPr>
          <p:spPr>
            <a:xfrm>
              <a:off x="0" y="-38100"/>
              <a:ext cx="1214440" cy="1113679"/>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375041" y="9258300"/>
            <a:ext cx="3315105" cy="2874132"/>
            <a:chOff x="0" y="0"/>
            <a:chExt cx="937506" cy="812800"/>
          </a:xfrm>
        </p:grpSpPr>
        <p:sp>
          <p:nvSpPr>
            <p:cNvPr id="20" name="Freeform 20"/>
            <p:cNvSpPr/>
            <p:nvPr/>
          </p:nvSpPr>
          <p:spPr>
            <a:xfrm>
              <a:off x="0" y="0"/>
              <a:ext cx="937506" cy="812800"/>
            </a:xfrm>
            <a:custGeom>
              <a:avLst/>
              <a:gdLst/>
              <a:ahLst/>
              <a:cxnLst/>
              <a:rect l="l" t="t" r="r" b="b"/>
              <a:pathLst>
                <a:path w="937506" h="812800">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id="21" name="TextBox 21"/>
            <p:cNvSpPr txBox="1"/>
            <p:nvPr/>
          </p:nvSpPr>
          <p:spPr>
            <a:xfrm>
              <a:off x="87891" y="38100"/>
              <a:ext cx="761724"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5347002" y="2032947"/>
            <a:ext cx="584975" cy="58497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702351" y="9244028"/>
            <a:ext cx="438522" cy="43852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3992373" y="892487"/>
            <a:ext cx="10303253" cy="2157095"/>
          </a:xfrm>
          <a:prstGeom prst="rect">
            <a:avLst/>
          </a:prstGeom>
        </p:spPr>
        <p:txBody>
          <a:bodyPr lIns="0" tIns="0" rIns="0" bIns="0" rtlCol="0" anchor="t">
            <a:spAutoFit/>
          </a:bodyPr>
          <a:lstStyle/>
          <a:p>
            <a:pPr algn="ctr">
              <a:lnSpc>
                <a:spcPts val="8680"/>
              </a:lnSpc>
              <a:spcBef>
                <a:spcPct val="0"/>
              </a:spcBef>
            </a:pPr>
            <a:r>
              <a:rPr lang="en-US" sz="6200" b="1" spc="-124">
                <a:solidFill>
                  <a:srgbClr val="B05510"/>
                </a:solidFill>
                <a:latin typeface="Roboto"/>
                <a:ea typeface="Roboto"/>
                <a:cs typeface="Roboto"/>
                <a:sym typeface="Gordita Bold"/>
              </a:rPr>
              <a:t>RESULTS</a:t>
            </a:r>
          </a:p>
          <a:p>
            <a:pPr algn="ctr">
              <a:lnSpc>
                <a:spcPts val="8680"/>
              </a:lnSpc>
              <a:spcBef>
                <a:spcPct val="0"/>
              </a:spcBef>
            </a:pPr>
            <a:r>
              <a:rPr lang="en-US" sz="6200" b="1" spc="-124">
                <a:solidFill>
                  <a:srgbClr val="B05510"/>
                </a:solidFill>
                <a:latin typeface="Roboto"/>
                <a:ea typeface="Roboto"/>
                <a:cs typeface="Roboto"/>
                <a:sym typeface="Gordita Bold"/>
              </a:rPr>
              <a:t>AND CONCLUSION</a:t>
            </a:r>
          </a:p>
        </p:txBody>
      </p:sp>
      <p:sp>
        <p:nvSpPr>
          <p:cNvPr id="32" name="TextBox 32"/>
          <p:cNvSpPr txBox="1"/>
          <p:nvPr/>
        </p:nvSpPr>
        <p:spPr>
          <a:xfrm>
            <a:off x="835434"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What runs</a:t>
            </a:r>
          </a:p>
        </p:txBody>
      </p:sp>
      <p:sp>
        <p:nvSpPr>
          <p:cNvPr id="33" name="TextBox 33"/>
          <p:cNvSpPr txBox="1"/>
          <p:nvPr/>
        </p:nvSpPr>
        <p:spPr>
          <a:xfrm>
            <a:off x="6777703"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What we measured</a:t>
            </a:r>
          </a:p>
        </p:txBody>
      </p:sp>
      <p:sp>
        <p:nvSpPr>
          <p:cNvPr id="34" name="TextBox 34"/>
          <p:cNvSpPr txBox="1"/>
          <p:nvPr/>
        </p:nvSpPr>
        <p:spPr>
          <a:xfrm>
            <a:off x="12693722" y="4381500"/>
            <a:ext cx="4735774" cy="523900"/>
          </a:xfrm>
          <a:prstGeom prst="rect">
            <a:avLst/>
          </a:prstGeom>
        </p:spPr>
        <p:txBody>
          <a:bodyPr lIns="0" tIns="0" rIns="0" bIns="0" rtlCol="0" anchor="t">
            <a:spAutoFit/>
          </a:bodyPr>
          <a:lstStyle/>
          <a:p>
            <a:pPr algn="just">
              <a:lnSpc>
                <a:spcPts val="4200"/>
              </a:lnSpc>
              <a:spcBef>
                <a:spcPct val="0"/>
              </a:spcBef>
            </a:pPr>
            <a:r>
              <a:rPr lang="en-US" sz="3000" b="1" u="none" spc="0">
                <a:solidFill>
                  <a:srgbClr val="B05510"/>
                </a:solidFill>
                <a:latin typeface="Roboto"/>
                <a:ea typeface="Roboto"/>
                <a:cs typeface="Roboto"/>
                <a:sym typeface="Pier Sans Light Bold"/>
              </a:rPr>
              <a:t>What is not done</a:t>
            </a:r>
          </a:p>
        </p:txBody>
      </p:sp>
      <p:sp>
        <p:nvSpPr>
          <p:cNvPr id="35" name="TextBox 35"/>
          <p:cNvSpPr txBox="1"/>
          <p:nvPr/>
        </p:nvSpPr>
        <p:spPr>
          <a:xfrm>
            <a:off x="857526"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 complete dispatch layer running on a real fleet over an open standard. Twenty-two of thirty-three background functions cross-checked against the source. The test suite is larger than the product itself, and each regression test is named after the day the incident actually happened.</a:t>
            </a:r>
          </a:p>
        </p:txBody>
      </p:sp>
      <p:sp>
        <p:nvSpPr>
          <p:cNvPr id="36" name="TextBox 36"/>
          <p:cNvSpPr txBox="1"/>
          <p:nvPr/>
        </p:nvSpPr>
        <p:spPr>
          <a:xfrm>
            <a:off x="6799794"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Parking orders generated per package fell from roughly nineteen to roughly zero point two. The solver now stops on work done rather than on the clock: the same input gives the same result, and the deadlock suite went from three of six to six of six.</a:t>
            </a:r>
          </a:p>
        </p:txBody>
      </p:sp>
      <p:sp>
        <p:nvSpPr>
          <p:cNvPr id="37" name="TextBox 37"/>
          <p:cNvSpPr txBox="1"/>
          <p:nvPr/>
        </p:nvSpPr>
        <p:spPr>
          <a:xfrm>
            <a:off x="12715813" y="5080000"/>
            <a:ext cx="4713683" cy="3505200"/>
          </a:xfrm>
          <a:prstGeom prst="rect">
            <a:avLst/>
          </a:prstGeom>
        </p:spPr>
        <p:txBody>
          <a:bodyPr lIns="0" tIns="0" rIns="0" bIns="0" rtlCol="0" anchor="t">
            <a:spAutoFit/>
          </a:bodyPr>
          <a:lstStyle/>
          <a:p>
            <a:pPr algn="l">
              <a:lnSpc>
                <a:spcPts val="2800"/>
              </a:lnSpc>
              <a:spcBef>
                <a:spcPct val="0"/>
              </a:spcBef>
            </a:pPr>
            <a:r>
              <a:rPr lang="en-US" sz="2000" spc="0">
                <a:solidFill>
                  <a:srgbClr val="B05510"/>
                </a:solidFill>
                <a:latin typeface="Roboto"/>
                <a:ea typeface="Roboto"/>
                <a:cs typeface="Roboto"/>
                <a:sym typeface="Pier Sans Light"/>
              </a:rPr>
              <a:t>Assignment is still myopic, seeing only vehicles that are already idle. The solver’s theoretical guarantee does not hold on a map with this many one-way segments. The idle-vehicle lifecycle still oscillates.</a:t>
            </a:r>
          </a:p>
        </p:txBody>
      </p:sp>
      <p:sp>
        <p:nvSpPr>
          <p:cNvPr id="10102" name="T10102"/>
          <p:cNvSpPr txBox="1"/>
          <p:nvPr/>
        </p:nvSpPr>
        <p:spPr>
          <a:xfrm>
            <a:off x="1320800" y="8229600"/>
            <a:ext cx="15646400" cy="762000"/>
          </a:xfrm>
          <a:prstGeom prst="rect">
            <a:avLst/>
          </a:prstGeom>
          <a:noFill/>
        </p:spPr>
        <p:txBody>
          <a:bodyPr wrap="square" lIns="0" tIns="0" rIns="0" bIns="0">
            <a:noAutofit/>
          </a:bodyPr>
          <a:lstStyle/>
          <a:p>
            <a:pPr algn="ctr"/>
            <a:r>
              <a:rPr lang="vi-VN" sz="2000" b="1" dirty="0">
                <a:solidFill>
                  <a:srgbClr val="B05510"/>
                </a:solidFill>
                <a:latin typeface="Roboto"/>
                <a:cs typeface="Roboto"/>
              </a:rPr>
              <a:t>All three problems raised at the start have working answers — and where the work is unfinished, we know exactly where it stops.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Freeform 2"/>
          <p:cNvSpPr/>
          <p:nvPr/>
        </p:nvSpPr>
        <p:spPr>
          <a:xfrm>
            <a:off x="17239839" y="641973"/>
            <a:ext cx="486449" cy="386727"/>
          </a:xfrm>
          <a:custGeom>
            <a:avLst/>
            <a:gdLst/>
            <a:ahLst/>
            <a:cxnLst/>
            <a:rect l="l" t="t" r="r" b="b"/>
            <a:pathLst>
              <a:path w="486449" h="386727">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40677" y="9227000"/>
            <a:ext cx="7315200" cy="746760"/>
          </a:xfrm>
          <a:custGeom>
            <a:avLst/>
            <a:gdLst/>
            <a:ahLst/>
            <a:cxnLst/>
            <a:rect l="l" t="t" r="r" b="b"/>
            <a:pathLst>
              <a:path w="7315200" h="74676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1917013" y="256703"/>
            <a:ext cx="8587338" cy="858733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2977767" y="-2598924"/>
            <a:ext cx="6801961" cy="6163477"/>
            <a:chOff x="0" y="0"/>
            <a:chExt cx="896999" cy="812800"/>
          </a:xfrm>
        </p:grpSpPr>
        <p:sp>
          <p:nvSpPr>
            <p:cNvPr id="8" name="Freeform 8"/>
            <p:cNvSpPr/>
            <p:nvPr/>
          </p:nvSpPr>
          <p:spPr>
            <a:xfrm>
              <a:off x="0" y="0"/>
              <a:ext cx="896999" cy="812800"/>
            </a:xfrm>
            <a:custGeom>
              <a:avLst/>
              <a:gdLst/>
              <a:ahLst/>
              <a:cxnLst/>
              <a:rect l="l" t="t" r="r" b="b"/>
              <a:pathLst>
                <a:path w="896999" h="812800">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id="9" name="TextBox 9"/>
            <p:cNvSpPr txBox="1"/>
            <p:nvPr/>
          </p:nvSpPr>
          <p:spPr>
            <a:xfrm>
              <a:off x="84094" y="38100"/>
              <a:ext cx="728812"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3606043" y="1028700"/>
            <a:ext cx="5561760" cy="556176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3120978" y="3184046"/>
            <a:ext cx="12046044" cy="2068512"/>
          </a:xfrm>
          <a:prstGeom prst="rect">
            <a:avLst/>
          </a:prstGeom>
        </p:spPr>
        <p:txBody>
          <a:bodyPr lIns="0" tIns="0" rIns="0" bIns="0" rtlCol="0" anchor="t">
            <a:spAutoFit/>
          </a:bodyPr>
          <a:lstStyle/>
          <a:p>
            <a:pPr algn="ctr">
              <a:lnSpc>
                <a:spcPts val="16902"/>
              </a:lnSpc>
              <a:spcBef>
                <a:spcPct val="0"/>
              </a:spcBef>
            </a:pPr>
            <a:r>
              <a:rPr lang="en-US" sz="12072" b="1" spc="-241">
                <a:solidFill>
                  <a:srgbClr val="B05510"/>
                </a:solidFill>
                <a:latin typeface="Roboto"/>
                <a:ea typeface="Roboto"/>
                <a:cs typeface="Roboto"/>
                <a:sym typeface="Gordita Bold"/>
              </a:rPr>
              <a:t>QUESTIONS?</a:t>
            </a:r>
          </a:p>
        </p:txBody>
      </p:sp>
      <p:grpSp>
        <p:nvGrpSpPr>
          <p:cNvPr id="14" name="Group 14"/>
          <p:cNvGrpSpPr/>
          <p:nvPr/>
        </p:nvGrpSpPr>
        <p:grpSpPr>
          <a:xfrm>
            <a:off x="3631898" y="7317602"/>
            <a:ext cx="4689517" cy="588286"/>
            <a:chOff x="0" y="0"/>
            <a:chExt cx="796430" cy="99910"/>
          </a:xfrm>
        </p:grpSpPr>
        <p:sp>
          <p:nvSpPr>
            <p:cNvPr id="15" name="Freeform 15"/>
            <p:cNvSpPr/>
            <p:nvPr/>
          </p:nvSpPr>
          <p:spPr>
            <a:xfrm>
              <a:off x="0" y="0"/>
              <a:ext cx="796430" cy="99910"/>
            </a:xfrm>
            <a:custGeom>
              <a:avLst/>
              <a:gdLst/>
              <a:ahLst/>
              <a:cxnLst/>
              <a:rect l="l" t="t" r="r" b="b"/>
              <a:pathLst>
                <a:path w="796430" h="9991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9A379"/>
            </a:solidFill>
          </p:spPr>
        </p:sp>
        <p:sp>
          <p:nvSpPr>
            <p:cNvPr id="16" name="TextBox 16"/>
            <p:cNvSpPr txBox="1"/>
            <p:nvPr/>
          </p:nvSpPr>
          <p:spPr>
            <a:xfrm>
              <a:off x="0" y="-38100"/>
              <a:ext cx="796430" cy="13801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966585" y="7317602"/>
            <a:ext cx="4689517" cy="588286"/>
            <a:chOff x="0" y="0"/>
            <a:chExt cx="796430" cy="99910"/>
          </a:xfrm>
        </p:grpSpPr>
        <p:sp>
          <p:nvSpPr>
            <p:cNvPr id="18" name="Freeform 18"/>
            <p:cNvSpPr/>
            <p:nvPr/>
          </p:nvSpPr>
          <p:spPr>
            <a:xfrm>
              <a:off x="0" y="0"/>
              <a:ext cx="796430" cy="99910"/>
            </a:xfrm>
            <a:custGeom>
              <a:avLst/>
              <a:gdLst/>
              <a:ahLst/>
              <a:cxnLst/>
              <a:rect l="l" t="t" r="r" b="b"/>
              <a:pathLst>
                <a:path w="796430" h="9991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EB243"/>
            </a:solidFill>
          </p:spPr>
        </p:sp>
        <p:sp>
          <p:nvSpPr>
            <p:cNvPr id="19" name="TextBox 19"/>
            <p:cNvSpPr txBox="1"/>
            <p:nvPr/>
          </p:nvSpPr>
          <p:spPr>
            <a:xfrm>
              <a:off x="0" y="-38100"/>
              <a:ext cx="796430" cy="13801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3060817" y="5667280"/>
            <a:ext cx="12166366" cy="827930"/>
          </a:xfrm>
          <a:prstGeom prst="rect">
            <a:avLst/>
          </a:prstGeom>
        </p:spPr>
        <p:txBody>
          <a:bodyPr lIns="0" tIns="0" rIns="0" bIns="0" rtlCol="0" anchor="t">
            <a:spAutoFit/>
          </a:bodyPr>
          <a:lstStyle/>
          <a:p>
            <a:pPr algn="ctr">
              <a:lnSpc>
                <a:spcPts val="3339"/>
              </a:lnSpc>
              <a:spcBef>
                <a:spcPct val="0"/>
              </a:spcBef>
            </a:pPr>
            <a:r>
              <a:rPr lang="en-US" sz="2385" spc="0">
                <a:solidFill>
                  <a:srgbClr val="B05510"/>
                </a:solidFill>
                <a:latin typeface="Roboto"/>
                <a:ea typeface="Roboto"/>
                <a:cs typeface="Roboto"/>
                <a:sym typeface="Pier Sans Light"/>
              </a:rPr>
              <a:t>Thank you for your attention.</a:t>
            </a:r>
          </a:p>
        </p:txBody>
      </p:sp>
      <p:sp>
        <p:nvSpPr>
          <p:cNvPr id="21" name="TextBox 21"/>
          <p:cNvSpPr txBox="1"/>
          <p:nvPr/>
        </p:nvSpPr>
        <p:spPr>
          <a:xfrm>
            <a:off x="3734417" y="7381372"/>
            <a:ext cx="4484479" cy="414703"/>
          </a:xfrm>
          <a:prstGeom prst="rect">
            <a:avLst/>
          </a:prstGeom>
        </p:spPr>
        <p:txBody>
          <a:bodyPr lIns="0" tIns="0" rIns="0" bIns="0" rtlCol="0" anchor="t">
            <a:spAutoFit/>
          </a:bodyPr>
          <a:lstStyle/>
          <a:p>
            <a:pPr algn="ctr">
              <a:lnSpc>
                <a:spcPts val="3392"/>
              </a:lnSpc>
              <a:spcBef>
                <a:spcPct val="0"/>
              </a:spcBef>
            </a:pPr>
            <a:r>
              <a:rPr lang="en-US" sz="2423" spc="0">
                <a:solidFill>
                  <a:srgbClr val="B05510"/>
                </a:solidFill>
                <a:latin typeface="Roboto"/>
                <a:ea typeface="Roboto"/>
                <a:cs typeface="Roboto"/>
                <a:sym typeface="Pier Sans Light"/>
              </a:rPr>
              <a:t>SEP490_G4</a:t>
            </a:r>
          </a:p>
        </p:txBody>
      </p:sp>
      <p:sp>
        <p:nvSpPr>
          <p:cNvPr id="22" name="TextBox 22"/>
          <p:cNvSpPr txBox="1"/>
          <p:nvPr/>
        </p:nvSpPr>
        <p:spPr>
          <a:xfrm>
            <a:off x="10216739" y="7381372"/>
            <a:ext cx="4189209" cy="414703"/>
          </a:xfrm>
          <a:prstGeom prst="rect">
            <a:avLst/>
          </a:prstGeom>
        </p:spPr>
        <p:txBody>
          <a:bodyPr lIns="0" tIns="0" rIns="0" bIns="0" rtlCol="0" anchor="t">
            <a:spAutoFit/>
          </a:bodyPr>
          <a:lstStyle/>
          <a:p>
            <a:pPr algn="ctr">
              <a:lnSpc>
                <a:spcPts val="3392"/>
              </a:lnSpc>
              <a:spcBef>
                <a:spcPct val="0"/>
              </a:spcBef>
            </a:pPr>
            <a:r>
              <a:rPr lang="en-US" sz="2423" spc="0">
                <a:solidFill>
                  <a:srgbClr val="B05510"/>
                </a:solidFill>
                <a:latin typeface="Roboto"/>
                <a:ea typeface="Roboto"/>
                <a:cs typeface="Roboto"/>
                <a:sym typeface="Pier Sans Light"/>
              </a:rPr>
              <a:t>Lecturer: TamNT122</a:t>
            </a:r>
          </a:p>
        </p:txBody>
      </p:sp>
      <p:grpSp>
        <p:nvGrpSpPr>
          <p:cNvPr id="23" name="Group 23"/>
          <p:cNvGrpSpPr/>
          <p:nvPr/>
        </p:nvGrpSpPr>
        <p:grpSpPr>
          <a:xfrm rot="5884013">
            <a:off x="14744462" y="8873595"/>
            <a:ext cx="453167" cy="45316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rot="5884013">
            <a:off x="4806166" y="1057473"/>
            <a:ext cx="776908" cy="77690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A3A0B"/>
      </a:hlink>
      <a:folHlink>
        <a:srgbClr val="7A3A0B"/>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2171</Words>
  <Application>Microsoft Office PowerPoint</Application>
  <PresentationFormat>Custom</PresentationFormat>
  <Paragraphs>166</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Gray and White Modern Logistics Presentation</dc:title>
  <cp:lastModifiedBy>Phung Van Hung</cp:lastModifiedBy>
  <cp:revision>2</cp:revision>
  <dcterms:created xsi:type="dcterms:W3CDTF">2006-08-16T00:00:00Z</dcterms:created>
  <dcterms:modified xsi:type="dcterms:W3CDTF">2026-08-14T19:58:35Z</dcterms:modified>
  <dc:identifier>DAHSO21TfQM</dc:identifier>
</cp:coreProperties>
</file>