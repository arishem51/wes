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600" r:id="rId2"/>
    <p:sldId id="601" r:id="rId3"/>
    <p:sldId id="602" r:id="rId4"/>
    <p:sldId id="603" r:id="rId5"/>
    <p:sldId id="604" r:id="rId6"/>
    <p:sldId id="605" r:id="rId7"/>
    <p:sldId id="606" r:id="rId8"/>
    <p:sldId id="607" r:id="rId9"/>
    <p:sldId id="608" r:id="rId10"/>
    <p:sldId id="609" r:id="rId11"/>
  </p:sldIdLst>
  <p:sldSz cx="18288000" cy="10287000"/>
  <p:notesSz cx="6858000" cy="9144000"/>
  <p:embeddedFontLst>
    <p:embeddedFont>
      <p:font typeface="Roboto" panose="02000000000000000000" pitchFamily="2" charset="0"/>
      <p:regular r:id="rId12"/>
      <p:bold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Roboto"/>
          <a:ea typeface="Roboto"/>
          <a:cs typeface="Roboto"/>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Roboto"/>
          <a:ea typeface="Roboto"/>
          <a:cs typeface="Roboto"/>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Roboto"/>
          <a:ea typeface="Roboto"/>
          <a:cs typeface="Roboto"/>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Roboto"/>
          <a:ea typeface="Roboto"/>
          <a:cs typeface="Roboto"/>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Roboto"/>
          <a:ea typeface="Roboto"/>
          <a:cs typeface="Roboto"/>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Roboto"/>
          <a:ea typeface="Roboto"/>
          <a:cs typeface="Roboto"/>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Roboto"/>
          <a:ea typeface="Roboto"/>
          <a:cs typeface="Roboto"/>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Roboto"/>
          <a:ea typeface="Roboto"/>
          <a:cs typeface="Roboto"/>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Roboto"/>
          <a:ea typeface="Roboto"/>
          <a:cs typeface="Roboto"/>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Roboto"/>
          <a:ea typeface="Roboto"/>
          <a:cs typeface="Roboto"/>
        </a:defRPr>
      </a:lvl9pPr>
    </p:bodyStyle>
    <p:otherStyle>
      <a:defPPr>
        <a:defRPr lang="en-US"/>
      </a:defPPr>
      <a:lvl1pPr marL="0" algn="l" defTabSz="914400" rtl="0" eaLnBrk="1" latinLnBrk="0" hangingPunct="1">
        <a:defRPr sz="1800" kern="1200">
          <a:solidFill>
            <a:schemeClr val="tx1"/>
          </a:solidFill>
          <a:latin typeface="Roboto"/>
          <a:ea typeface="Roboto"/>
          <a:cs typeface="Roboto"/>
        </a:defRPr>
      </a:lvl1pPr>
      <a:lvl2pPr marL="457200" algn="l" defTabSz="914400" rtl="0" eaLnBrk="1" latinLnBrk="0" hangingPunct="1">
        <a:defRPr sz="1800" kern="1200">
          <a:solidFill>
            <a:schemeClr val="tx1"/>
          </a:solidFill>
          <a:latin typeface="Roboto"/>
          <a:ea typeface="Roboto"/>
          <a:cs typeface="Roboto"/>
        </a:defRPr>
      </a:lvl2pPr>
      <a:lvl3pPr marL="914400" algn="l" defTabSz="914400" rtl="0" eaLnBrk="1" latinLnBrk="0" hangingPunct="1">
        <a:defRPr sz="1800" kern="1200">
          <a:solidFill>
            <a:schemeClr val="tx1"/>
          </a:solidFill>
          <a:latin typeface="Roboto"/>
          <a:ea typeface="Roboto"/>
          <a:cs typeface="Roboto"/>
        </a:defRPr>
      </a:lvl3pPr>
      <a:lvl4pPr marL="1371600" algn="l" defTabSz="914400" rtl="0" eaLnBrk="1" latinLnBrk="0" hangingPunct="1">
        <a:defRPr sz="1800" kern="1200">
          <a:solidFill>
            <a:schemeClr val="tx1"/>
          </a:solidFill>
          <a:latin typeface="Roboto"/>
          <a:ea typeface="Roboto"/>
          <a:cs typeface="Roboto"/>
        </a:defRPr>
      </a:lvl4pPr>
      <a:lvl5pPr marL="1828800" algn="l" defTabSz="914400" rtl="0" eaLnBrk="1" latinLnBrk="0" hangingPunct="1">
        <a:defRPr sz="1800" kern="1200">
          <a:solidFill>
            <a:schemeClr val="tx1"/>
          </a:solidFill>
          <a:latin typeface="Roboto"/>
          <a:ea typeface="Roboto"/>
          <a:cs typeface="Roboto"/>
        </a:defRPr>
      </a:lvl5pPr>
      <a:lvl6pPr marL="2286000" algn="l" defTabSz="914400" rtl="0" eaLnBrk="1" latinLnBrk="0" hangingPunct="1">
        <a:defRPr sz="1800" kern="1200">
          <a:solidFill>
            <a:schemeClr val="tx1"/>
          </a:solidFill>
          <a:latin typeface="Roboto"/>
          <a:ea typeface="Roboto"/>
          <a:cs typeface="Roboto"/>
        </a:defRPr>
      </a:lvl6pPr>
      <a:lvl7pPr marL="2743200" algn="l" defTabSz="914400" rtl="0" eaLnBrk="1" latinLnBrk="0" hangingPunct="1">
        <a:defRPr sz="1800" kern="1200">
          <a:solidFill>
            <a:schemeClr val="tx1"/>
          </a:solidFill>
          <a:latin typeface="Roboto"/>
          <a:ea typeface="Roboto"/>
          <a:cs typeface="Roboto"/>
        </a:defRPr>
      </a:lvl7pPr>
      <a:lvl8pPr marL="3200400" algn="l" defTabSz="914400" rtl="0" eaLnBrk="1" latinLnBrk="0" hangingPunct="1">
        <a:defRPr sz="1800" kern="1200">
          <a:solidFill>
            <a:schemeClr val="tx1"/>
          </a:solidFill>
          <a:latin typeface="Roboto"/>
          <a:ea typeface="Roboto"/>
          <a:cs typeface="Roboto"/>
        </a:defRPr>
      </a:lvl8pPr>
      <a:lvl9pPr marL="3657600" algn="l" defTabSz="914400" rtl="0" eaLnBrk="1" latinLnBrk="0" hangingPunct="1">
        <a:defRPr sz="1800" kern="1200">
          <a:solidFill>
            <a:schemeClr val="tx1"/>
          </a:solidFill>
          <a:latin typeface="Roboto"/>
          <a:ea typeface="Roboto"/>
          <a:cs typeface="Roboto"/>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9.jpeg"/></Relationships>
</file>

<file path=ppt/slides/_rels/slide3.xml.rels><?xml version="1.0" encoding="UTF-8" standalone="yes"?>
<Relationships xmlns="http://schemas.openxmlformats.org/package/2006/relationships"><Relationship Id="rId8" Type="http://schemas.openxmlformats.org/officeDocument/2006/relationships/hyperlink" Target="https://aubot.vn/" TargetMode="External"/><Relationship Id="rId3" Type="http://schemas.openxmlformats.org/officeDocument/2006/relationships/image" Target="../media/image8.svg"/><Relationship Id="rId7" Type="http://schemas.openxmlformats.org/officeDocument/2006/relationships/hyperlink" Target="https://e.vnexpress.net/news/business/first-samsung-electronics-factory-to-implement-phenikaa-x-s-amr-pallet-mover-robot-solution-4770812.html" TargetMode="External"/><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hyperlink" Target="https://tuoitre.vn/doanh-nghiep-viet-nam-dau-tien-dung-robot-chia-hang-giam-60-chi-phi-nhan-cong-20240121115633405.htm" TargetMode="External"/><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1.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4.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2.jpeg"/><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3.jpeg"/></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4.jpeg"/><Relationship Id="rId5" Type="http://schemas.openxmlformats.org/officeDocument/2006/relationships/image" Target="../media/image4.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8.svg"/><Relationship Id="rId7" Type="http://schemas.openxmlformats.org/officeDocument/2006/relationships/image" Target="../media/image16.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sv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9D9D9"/>
        </a:solidFill>
        <a:effectLst/>
      </p:bgPr>
    </p:bg>
    <p:spTree>
      <p:nvGrpSpPr>
        <p:cNvPr id="1" name=""/>
        <p:cNvGrpSpPr/>
        <p:nvPr/>
      </p:nvGrpSpPr>
      <p:grpSpPr>
        <a:xfrm>
          <a:off x="0" y="0"/>
          <a:ext cx="0" cy="0"/>
          <a:chOff x="0" y="0"/>
          <a:chExt cx="0" cy="0"/>
        </a:xfrm>
      </p:grpSpPr>
      <p:sp>
        <p:nvSpPr>
          <p:cNvPr id="2" name="TextBox 2"/>
          <p:cNvSpPr txBox="1"/>
          <p:nvPr/>
        </p:nvSpPr>
        <p:spPr>
          <a:xfrm>
            <a:off x="605317" y="3482665"/>
            <a:ext cx="9537898" cy="3658869"/>
          </a:xfrm>
          <a:prstGeom prst="rect">
            <a:avLst/>
          </a:prstGeom>
        </p:spPr>
        <p:txBody>
          <a:bodyPr lIns="0" tIns="0" rIns="0" bIns="0" rtlCol="0" anchor="t">
            <a:spAutoFit/>
          </a:bodyPr>
          <a:lstStyle/>
          <a:p>
            <a:pPr algn="l">
              <a:lnSpc>
                <a:spcPts val="7280"/>
              </a:lnSpc>
              <a:spcBef>
                <a:spcPct val="0"/>
              </a:spcBef>
            </a:pPr>
            <a:r>
              <a:rPr lang="en-US" sz="5200" b="1" spc="-104">
                <a:solidFill>
                  <a:srgbClr val="B05510"/>
                </a:solidFill>
                <a:latin typeface="Roboto"/>
                <a:ea typeface="Roboto"/>
                <a:cs typeface="Roboto"/>
                <a:sym typeface="Gordita Bold"/>
              </a:rPr>
              <a:t>THE SMART WAREHOUSE EXECUTION SYSTEM FOR AGV COORDINATION (WES)</a:t>
            </a:r>
          </a:p>
        </p:txBody>
      </p:sp>
      <p:grpSp>
        <p:nvGrpSpPr>
          <p:cNvPr id="3" name="Group 3"/>
          <p:cNvGrpSpPr/>
          <p:nvPr/>
        </p:nvGrpSpPr>
        <p:grpSpPr>
          <a:xfrm>
            <a:off x="-2592532" y="773931"/>
            <a:ext cx="7793119" cy="7793119"/>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alpha val="11765"/>
              </a:srgbClr>
            </a:solidFill>
          </p:spPr>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5298606" y="0"/>
            <a:ext cx="5561760" cy="5561760"/>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14193570" y="6696204"/>
            <a:ext cx="3865184" cy="2562096"/>
            <a:chOff x="0" y="0"/>
            <a:chExt cx="1343602" cy="890627"/>
          </a:xfrm>
        </p:grpSpPr>
        <p:sp>
          <p:nvSpPr>
            <p:cNvPr id="10" name="Freeform 10"/>
            <p:cNvSpPr/>
            <p:nvPr/>
          </p:nvSpPr>
          <p:spPr>
            <a:xfrm>
              <a:off x="0" y="0"/>
              <a:ext cx="1343602" cy="890627"/>
            </a:xfrm>
            <a:custGeom>
              <a:avLst/>
              <a:gdLst/>
              <a:ahLst/>
              <a:cxnLst/>
              <a:rect l="l" t="t" r="r" b="b"/>
              <a:pathLst>
                <a:path w="1343602" h="890627">
                  <a:moveTo>
                    <a:pt x="671801" y="0"/>
                  </a:moveTo>
                  <a:cubicBezTo>
                    <a:pt x="300776" y="0"/>
                    <a:pt x="0" y="199374"/>
                    <a:pt x="0" y="445313"/>
                  </a:cubicBezTo>
                  <a:cubicBezTo>
                    <a:pt x="0" y="691253"/>
                    <a:pt x="300776" y="890627"/>
                    <a:pt x="671801" y="890627"/>
                  </a:cubicBezTo>
                  <a:cubicBezTo>
                    <a:pt x="1042826" y="890627"/>
                    <a:pt x="1343602" y="691253"/>
                    <a:pt x="1343602" y="445313"/>
                  </a:cubicBezTo>
                  <a:cubicBezTo>
                    <a:pt x="1343602" y="199374"/>
                    <a:pt x="1042826" y="0"/>
                    <a:pt x="671801" y="0"/>
                  </a:cubicBezTo>
                  <a:close/>
                </a:path>
              </a:pathLst>
            </a:custGeom>
            <a:solidFill>
              <a:srgbClr val="B05510">
                <a:alpha val="35686"/>
              </a:srgbClr>
            </a:solidFill>
          </p:spPr>
        </p:sp>
        <p:sp>
          <p:nvSpPr>
            <p:cNvPr id="11" name="TextBox 11"/>
            <p:cNvSpPr txBox="1"/>
            <p:nvPr/>
          </p:nvSpPr>
          <p:spPr>
            <a:xfrm>
              <a:off x="125963" y="45396"/>
              <a:ext cx="1091677" cy="761734"/>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11365720" y="1532977"/>
            <a:ext cx="677868" cy="677868"/>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873C"/>
            </a:solidFill>
          </p:spPr>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a:off x="-1826927" y="-2356557"/>
            <a:ext cx="6302891" cy="5711253"/>
            <a:chOff x="0" y="0"/>
            <a:chExt cx="896999" cy="812800"/>
          </a:xfrm>
        </p:grpSpPr>
        <p:sp>
          <p:nvSpPr>
            <p:cNvPr id="16" name="Freeform 16"/>
            <p:cNvSpPr/>
            <p:nvPr/>
          </p:nvSpPr>
          <p:spPr>
            <a:xfrm>
              <a:off x="0" y="0"/>
              <a:ext cx="896999" cy="812800"/>
            </a:xfrm>
            <a:custGeom>
              <a:avLst/>
              <a:gdLst/>
              <a:ahLst/>
              <a:cxnLst/>
              <a:rect l="l" t="t" r="r" b="b"/>
              <a:pathLst>
                <a:path w="896999" h="812800">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id="17" name="TextBox 17"/>
            <p:cNvSpPr txBox="1"/>
            <p:nvPr/>
          </p:nvSpPr>
          <p:spPr>
            <a:xfrm>
              <a:off x="84094" y="38100"/>
              <a:ext cx="728812" cy="698500"/>
            </a:xfrm>
            <a:prstGeom prst="rect">
              <a:avLst/>
            </a:prstGeom>
          </p:spPr>
          <p:txBody>
            <a:bodyPr lIns="50800" tIns="50800" rIns="50800" bIns="50800" rtlCol="0" anchor="ctr"/>
            <a:lstStyle/>
            <a:p>
              <a:pPr algn="ctr">
                <a:lnSpc>
                  <a:spcPts val="2659"/>
                </a:lnSpc>
                <a:spcBef>
                  <a:spcPct val="0"/>
                </a:spcBef>
              </a:pPr>
              <a:endParaRPr/>
            </a:p>
          </p:txBody>
        </p:sp>
      </p:grpSp>
      <p:sp>
        <p:nvSpPr>
          <p:cNvPr id="18" name="Freeform 18"/>
          <p:cNvSpPr/>
          <p:nvPr/>
        </p:nvSpPr>
        <p:spPr>
          <a:xfrm>
            <a:off x="9376640" y="1871911"/>
            <a:ext cx="8349648" cy="7024142"/>
          </a:xfrm>
          <a:custGeom>
            <a:avLst/>
            <a:gdLst/>
            <a:ahLst/>
            <a:cxnLst/>
            <a:rect l="l" t="t" r="r" b="b"/>
            <a:pathLst>
              <a:path w="8349648" h="7024142">
                <a:moveTo>
                  <a:pt x="0" y="0"/>
                </a:moveTo>
                <a:lnTo>
                  <a:pt x="8349648" y="0"/>
                </a:lnTo>
                <a:lnTo>
                  <a:pt x="8349648" y="7024142"/>
                </a:lnTo>
                <a:lnTo>
                  <a:pt x="0" y="702414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9" name="Group 19"/>
          <p:cNvGrpSpPr/>
          <p:nvPr/>
        </p:nvGrpSpPr>
        <p:grpSpPr>
          <a:xfrm>
            <a:off x="605317" y="7273405"/>
            <a:ext cx="2398969" cy="485561"/>
            <a:chOff x="0" y="0"/>
            <a:chExt cx="895826" cy="181319"/>
          </a:xfrm>
        </p:grpSpPr>
        <p:sp>
          <p:nvSpPr>
            <p:cNvPr id="20" name="Freeform 20"/>
            <p:cNvSpPr/>
            <p:nvPr/>
          </p:nvSpPr>
          <p:spPr>
            <a:xfrm>
              <a:off x="0" y="0"/>
              <a:ext cx="895826" cy="181319"/>
            </a:xfrm>
            <a:custGeom>
              <a:avLst/>
              <a:gdLst/>
              <a:ahLst/>
              <a:cxnLst/>
              <a:rect l="l" t="t" r="r" b="b"/>
              <a:pathLst>
                <a:path w="895826" h="181319">
                  <a:moveTo>
                    <a:pt x="37819" y="0"/>
                  </a:moveTo>
                  <a:lnTo>
                    <a:pt x="858008" y="0"/>
                  </a:lnTo>
                  <a:cubicBezTo>
                    <a:pt x="878894" y="0"/>
                    <a:pt x="895826" y="16932"/>
                    <a:pt x="895826" y="37819"/>
                  </a:cubicBezTo>
                  <a:lnTo>
                    <a:pt x="895826" y="143500"/>
                  </a:lnTo>
                  <a:cubicBezTo>
                    <a:pt x="895826" y="153531"/>
                    <a:pt x="891842" y="163150"/>
                    <a:pt x="884749" y="170242"/>
                  </a:cubicBezTo>
                  <a:cubicBezTo>
                    <a:pt x="877657" y="177335"/>
                    <a:pt x="868038" y="181319"/>
                    <a:pt x="858008" y="181319"/>
                  </a:cubicBezTo>
                  <a:lnTo>
                    <a:pt x="37819" y="181319"/>
                  </a:lnTo>
                  <a:cubicBezTo>
                    <a:pt x="27788" y="181319"/>
                    <a:pt x="18169" y="177335"/>
                    <a:pt x="11077" y="170242"/>
                  </a:cubicBezTo>
                  <a:cubicBezTo>
                    <a:pt x="3984" y="163150"/>
                    <a:pt x="0" y="153531"/>
                    <a:pt x="0" y="143500"/>
                  </a:cubicBezTo>
                  <a:lnTo>
                    <a:pt x="0" y="37819"/>
                  </a:lnTo>
                  <a:cubicBezTo>
                    <a:pt x="0" y="27788"/>
                    <a:pt x="3984" y="18169"/>
                    <a:pt x="11077" y="11077"/>
                  </a:cubicBezTo>
                  <a:cubicBezTo>
                    <a:pt x="18169" y="3984"/>
                    <a:pt x="27788" y="0"/>
                    <a:pt x="37819" y="0"/>
                  </a:cubicBezTo>
                  <a:close/>
                </a:path>
              </a:pathLst>
            </a:custGeom>
            <a:solidFill>
              <a:srgbClr val="E9A379"/>
            </a:solidFill>
          </p:spPr>
        </p:sp>
        <p:sp>
          <p:nvSpPr>
            <p:cNvPr id="21" name="TextBox 21"/>
            <p:cNvSpPr txBox="1"/>
            <p:nvPr/>
          </p:nvSpPr>
          <p:spPr>
            <a:xfrm>
              <a:off x="0" y="-38100"/>
              <a:ext cx="895826" cy="219419"/>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3133722" y="7255836"/>
            <a:ext cx="3430516" cy="520700"/>
            <a:chOff x="0" y="0"/>
            <a:chExt cx="1331041" cy="202032"/>
          </a:xfrm>
        </p:grpSpPr>
        <p:sp>
          <p:nvSpPr>
            <p:cNvPr id="23" name="Freeform 23"/>
            <p:cNvSpPr/>
            <p:nvPr/>
          </p:nvSpPr>
          <p:spPr>
            <a:xfrm>
              <a:off x="0" y="0"/>
              <a:ext cx="1331041" cy="202032"/>
            </a:xfrm>
            <a:custGeom>
              <a:avLst/>
              <a:gdLst/>
              <a:ahLst/>
              <a:cxnLst/>
              <a:rect l="l" t="t" r="r" b="b"/>
              <a:pathLst>
                <a:path w="1331041" h="202032">
                  <a:moveTo>
                    <a:pt x="26447" y="0"/>
                  </a:moveTo>
                  <a:lnTo>
                    <a:pt x="1304594" y="0"/>
                  </a:lnTo>
                  <a:cubicBezTo>
                    <a:pt x="1311608" y="0"/>
                    <a:pt x="1318335" y="2786"/>
                    <a:pt x="1323295" y="7746"/>
                  </a:cubicBezTo>
                  <a:cubicBezTo>
                    <a:pt x="1328254" y="12706"/>
                    <a:pt x="1331041" y="19433"/>
                    <a:pt x="1331041" y="26447"/>
                  </a:cubicBezTo>
                  <a:lnTo>
                    <a:pt x="1331041" y="175585"/>
                  </a:lnTo>
                  <a:cubicBezTo>
                    <a:pt x="1331041" y="190191"/>
                    <a:pt x="1319200" y="202032"/>
                    <a:pt x="1304594" y="202032"/>
                  </a:cubicBezTo>
                  <a:lnTo>
                    <a:pt x="26447" y="202032"/>
                  </a:lnTo>
                  <a:cubicBezTo>
                    <a:pt x="11841" y="202032"/>
                    <a:pt x="0" y="190191"/>
                    <a:pt x="0" y="175585"/>
                  </a:cubicBezTo>
                  <a:lnTo>
                    <a:pt x="0" y="26447"/>
                  </a:lnTo>
                  <a:cubicBezTo>
                    <a:pt x="0" y="11841"/>
                    <a:pt x="11841" y="0"/>
                    <a:pt x="26447" y="0"/>
                  </a:cubicBezTo>
                  <a:close/>
                </a:path>
              </a:pathLst>
            </a:custGeom>
            <a:solidFill>
              <a:srgbClr val="EEB243"/>
            </a:solidFill>
          </p:spPr>
        </p:sp>
        <p:sp>
          <p:nvSpPr>
            <p:cNvPr id="24" name="TextBox 24"/>
            <p:cNvSpPr txBox="1"/>
            <p:nvPr/>
          </p:nvSpPr>
          <p:spPr>
            <a:xfrm>
              <a:off x="0" y="-38100"/>
              <a:ext cx="1331041" cy="240132"/>
            </a:xfrm>
            <a:prstGeom prst="rect">
              <a:avLst/>
            </a:prstGeom>
          </p:spPr>
          <p:txBody>
            <a:bodyPr lIns="50800" tIns="50800" rIns="50800" bIns="50800" rtlCol="0" anchor="ctr"/>
            <a:lstStyle/>
            <a:p>
              <a:pPr algn="ctr">
                <a:lnSpc>
                  <a:spcPts val="2659"/>
                </a:lnSpc>
              </a:pPr>
              <a:endParaRPr/>
            </a:p>
          </p:txBody>
        </p:sp>
      </p:grpSp>
      <p:sp>
        <p:nvSpPr>
          <p:cNvPr id="25" name="Freeform 25"/>
          <p:cNvSpPr/>
          <p:nvPr/>
        </p:nvSpPr>
        <p:spPr>
          <a:xfrm>
            <a:off x="-2839236" y="9227000"/>
            <a:ext cx="7315200" cy="746760"/>
          </a:xfrm>
          <a:custGeom>
            <a:avLst/>
            <a:gdLst/>
            <a:ahLst/>
            <a:cxnLst/>
            <a:rect l="l" t="t" r="r" b="b"/>
            <a:pathLst>
              <a:path w="7315200" h="746760">
                <a:moveTo>
                  <a:pt x="0" y="0"/>
                </a:moveTo>
                <a:lnTo>
                  <a:pt x="7315200" y="0"/>
                </a:lnTo>
                <a:lnTo>
                  <a:pt x="7315200" y="746760"/>
                </a:lnTo>
                <a:lnTo>
                  <a:pt x="0" y="7467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6" name="Freeform 26"/>
          <p:cNvSpPr/>
          <p:nvPr/>
        </p:nvSpPr>
        <p:spPr>
          <a:xfrm>
            <a:off x="17239839" y="641973"/>
            <a:ext cx="486449" cy="386727"/>
          </a:xfrm>
          <a:custGeom>
            <a:avLst/>
            <a:gdLst/>
            <a:ahLst/>
            <a:cxnLst/>
            <a:rect l="l" t="t" r="r" b="b"/>
            <a:pathLst>
              <a:path w="486449" h="386727">
                <a:moveTo>
                  <a:pt x="0" y="0"/>
                </a:moveTo>
                <a:lnTo>
                  <a:pt x="486449" y="0"/>
                </a:lnTo>
                <a:lnTo>
                  <a:pt x="486449" y="386727"/>
                </a:lnTo>
                <a:lnTo>
                  <a:pt x="0" y="38672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7" name="TextBox 27"/>
          <p:cNvSpPr txBox="1"/>
          <p:nvPr/>
        </p:nvSpPr>
        <p:spPr>
          <a:xfrm>
            <a:off x="3310945" y="7312984"/>
            <a:ext cx="2872523" cy="349250"/>
          </a:xfrm>
          <a:prstGeom prst="rect">
            <a:avLst/>
          </a:prstGeom>
        </p:spPr>
        <p:txBody>
          <a:bodyPr lIns="0" tIns="0" rIns="0" bIns="0" rtlCol="0" anchor="t">
            <a:spAutoFit/>
          </a:bodyPr>
          <a:lstStyle/>
          <a:p>
            <a:pPr algn="ctr">
              <a:lnSpc>
                <a:spcPts val="2800"/>
              </a:lnSpc>
              <a:spcBef>
                <a:spcPct val="0"/>
              </a:spcBef>
            </a:pPr>
            <a:r>
              <a:rPr lang="en-US" sz="2000" spc="0">
                <a:solidFill>
                  <a:srgbClr val="B05510"/>
                </a:solidFill>
                <a:latin typeface="Roboto"/>
                <a:ea typeface="Roboto"/>
                <a:cs typeface="Roboto"/>
                <a:sym typeface="Pier Sans Light"/>
              </a:rPr>
              <a:t>Lecturer: TamNT122</a:t>
            </a:r>
          </a:p>
        </p:txBody>
      </p:sp>
      <p:sp>
        <p:nvSpPr>
          <p:cNvPr id="28" name="TextBox 28"/>
          <p:cNvSpPr txBox="1"/>
          <p:nvPr/>
        </p:nvSpPr>
        <p:spPr>
          <a:xfrm>
            <a:off x="818364" y="7317748"/>
            <a:ext cx="1807811" cy="349250"/>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SEP490_G4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9D9D9"/>
        </a:solidFill>
        <a:effectLst/>
      </p:bgPr>
    </p:bg>
    <p:spTree>
      <p:nvGrpSpPr>
        <p:cNvPr id="1" name=""/>
        <p:cNvGrpSpPr/>
        <p:nvPr/>
      </p:nvGrpSpPr>
      <p:grpSpPr>
        <a:xfrm>
          <a:off x="0" y="0"/>
          <a:ext cx="0" cy="0"/>
          <a:chOff x="0" y="0"/>
          <a:chExt cx="0" cy="0"/>
        </a:xfrm>
      </p:grpSpPr>
      <p:grpSp>
        <p:nvGrpSpPr>
          <p:cNvPr id="2" name="Group 2"/>
          <p:cNvGrpSpPr/>
          <p:nvPr/>
        </p:nvGrpSpPr>
        <p:grpSpPr>
          <a:xfrm>
            <a:off x="-2617123" y="835337"/>
            <a:ext cx="7291646" cy="72916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alpha val="11765"/>
              </a:srgbClr>
            </a:soli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826927" y="-2356557"/>
            <a:ext cx="7416842" cy="6720641"/>
            <a:chOff x="0" y="0"/>
            <a:chExt cx="896999" cy="812800"/>
          </a:xfrm>
        </p:grpSpPr>
        <p:sp>
          <p:nvSpPr>
            <p:cNvPr id="6" name="Freeform 6"/>
            <p:cNvSpPr/>
            <p:nvPr/>
          </p:nvSpPr>
          <p:spPr>
            <a:xfrm>
              <a:off x="0" y="0"/>
              <a:ext cx="896999" cy="812800"/>
            </a:xfrm>
            <a:custGeom>
              <a:avLst/>
              <a:gdLst/>
              <a:ahLst/>
              <a:cxnLst/>
              <a:rect l="l" t="t" r="r" b="b"/>
              <a:pathLst>
                <a:path w="896999" h="812800">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id="7" name="TextBox 7"/>
            <p:cNvSpPr txBox="1"/>
            <p:nvPr/>
          </p:nvSpPr>
          <p:spPr>
            <a:xfrm>
              <a:off x="84094" y="38100"/>
              <a:ext cx="728812"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7239839" y="641973"/>
            <a:ext cx="486449" cy="386727"/>
          </a:xfrm>
          <a:custGeom>
            <a:avLst/>
            <a:gdLst/>
            <a:ahLst/>
            <a:cxnLst/>
            <a:rect l="l" t="t" r="r" b="b"/>
            <a:pathLst>
              <a:path w="486449" h="386727">
                <a:moveTo>
                  <a:pt x="0" y="0"/>
                </a:moveTo>
                <a:lnTo>
                  <a:pt x="486449" y="0"/>
                </a:lnTo>
                <a:lnTo>
                  <a:pt x="486449" y="386727"/>
                </a:lnTo>
                <a:lnTo>
                  <a:pt x="0" y="3867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493968" y="1275404"/>
            <a:ext cx="7963993" cy="8052946"/>
            <a:chOff x="0" y="0"/>
            <a:chExt cx="1233831" cy="1247612"/>
          </a:xfrm>
        </p:grpSpPr>
        <p:sp>
          <p:nvSpPr>
            <p:cNvPr id="10" name="Freeform 10"/>
            <p:cNvSpPr/>
            <p:nvPr/>
          </p:nvSpPr>
          <p:spPr>
            <a:xfrm>
              <a:off x="0" y="0"/>
              <a:ext cx="1233831" cy="1247612"/>
            </a:xfrm>
            <a:custGeom>
              <a:avLst/>
              <a:gdLst/>
              <a:ahLst/>
              <a:cxnLst/>
              <a:rect l="l" t="t" r="r" b="b"/>
              <a:pathLst>
                <a:path w="1233831" h="1247612">
                  <a:moveTo>
                    <a:pt x="0" y="0"/>
                  </a:moveTo>
                  <a:lnTo>
                    <a:pt x="1233831" y="0"/>
                  </a:lnTo>
                  <a:lnTo>
                    <a:pt x="1233831" y="1247612"/>
                  </a:lnTo>
                  <a:lnTo>
                    <a:pt x="0" y="1247612"/>
                  </a:lnTo>
                  <a:close/>
                </a:path>
              </a:pathLst>
            </a:custGeom>
            <a:blipFill>
              <a:blip r:embed="rId4"/>
              <a:stretch>
                <a:fillRect l="-39881" r="-39881"/>
              </a:stretch>
            </a:blipFill>
          </p:spPr>
        </p:sp>
      </p:grpSp>
      <p:sp>
        <p:nvSpPr>
          <p:cNvPr id="11" name="Freeform 11"/>
          <p:cNvSpPr/>
          <p:nvPr/>
        </p:nvSpPr>
        <p:spPr>
          <a:xfrm>
            <a:off x="-2640677" y="9227000"/>
            <a:ext cx="7315200" cy="746760"/>
          </a:xfrm>
          <a:custGeom>
            <a:avLst/>
            <a:gdLst/>
            <a:ahLst/>
            <a:cxnLst/>
            <a:rect l="l" t="t" r="r" b="b"/>
            <a:pathLst>
              <a:path w="7315200" h="746760">
                <a:moveTo>
                  <a:pt x="0" y="0"/>
                </a:moveTo>
                <a:lnTo>
                  <a:pt x="7315200" y="0"/>
                </a:lnTo>
                <a:lnTo>
                  <a:pt x="7315200" y="746760"/>
                </a:lnTo>
                <a:lnTo>
                  <a:pt x="0" y="74676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2" name="Group 12"/>
          <p:cNvGrpSpPr/>
          <p:nvPr/>
        </p:nvGrpSpPr>
        <p:grpSpPr>
          <a:xfrm>
            <a:off x="16619038" y="4681647"/>
            <a:ext cx="4277180" cy="4277180"/>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solidFill>
          </p:spPr>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p:cNvSpPr txBox="1"/>
          <p:nvPr/>
        </p:nvSpPr>
        <p:spPr>
          <a:xfrm>
            <a:off x="8950109" y="1039035"/>
            <a:ext cx="7402229" cy="2157095"/>
          </a:xfrm>
          <a:prstGeom prst="rect">
            <a:avLst/>
          </a:prstGeom>
        </p:spPr>
        <p:txBody>
          <a:bodyPr lIns="0" tIns="0" rIns="0" bIns="0" rtlCol="0" anchor="t">
            <a:spAutoFit/>
          </a:bodyPr>
          <a:lstStyle/>
          <a:p>
            <a:pPr algn="l">
              <a:lnSpc>
                <a:spcPts val="8680"/>
              </a:lnSpc>
              <a:spcBef>
                <a:spcPct val="0"/>
              </a:spcBef>
            </a:pPr>
            <a:r>
              <a:rPr lang="en-US" sz="6200" b="1" spc="-124">
                <a:solidFill>
                  <a:srgbClr val="B05510"/>
                </a:solidFill>
                <a:latin typeface="Roboto"/>
                <a:ea typeface="Roboto"/>
                <a:cs typeface="Roboto"/>
                <a:sym typeface="Gordita Bold"/>
              </a:rPr>
              <a:t>AGV &amp; TỰ ĐỘNG HOÁ KHO</a:t>
            </a:r>
          </a:p>
        </p:txBody>
      </p:sp>
      <p:sp>
        <p:nvSpPr>
          <p:cNvPr id="19" name="TextBox 19"/>
          <p:cNvSpPr txBox="1"/>
          <p:nvPr/>
        </p:nvSpPr>
        <p:spPr>
          <a:xfrm>
            <a:off x="9683453" y="3865136"/>
            <a:ext cx="7112000" cy="523900"/>
          </a:xfrm>
          <a:prstGeom prst="rect">
            <a:avLst/>
          </a:prstGeom>
        </p:spPr>
        <p:txBody>
          <a:bodyPr lIns="0" tIns="0" rIns="0" bIns="0" rtlCol="0" anchor="t">
            <a:spAutoFit/>
          </a:bodyPr>
          <a:lstStyle/>
          <a:p>
            <a:pPr algn="just">
              <a:lnSpc>
                <a:spcPts val="4200"/>
              </a:lnSpc>
              <a:spcBef>
                <a:spcPct val="0"/>
              </a:spcBef>
            </a:pPr>
            <a:r>
              <a:rPr lang="en-US" sz="3000" b="1" spc="0">
                <a:solidFill>
                  <a:srgbClr val="B05510"/>
                </a:solidFill>
                <a:latin typeface="Roboto"/>
                <a:ea typeface="Roboto"/>
                <a:cs typeface="Roboto"/>
                <a:sym typeface="Pier Sans Light Bold"/>
              </a:rPr>
              <a:t>Xe tự hành bám lưới QR</a:t>
            </a:r>
          </a:p>
        </p:txBody>
      </p:sp>
      <p:sp>
        <p:nvSpPr>
          <p:cNvPr id="20" name="TextBox 20"/>
          <p:cNvSpPr txBox="1"/>
          <p:nvPr/>
        </p:nvSpPr>
        <p:spPr>
          <a:xfrm>
            <a:off x="9683453" y="5718278"/>
            <a:ext cx="7112000" cy="523900"/>
          </a:xfrm>
          <a:prstGeom prst="rect">
            <a:avLst/>
          </a:prstGeom>
        </p:spPr>
        <p:txBody>
          <a:bodyPr lIns="0" tIns="0" rIns="0" bIns="0" rtlCol="0" anchor="t">
            <a:spAutoFit/>
          </a:bodyPr>
          <a:lstStyle/>
          <a:p>
            <a:pPr algn="just">
              <a:lnSpc>
                <a:spcPts val="4200"/>
              </a:lnSpc>
              <a:spcBef>
                <a:spcPct val="0"/>
              </a:spcBef>
            </a:pPr>
            <a:r>
              <a:rPr lang="en-US" sz="3000" b="1" spc="0">
                <a:solidFill>
                  <a:srgbClr val="B05510"/>
                </a:solidFill>
                <a:latin typeface="Roboto"/>
                <a:ea typeface="Roboto"/>
                <a:cs typeface="Roboto"/>
                <a:sym typeface="Pier Sans Light Bold"/>
              </a:rPr>
              <a:t>Thay thế thao tác thủ công</a:t>
            </a:r>
          </a:p>
        </p:txBody>
      </p:sp>
      <p:sp>
        <p:nvSpPr>
          <p:cNvPr id="21" name="TextBox 21"/>
          <p:cNvSpPr txBox="1"/>
          <p:nvPr/>
        </p:nvSpPr>
        <p:spPr>
          <a:xfrm>
            <a:off x="9683453" y="7572651"/>
            <a:ext cx="7112000" cy="523900"/>
          </a:xfrm>
          <a:prstGeom prst="rect">
            <a:avLst/>
          </a:prstGeom>
        </p:spPr>
        <p:txBody>
          <a:bodyPr lIns="0" tIns="0" rIns="0" bIns="0" rtlCol="0" anchor="t">
            <a:spAutoFit/>
          </a:bodyPr>
          <a:lstStyle/>
          <a:p>
            <a:pPr algn="just">
              <a:lnSpc>
                <a:spcPts val="4200"/>
              </a:lnSpc>
              <a:spcBef>
                <a:spcPct val="0"/>
              </a:spcBef>
            </a:pPr>
            <a:r>
              <a:rPr lang="en-US" sz="3000" b="1" spc="0">
                <a:solidFill>
                  <a:srgbClr val="B05510"/>
                </a:solidFill>
                <a:latin typeface="Roboto"/>
                <a:ea typeface="Roboto"/>
                <a:cs typeface="Roboto"/>
                <a:sym typeface="Pier Sans Light Bold"/>
              </a:rPr>
              <a:t>Bài toán mới sinh ra</a:t>
            </a:r>
          </a:p>
        </p:txBody>
      </p:sp>
      <p:sp>
        <p:nvSpPr>
          <p:cNvPr id="22" name="TextBox 22"/>
          <p:cNvSpPr txBox="1"/>
          <p:nvPr/>
        </p:nvSpPr>
        <p:spPr>
          <a:xfrm>
            <a:off x="9704895" y="4465235"/>
            <a:ext cx="7208472" cy="1054249"/>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AGV di chuyển theo lưới mã QR dán trên sàn kho. Mỗi mã là một điểm trên bản đồ; xe đọc mã dưới bụng để biết mình đang ở đâu.</a:t>
            </a:r>
          </a:p>
        </p:txBody>
      </p:sp>
      <p:sp>
        <p:nvSpPr>
          <p:cNvPr id="23" name="TextBox 23"/>
          <p:cNvSpPr txBox="1"/>
          <p:nvPr/>
        </p:nvSpPr>
        <p:spPr>
          <a:xfrm>
            <a:off x="9704895" y="6318378"/>
            <a:ext cx="6647443" cy="1054249"/>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Đẩy xe, kéo pallet, di chuyển kiện hàng giữa các khu — những việc trước đây do người làm.</a:t>
            </a:r>
          </a:p>
        </p:txBody>
      </p:sp>
      <p:sp>
        <p:nvSpPr>
          <p:cNvPr id="24" name="TextBox 24"/>
          <p:cNvSpPr txBox="1"/>
          <p:nvPr/>
        </p:nvSpPr>
        <p:spPr>
          <a:xfrm>
            <a:off x="9704895" y="8172751"/>
            <a:ext cx="7208472" cy="1054249"/>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Quyết định trước đây nằm trong đầu người vận hành nay phải có phần mềm ra thay: việc nào làm trước, xe nào làm, đi đường nào.</a:t>
            </a:r>
          </a:p>
        </p:txBody>
      </p:sp>
      <p:grpSp>
        <p:nvGrpSpPr>
          <p:cNvPr id="25" name="Group 25"/>
          <p:cNvGrpSpPr/>
          <p:nvPr/>
        </p:nvGrpSpPr>
        <p:grpSpPr>
          <a:xfrm>
            <a:off x="16352338" y="2454341"/>
            <a:ext cx="453167" cy="453167"/>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873C"/>
            </a:solidFill>
          </p:spPr>
        </p:sp>
        <p:sp>
          <p:nvSpPr>
            <p:cNvPr id="27" name="TextBox 2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001" name="Num 1"/>
          <p:cNvSpPr/>
          <p:nvPr/>
        </p:nvSpPr>
        <p:spPr>
          <a:xfrm>
            <a:off x="8953500" y="3937000"/>
            <a:ext cx="508000" cy="508000"/>
          </a:xfrm>
          <a:prstGeom prst="ellipse">
            <a:avLst/>
          </a:prstGeom>
          <a:solidFill>
            <a:srgbClr val="B05510"/>
          </a:solidFill>
          <a:ln>
            <a:noFill/>
          </a:ln>
        </p:spPr>
        <p:txBody>
          <a:bodyPr lIns="0" tIns="0" rIns="0" bIns="0" anchor="ctr"/>
          <a:lstStyle/>
          <a:p>
            <a:pPr algn="ctr"/>
            <a:r>
              <a:rPr lang="en-US" sz="1400" b="1" dirty="0">
                <a:solidFill>
                  <a:srgbClr val="FFFFFF"/>
                </a:solidFill>
                <a:latin typeface="Roboto"/>
                <a:cs typeface="Roboto"/>
              </a:rPr>
              <a:t>1</a:t>
            </a:r>
          </a:p>
        </p:txBody>
      </p:sp>
      <p:sp>
        <p:nvSpPr>
          <p:cNvPr id="9002" name="Num 2"/>
          <p:cNvSpPr/>
          <p:nvPr/>
        </p:nvSpPr>
        <p:spPr>
          <a:xfrm>
            <a:off x="8953500" y="5791200"/>
            <a:ext cx="508000" cy="508000"/>
          </a:xfrm>
          <a:prstGeom prst="ellipse">
            <a:avLst/>
          </a:prstGeom>
          <a:solidFill>
            <a:srgbClr val="B05510"/>
          </a:solidFill>
          <a:ln>
            <a:noFill/>
          </a:ln>
        </p:spPr>
        <p:txBody>
          <a:bodyPr lIns="0" tIns="0" rIns="0" bIns="0" anchor="ctr"/>
          <a:lstStyle/>
          <a:p>
            <a:pPr algn="ctr"/>
            <a:r>
              <a:rPr lang="en-US" sz="1400" b="1" dirty="0">
                <a:solidFill>
                  <a:srgbClr val="FFFFFF"/>
                </a:solidFill>
                <a:latin typeface="Roboto"/>
                <a:cs typeface="Roboto"/>
              </a:rPr>
              <a:t>2</a:t>
            </a:r>
          </a:p>
        </p:txBody>
      </p:sp>
      <p:sp>
        <p:nvSpPr>
          <p:cNvPr id="9003" name="Num 3"/>
          <p:cNvSpPr/>
          <p:nvPr/>
        </p:nvSpPr>
        <p:spPr>
          <a:xfrm>
            <a:off x="8953500" y="7645400"/>
            <a:ext cx="508000" cy="508000"/>
          </a:xfrm>
          <a:prstGeom prst="ellipse">
            <a:avLst/>
          </a:prstGeom>
          <a:solidFill>
            <a:srgbClr val="B05510"/>
          </a:solidFill>
          <a:ln>
            <a:noFill/>
          </a:ln>
        </p:spPr>
        <p:txBody>
          <a:bodyPr lIns="0" tIns="0" rIns="0" bIns="0" anchor="ctr"/>
          <a:lstStyle/>
          <a:p>
            <a:pPr algn="ctr"/>
            <a:r>
              <a:rPr lang="en-US" sz="1400" b="1" dirty="0">
                <a:solidFill>
                  <a:srgbClr val="FFFFFF"/>
                </a:solidFill>
                <a:latin typeface="Roboto"/>
                <a:cs typeface="Roboto"/>
              </a:rPr>
              <a:t>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9D9D9"/>
        </a:solidFill>
        <a:effectLst/>
      </p:bgPr>
    </p:bg>
    <p:spTree>
      <p:nvGrpSpPr>
        <p:cNvPr id="1" name=""/>
        <p:cNvGrpSpPr/>
        <p:nvPr/>
      </p:nvGrpSpPr>
      <p:grpSpPr>
        <a:xfrm>
          <a:off x="0" y="0"/>
          <a:ext cx="0" cy="0"/>
          <a:chOff x="0" y="0"/>
          <a:chExt cx="0" cy="0"/>
        </a:xfrm>
      </p:grpSpPr>
      <p:grpSp>
        <p:nvGrpSpPr>
          <p:cNvPr id="2" name="Group 2"/>
          <p:cNvGrpSpPr/>
          <p:nvPr/>
        </p:nvGrpSpPr>
        <p:grpSpPr>
          <a:xfrm>
            <a:off x="154303" y="266120"/>
            <a:ext cx="7637713" cy="7467204"/>
            <a:chOff x="0" y="0"/>
            <a:chExt cx="831360" cy="812800"/>
          </a:xfrm>
        </p:grpSpPr>
        <p:sp>
          <p:nvSpPr>
            <p:cNvPr id="3" name="Freeform 3"/>
            <p:cNvSpPr/>
            <p:nvPr/>
          </p:nvSpPr>
          <p:spPr>
            <a:xfrm>
              <a:off x="0" y="0"/>
              <a:ext cx="831360" cy="812800"/>
            </a:xfrm>
            <a:custGeom>
              <a:avLst/>
              <a:gdLst/>
              <a:ahLst/>
              <a:cxnLst/>
              <a:rect l="l" t="t" r="r" b="b"/>
              <a:pathLst>
                <a:path w="831360" h="812800">
                  <a:moveTo>
                    <a:pt x="415680" y="0"/>
                  </a:moveTo>
                  <a:cubicBezTo>
                    <a:pt x="186106" y="0"/>
                    <a:pt x="0" y="181951"/>
                    <a:pt x="0" y="406400"/>
                  </a:cubicBezTo>
                  <a:cubicBezTo>
                    <a:pt x="0" y="630849"/>
                    <a:pt x="186106" y="812800"/>
                    <a:pt x="415680" y="812800"/>
                  </a:cubicBezTo>
                  <a:cubicBezTo>
                    <a:pt x="645254" y="812800"/>
                    <a:pt x="831360" y="630849"/>
                    <a:pt x="831360" y="406400"/>
                  </a:cubicBezTo>
                  <a:cubicBezTo>
                    <a:pt x="831360" y="181951"/>
                    <a:pt x="645254" y="0"/>
                    <a:pt x="415680" y="0"/>
                  </a:cubicBezTo>
                  <a:close/>
                </a:path>
              </a:pathLst>
            </a:custGeom>
            <a:solidFill>
              <a:srgbClr val="B05510">
                <a:alpha val="11765"/>
              </a:srgbClr>
            </a:solidFill>
          </p:spPr>
        </p:sp>
        <p:sp>
          <p:nvSpPr>
            <p:cNvPr id="4" name="TextBox 4"/>
            <p:cNvSpPr txBox="1"/>
            <p:nvPr/>
          </p:nvSpPr>
          <p:spPr>
            <a:xfrm>
              <a:off x="77940" y="38100"/>
              <a:ext cx="67548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3541611">
            <a:off x="-3130150" y="-1878432"/>
            <a:ext cx="7198850" cy="6523111"/>
            <a:chOff x="0" y="0"/>
            <a:chExt cx="896999" cy="812800"/>
          </a:xfrm>
        </p:grpSpPr>
        <p:sp>
          <p:nvSpPr>
            <p:cNvPr id="6" name="Freeform 6"/>
            <p:cNvSpPr/>
            <p:nvPr/>
          </p:nvSpPr>
          <p:spPr>
            <a:xfrm>
              <a:off x="0" y="0"/>
              <a:ext cx="896999" cy="812800"/>
            </a:xfrm>
            <a:custGeom>
              <a:avLst/>
              <a:gdLst/>
              <a:ahLst/>
              <a:cxnLst/>
              <a:rect l="l" t="t" r="r" b="b"/>
              <a:pathLst>
                <a:path w="896999" h="812800">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id="7" name="TextBox 7"/>
            <p:cNvSpPr txBox="1"/>
            <p:nvPr/>
          </p:nvSpPr>
          <p:spPr>
            <a:xfrm>
              <a:off x="84094" y="38100"/>
              <a:ext cx="728812"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7239839" y="641973"/>
            <a:ext cx="486449" cy="386727"/>
          </a:xfrm>
          <a:custGeom>
            <a:avLst/>
            <a:gdLst/>
            <a:ahLst/>
            <a:cxnLst/>
            <a:rect l="l" t="t" r="r" b="b"/>
            <a:pathLst>
              <a:path w="486449" h="386727">
                <a:moveTo>
                  <a:pt x="0" y="0"/>
                </a:moveTo>
                <a:lnTo>
                  <a:pt x="486449" y="0"/>
                </a:lnTo>
                <a:lnTo>
                  <a:pt x="486449" y="386727"/>
                </a:lnTo>
                <a:lnTo>
                  <a:pt x="0" y="3867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2640677" y="9227000"/>
            <a:ext cx="7315200" cy="746760"/>
          </a:xfrm>
          <a:custGeom>
            <a:avLst/>
            <a:gdLst/>
            <a:ahLst/>
            <a:cxnLst/>
            <a:rect l="l" t="t" r="r" b="b"/>
            <a:pathLst>
              <a:path w="7315200" h="746760">
                <a:moveTo>
                  <a:pt x="0" y="0"/>
                </a:moveTo>
                <a:lnTo>
                  <a:pt x="7315200" y="0"/>
                </a:lnTo>
                <a:lnTo>
                  <a:pt x="7315200" y="746760"/>
                </a:lnTo>
                <a:lnTo>
                  <a:pt x="0" y="7467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0" name="Group 10"/>
          <p:cNvGrpSpPr/>
          <p:nvPr/>
        </p:nvGrpSpPr>
        <p:grpSpPr>
          <a:xfrm>
            <a:off x="469275" y="3680254"/>
            <a:ext cx="5572263" cy="3708400"/>
            <a:chOff x="0" y="0"/>
            <a:chExt cx="1214440" cy="1075579"/>
          </a:xfrm>
        </p:grpSpPr>
        <p:sp>
          <p:nvSpPr>
            <p:cNvPr id="11" name="Freeform 11"/>
            <p:cNvSpPr/>
            <p:nvPr/>
          </p:nvSpPr>
          <p:spPr>
            <a:xfrm>
              <a:off x="0" y="0"/>
              <a:ext cx="1214440" cy="1075579"/>
            </a:xfrm>
            <a:custGeom>
              <a:avLst/>
              <a:gdLst/>
              <a:ahLst/>
              <a:cxnLst/>
              <a:rect l="l" t="t" r="r" b="b"/>
              <a:pathLst>
                <a:path w="1214440" h="1075579">
                  <a:moveTo>
                    <a:pt x="27136" y="0"/>
                  </a:moveTo>
                  <a:lnTo>
                    <a:pt x="1187303" y="0"/>
                  </a:lnTo>
                  <a:cubicBezTo>
                    <a:pt x="1194500" y="0"/>
                    <a:pt x="1201403" y="2859"/>
                    <a:pt x="1206492" y="7948"/>
                  </a:cubicBezTo>
                  <a:cubicBezTo>
                    <a:pt x="1211581" y="13037"/>
                    <a:pt x="1214440" y="19939"/>
                    <a:pt x="1214440" y="27136"/>
                  </a:cubicBezTo>
                  <a:lnTo>
                    <a:pt x="1214440" y="1048443"/>
                  </a:lnTo>
                  <a:cubicBezTo>
                    <a:pt x="1214440" y="1063430"/>
                    <a:pt x="1202290" y="1075579"/>
                    <a:pt x="1187303" y="1075579"/>
                  </a:cubicBezTo>
                  <a:lnTo>
                    <a:pt x="27136" y="1075579"/>
                  </a:lnTo>
                  <a:cubicBezTo>
                    <a:pt x="12149" y="1075579"/>
                    <a:pt x="0" y="1063430"/>
                    <a:pt x="0" y="1048443"/>
                  </a:cubicBezTo>
                  <a:lnTo>
                    <a:pt x="0" y="27136"/>
                  </a:lnTo>
                  <a:cubicBezTo>
                    <a:pt x="0" y="12149"/>
                    <a:pt x="12149" y="0"/>
                    <a:pt x="27136" y="0"/>
                  </a:cubicBezTo>
                  <a:close/>
                </a:path>
              </a:pathLst>
            </a:custGeom>
            <a:solidFill>
              <a:srgbClr val="F2B05B"/>
            </a:solidFill>
            <a:ln w="76200" cap="rnd">
              <a:solidFill>
                <a:srgbClr val="B05510"/>
              </a:solidFill>
              <a:prstDash val="solid"/>
              <a:round/>
            </a:ln>
          </p:spPr>
        </p:sp>
        <p:sp>
          <p:nvSpPr>
            <p:cNvPr id="12" name="TextBox 12"/>
            <p:cNvSpPr txBox="1"/>
            <p:nvPr/>
          </p:nvSpPr>
          <p:spPr>
            <a:xfrm>
              <a:off x="0" y="-38100"/>
              <a:ext cx="1214440" cy="1113679"/>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6359459" y="3680254"/>
            <a:ext cx="5572263" cy="3708400"/>
            <a:chOff x="0" y="0"/>
            <a:chExt cx="1214440" cy="1075579"/>
          </a:xfrm>
        </p:grpSpPr>
        <p:sp>
          <p:nvSpPr>
            <p:cNvPr id="14" name="Freeform 14"/>
            <p:cNvSpPr/>
            <p:nvPr/>
          </p:nvSpPr>
          <p:spPr>
            <a:xfrm>
              <a:off x="0" y="0"/>
              <a:ext cx="1214440" cy="1075579"/>
            </a:xfrm>
            <a:custGeom>
              <a:avLst/>
              <a:gdLst/>
              <a:ahLst/>
              <a:cxnLst/>
              <a:rect l="l" t="t" r="r" b="b"/>
              <a:pathLst>
                <a:path w="1214440" h="1075579">
                  <a:moveTo>
                    <a:pt x="27136" y="0"/>
                  </a:moveTo>
                  <a:lnTo>
                    <a:pt x="1187303" y="0"/>
                  </a:lnTo>
                  <a:cubicBezTo>
                    <a:pt x="1194500" y="0"/>
                    <a:pt x="1201403" y="2859"/>
                    <a:pt x="1206492" y="7948"/>
                  </a:cubicBezTo>
                  <a:cubicBezTo>
                    <a:pt x="1211581" y="13037"/>
                    <a:pt x="1214440" y="19939"/>
                    <a:pt x="1214440" y="27136"/>
                  </a:cubicBezTo>
                  <a:lnTo>
                    <a:pt x="1214440" y="1048443"/>
                  </a:lnTo>
                  <a:cubicBezTo>
                    <a:pt x="1214440" y="1063430"/>
                    <a:pt x="1202290" y="1075579"/>
                    <a:pt x="1187303" y="1075579"/>
                  </a:cubicBezTo>
                  <a:lnTo>
                    <a:pt x="27136" y="1075579"/>
                  </a:lnTo>
                  <a:cubicBezTo>
                    <a:pt x="12149" y="1075579"/>
                    <a:pt x="0" y="1063430"/>
                    <a:pt x="0" y="1048443"/>
                  </a:cubicBezTo>
                  <a:lnTo>
                    <a:pt x="0" y="27136"/>
                  </a:lnTo>
                  <a:cubicBezTo>
                    <a:pt x="0" y="12149"/>
                    <a:pt x="12149" y="0"/>
                    <a:pt x="27136" y="0"/>
                  </a:cubicBezTo>
                  <a:close/>
                </a:path>
              </a:pathLst>
            </a:custGeom>
            <a:solidFill>
              <a:srgbClr val="F2B05B"/>
            </a:solidFill>
            <a:ln w="76200" cap="rnd">
              <a:solidFill>
                <a:srgbClr val="B05510"/>
              </a:solidFill>
              <a:prstDash val="solid"/>
              <a:round/>
            </a:ln>
          </p:spPr>
        </p:sp>
        <p:sp>
          <p:nvSpPr>
            <p:cNvPr id="15" name="TextBox 15"/>
            <p:cNvSpPr txBox="1"/>
            <p:nvPr/>
          </p:nvSpPr>
          <p:spPr>
            <a:xfrm>
              <a:off x="0" y="-38100"/>
              <a:ext cx="1214440" cy="1113679"/>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2246462" y="3680254"/>
            <a:ext cx="5572263" cy="3708400"/>
            <a:chOff x="0" y="0"/>
            <a:chExt cx="1214440" cy="1075579"/>
          </a:xfrm>
        </p:grpSpPr>
        <p:sp>
          <p:nvSpPr>
            <p:cNvPr id="17" name="Freeform 17"/>
            <p:cNvSpPr/>
            <p:nvPr/>
          </p:nvSpPr>
          <p:spPr>
            <a:xfrm>
              <a:off x="0" y="0"/>
              <a:ext cx="1214440" cy="1075579"/>
            </a:xfrm>
            <a:custGeom>
              <a:avLst/>
              <a:gdLst/>
              <a:ahLst/>
              <a:cxnLst/>
              <a:rect l="l" t="t" r="r" b="b"/>
              <a:pathLst>
                <a:path w="1214440" h="1075579">
                  <a:moveTo>
                    <a:pt x="27136" y="0"/>
                  </a:moveTo>
                  <a:lnTo>
                    <a:pt x="1187303" y="0"/>
                  </a:lnTo>
                  <a:cubicBezTo>
                    <a:pt x="1194500" y="0"/>
                    <a:pt x="1201403" y="2859"/>
                    <a:pt x="1206492" y="7948"/>
                  </a:cubicBezTo>
                  <a:cubicBezTo>
                    <a:pt x="1211581" y="13037"/>
                    <a:pt x="1214440" y="19939"/>
                    <a:pt x="1214440" y="27136"/>
                  </a:cubicBezTo>
                  <a:lnTo>
                    <a:pt x="1214440" y="1048443"/>
                  </a:lnTo>
                  <a:cubicBezTo>
                    <a:pt x="1214440" y="1063430"/>
                    <a:pt x="1202290" y="1075579"/>
                    <a:pt x="1187303" y="1075579"/>
                  </a:cubicBezTo>
                  <a:lnTo>
                    <a:pt x="27136" y="1075579"/>
                  </a:lnTo>
                  <a:cubicBezTo>
                    <a:pt x="12149" y="1075579"/>
                    <a:pt x="0" y="1063430"/>
                    <a:pt x="0" y="1048443"/>
                  </a:cubicBezTo>
                  <a:lnTo>
                    <a:pt x="0" y="27136"/>
                  </a:lnTo>
                  <a:cubicBezTo>
                    <a:pt x="0" y="12149"/>
                    <a:pt x="12149" y="0"/>
                    <a:pt x="27136" y="0"/>
                  </a:cubicBezTo>
                  <a:close/>
                </a:path>
              </a:pathLst>
            </a:custGeom>
            <a:solidFill>
              <a:srgbClr val="F2B05B"/>
            </a:solidFill>
            <a:ln w="76200" cap="rnd">
              <a:solidFill>
                <a:srgbClr val="B05510"/>
              </a:solidFill>
              <a:prstDash val="solid"/>
              <a:round/>
            </a:ln>
          </p:spPr>
        </p:sp>
        <p:sp>
          <p:nvSpPr>
            <p:cNvPr id="18" name="TextBox 18"/>
            <p:cNvSpPr txBox="1"/>
            <p:nvPr/>
          </p:nvSpPr>
          <p:spPr>
            <a:xfrm>
              <a:off x="0" y="-38100"/>
              <a:ext cx="1214440" cy="1113679"/>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3375041" y="9258300"/>
            <a:ext cx="3315105" cy="2874132"/>
            <a:chOff x="0" y="0"/>
            <a:chExt cx="937506" cy="812800"/>
          </a:xfrm>
        </p:grpSpPr>
        <p:sp>
          <p:nvSpPr>
            <p:cNvPr id="20" name="Freeform 20"/>
            <p:cNvSpPr/>
            <p:nvPr/>
          </p:nvSpPr>
          <p:spPr>
            <a:xfrm>
              <a:off x="0" y="0"/>
              <a:ext cx="937506" cy="812800"/>
            </a:xfrm>
            <a:custGeom>
              <a:avLst/>
              <a:gdLst/>
              <a:ahLst/>
              <a:cxnLst/>
              <a:rect l="l" t="t" r="r" b="b"/>
              <a:pathLst>
                <a:path w="937506" h="812800">
                  <a:moveTo>
                    <a:pt x="468753" y="0"/>
                  </a:moveTo>
                  <a:cubicBezTo>
                    <a:pt x="209868" y="0"/>
                    <a:pt x="0" y="181951"/>
                    <a:pt x="0" y="406400"/>
                  </a:cubicBezTo>
                  <a:cubicBezTo>
                    <a:pt x="0" y="630849"/>
                    <a:pt x="209868" y="812800"/>
                    <a:pt x="468753" y="812800"/>
                  </a:cubicBezTo>
                  <a:cubicBezTo>
                    <a:pt x="727638" y="812800"/>
                    <a:pt x="937506" y="630849"/>
                    <a:pt x="937506" y="406400"/>
                  </a:cubicBezTo>
                  <a:cubicBezTo>
                    <a:pt x="937506" y="181951"/>
                    <a:pt x="727638" y="0"/>
                    <a:pt x="468753" y="0"/>
                  </a:cubicBezTo>
                  <a:close/>
                </a:path>
              </a:pathLst>
            </a:custGeom>
            <a:solidFill>
              <a:srgbClr val="B05510"/>
            </a:solidFill>
          </p:spPr>
        </p:sp>
        <p:sp>
          <p:nvSpPr>
            <p:cNvPr id="21" name="TextBox 21"/>
            <p:cNvSpPr txBox="1"/>
            <p:nvPr/>
          </p:nvSpPr>
          <p:spPr>
            <a:xfrm>
              <a:off x="87891" y="38100"/>
              <a:ext cx="761724"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2" name="Group 22"/>
          <p:cNvGrpSpPr/>
          <p:nvPr/>
        </p:nvGrpSpPr>
        <p:grpSpPr>
          <a:xfrm>
            <a:off x="15347002" y="2032947"/>
            <a:ext cx="584975" cy="584975"/>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id="24" name="TextBox 2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5" name="Group 25"/>
          <p:cNvGrpSpPr/>
          <p:nvPr/>
        </p:nvGrpSpPr>
        <p:grpSpPr>
          <a:xfrm>
            <a:off x="10702351" y="9244028"/>
            <a:ext cx="438522" cy="438522"/>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873C"/>
            </a:solidFill>
          </p:spPr>
        </p:sp>
        <p:sp>
          <p:nvSpPr>
            <p:cNvPr id="27" name="TextBox 2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31" name="TextBox 31"/>
          <p:cNvSpPr txBox="1"/>
          <p:nvPr/>
        </p:nvSpPr>
        <p:spPr>
          <a:xfrm>
            <a:off x="3992373" y="892487"/>
            <a:ext cx="10303253" cy="2157095"/>
          </a:xfrm>
          <a:prstGeom prst="rect">
            <a:avLst/>
          </a:prstGeom>
        </p:spPr>
        <p:txBody>
          <a:bodyPr lIns="0" tIns="0" rIns="0" bIns="0" rtlCol="0" anchor="t">
            <a:spAutoFit/>
          </a:bodyPr>
          <a:lstStyle/>
          <a:p>
            <a:pPr algn="ctr">
              <a:lnSpc>
                <a:spcPts val="8680"/>
              </a:lnSpc>
              <a:spcBef>
                <a:spcPct val="0"/>
              </a:spcBef>
            </a:pPr>
            <a:r>
              <a:rPr lang="en-US" sz="6200" b="1" spc="-124">
                <a:solidFill>
                  <a:srgbClr val="B05510"/>
                </a:solidFill>
                <a:latin typeface="Roboto"/>
                <a:ea typeface="Roboto"/>
                <a:cs typeface="Roboto"/>
                <a:sym typeface="Gordita Bold"/>
              </a:rPr>
              <a:t>AGV LOGISTICS</a:t>
            </a:r>
          </a:p>
          <a:p>
            <a:pPr algn="ctr">
              <a:lnSpc>
                <a:spcPts val="8680"/>
              </a:lnSpc>
              <a:spcBef>
                <a:spcPct val="0"/>
              </a:spcBef>
            </a:pPr>
            <a:r>
              <a:rPr lang="en-US" sz="6200" b="1" spc="-124">
                <a:solidFill>
                  <a:srgbClr val="B05510"/>
                </a:solidFill>
                <a:latin typeface="Roboto"/>
                <a:ea typeface="Roboto"/>
                <a:cs typeface="Roboto"/>
                <a:sym typeface="Gordita Bold"/>
              </a:rPr>
              <a:t>TẠI VIỆT NAM</a:t>
            </a:r>
          </a:p>
        </p:txBody>
      </p:sp>
      <p:sp>
        <p:nvSpPr>
          <p:cNvPr id="32" name="TextBox 32"/>
          <p:cNvSpPr txBox="1"/>
          <p:nvPr/>
        </p:nvSpPr>
        <p:spPr>
          <a:xfrm>
            <a:off x="835434" y="4381500"/>
            <a:ext cx="4735774" cy="523900"/>
          </a:xfrm>
          <a:prstGeom prst="rect">
            <a:avLst/>
          </a:prstGeom>
        </p:spPr>
        <p:txBody>
          <a:bodyPr lIns="0" tIns="0" rIns="0" bIns="0" rtlCol="0" anchor="t">
            <a:spAutoFit/>
          </a:bodyPr>
          <a:lstStyle/>
          <a:p>
            <a:pPr algn="just">
              <a:lnSpc>
                <a:spcPts val="4200"/>
              </a:lnSpc>
              <a:spcBef>
                <a:spcPct val="0"/>
              </a:spcBef>
            </a:pPr>
            <a:r>
              <a:rPr lang="en-US" sz="3000" b="1" spc="0">
                <a:solidFill>
                  <a:srgbClr val="B05510"/>
                </a:solidFill>
                <a:latin typeface="Roboto"/>
                <a:ea typeface="Roboto"/>
                <a:cs typeface="Roboto"/>
                <a:sym typeface="Pier Sans Light Bold"/>
                <a:hlinkClick r:id="rId6"/>
              </a:rPr>
              <a:t>Viettel Post</a:t>
            </a:r>
          </a:p>
        </p:txBody>
      </p:sp>
      <p:sp>
        <p:nvSpPr>
          <p:cNvPr id="33" name="TextBox 33"/>
          <p:cNvSpPr txBox="1"/>
          <p:nvPr/>
        </p:nvSpPr>
        <p:spPr>
          <a:xfrm>
            <a:off x="6777703" y="4381500"/>
            <a:ext cx="4735774" cy="523900"/>
          </a:xfrm>
          <a:prstGeom prst="rect">
            <a:avLst/>
          </a:prstGeom>
        </p:spPr>
        <p:txBody>
          <a:bodyPr lIns="0" tIns="0" rIns="0" bIns="0" rtlCol="0" anchor="t">
            <a:spAutoFit/>
          </a:bodyPr>
          <a:lstStyle/>
          <a:p>
            <a:pPr algn="just">
              <a:lnSpc>
                <a:spcPts val="4200"/>
              </a:lnSpc>
              <a:spcBef>
                <a:spcPct val="0"/>
              </a:spcBef>
            </a:pPr>
            <a:r>
              <a:rPr lang="en-US" sz="3000" b="1" spc="0">
                <a:solidFill>
                  <a:srgbClr val="B05510"/>
                </a:solidFill>
                <a:latin typeface="Roboto"/>
                <a:ea typeface="Roboto"/>
                <a:cs typeface="Roboto"/>
                <a:sym typeface="Pier Sans Light Bold"/>
                <a:hlinkClick r:id="rId7"/>
              </a:rPr>
              <a:t>Phenikaa-X</a:t>
            </a:r>
          </a:p>
        </p:txBody>
      </p:sp>
      <p:sp>
        <p:nvSpPr>
          <p:cNvPr id="34" name="TextBox 34"/>
          <p:cNvSpPr txBox="1"/>
          <p:nvPr/>
        </p:nvSpPr>
        <p:spPr>
          <a:xfrm>
            <a:off x="12693722" y="4381500"/>
            <a:ext cx="4735774" cy="523900"/>
          </a:xfrm>
          <a:prstGeom prst="rect">
            <a:avLst/>
          </a:prstGeom>
        </p:spPr>
        <p:txBody>
          <a:bodyPr lIns="0" tIns="0" rIns="0" bIns="0" rtlCol="0" anchor="t">
            <a:spAutoFit/>
          </a:bodyPr>
          <a:lstStyle/>
          <a:p>
            <a:pPr algn="just">
              <a:lnSpc>
                <a:spcPts val="4200"/>
              </a:lnSpc>
              <a:spcBef>
                <a:spcPct val="0"/>
              </a:spcBef>
            </a:pPr>
            <a:r>
              <a:rPr lang="en-US" sz="3000" b="1" spc="0">
                <a:solidFill>
                  <a:srgbClr val="B05510"/>
                </a:solidFill>
                <a:latin typeface="Roboto"/>
                <a:ea typeface="Roboto"/>
                <a:cs typeface="Roboto"/>
                <a:sym typeface="Pier Sans Light Bold"/>
                <a:hlinkClick r:id="rId8"/>
              </a:rPr>
              <a:t>Aubot</a:t>
            </a:r>
          </a:p>
        </p:txBody>
      </p:sp>
      <p:sp>
        <p:nvSpPr>
          <p:cNvPr id="35" name="TextBox 35"/>
          <p:cNvSpPr txBox="1"/>
          <p:nvPr/>
        </p:nvSpPr>
        <p:spPr>
          <a:xfrm>
            <a:off x="857526" y="5080000"/>
            <a:ext cx="4713683" cy="3175000"/>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Tổ hợp chia chọn robot đầu tiên Việt Nam (01/2024), công suất 1,4 triệu bưu phẩm/ngày, giảm 60% chi phí nhân công. Đến 10/2024 vận hành 300 AGV tự sản xuất.</a:t>
            </a:r>
          </a:p>
        </p:txBody>
      </p:sp>
      <p:sp>
        <p:nvSpPr>
          <p:cNvPr id="36" name="TextBox 36"/>
          <p:cNvSpPr txBox="1"/>
          <p:nvPr/>
        </p:nvSpPr>
        <p:spPr>
          <a:xfrm>
            <a:off x="6799794" y="5080000"/>
            <a:ext cx="4713683" cy="3175000"/>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Robot AMR tải 1.000 kg vào nhà máy Samsung Thái Nguyên (04/2024), tích hợp qua chuẩn VDA5050 — cùng chuẩn đề tài này dùng.</a:t>
            </a:r>
          </a:p>
        </p:txBody>
      </p:sp>
      <p:sp>
        <p:nvSpPr>
          <p:cNvPr id="37" name="TextBox 37"/>
          <p:cNvSpPr txBox="1"/>
          <p:nvPr/>
        </p:nvSpPr>
        <p:spPr>
          <a:xfrm>
            <a:off x="12715813" y="5080000"/>
            <a:ext cx="4713683" cy="3175000"/>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Hơn 300 AGV đã triển khai, dòng T500 và B300. Khách hàng Sumitomo, NITORI, BEING Holdings.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9D9D9"/>
        </a:solidFill>
        <a:effectLst/>
      </p:bgPr>
    </p:bg>
    <p:spTree>
      <p:nvGrpSpPr>
        <p:cNvPr id="1" name=""/>
        <p:cNvGrpSpPr/>
        <p:nvPr/>
      </p:nvGrpSpPr>
      <p:grpSpPr>
        <a:xfrm>
          <a:off x="0" y="0"/>
          <a:ext cx="0" cy="0"/>
          <a:chOff x="0" y="0"/>
          <a:chExt cx="0" cy="0"/>
        </a:xfrm>
      </p:grpSpPr>
      <p:grpSp>
        <p:nvGrpSpPr>
          <p:cNvPr id="2" name="Group 2"/>
          <p:cNvGrpSpPr/>
          <p:nvPr/>
        </p:nvGrpSpPr>
        <p:grpSpPr>
          <a:xfrm>
            <a:off x="12220017" y="405258"/>
            <a:ext cx="7770886" cy="777088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alpha val="11765"/>
              </a:srgbClr>
            </a:soli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4943796" y="-1607865"/>
            <a:ext cx="6071536" cy="5501615"/>
            <a:chOff x="0" y="0"/>
            <a:chExt cx="896999" cy="812800"/>
          </a:xfrm>
        </p:grpSpPr>
        <p:sp>
          <p:nvSpPr>
            <p:cNvPr id="6" name="Freeform 6"/>
            <p:cNvSpPr/>
            <p:nvPr/>
          </p:nvSpPr>
          <p:spPr>
            <a:xfrm>
              <a:off x="0" y="0"/>
              <a:ext cx="896999" cy="812800"/>
            </a:xfrm>
            <a:custGeom>
              <a:avLst/>
              <a:gdLst/>
              <a:ahLst/>
              <a:cxnLst/>
              <a:rect l="l" t="t" r="r" b="b"/>
              <a:pathLst>
                <a:path w="896999" h="812800">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id="7" name="TextBox 7"/>
            <p:cNvSpPr txBox="1"/>
            <p:nvPr/>
          </p:nvSpPr>
          <p:spPr>
            <a:xfrm>
              <a:off x="84094" y="38100"/>
              <a:ext cx="728812"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7239839" y="641973"/>
            <a:ext cx="486449" cy="386727"/>
          </a:xfrm>
          <a:custGeom>
            <a:avLst/>
            <a:gdLst/>
            <a:ahLst/>
            <a:cxnLst/>
            <a:rect l="l" t="t" r="r" b="b"/>
            <a:pathLst>
              <a:path w="486449" h="386727">
                <a:moveTo>
                  <a:pt x="0" y="0"/>
                </a:moveTo>
                <a:lnTo>
                  <a:pt x="486449" y="0"/>
                </a:lnTo>
                <a:lnTo>
                  <a:pt x="486449" y="386727"/>
                </a:lnTo>
                <a:lnTo>
                  <a:pt x="0" y="3867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2640677" y="9227000"/>
            <a:ext cx="7315200" cy="746760"/>
          </a:xfrm>
          <a:custGeom>
            <a:avLst/>
            <a:gdLst/>
            <a:ahLst/>
            <a:cxnLst/>
            <a:rect l="l" t="t" r="r" b="b"/>
            <a:pathLst>
              <a:path w="7315200" h="746760">
                <a:moveTo>
                  <a:pt x="0" y="0"/>
                </a:moveTo>
                <a:lnTo>
                  <a:pt x="7315200" y="0"/>
                </a:lnTo>
                <a:lnTo>
                  <a:pt x="7315200" y="746760"/>
                </a:lnTo>
                <a:lnTo>
                  <a:pt x="0" y="7467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AutoShape 10"/>
          <p:cNvSpPr/>
          <p:nvPr/>
        </p:nvSpPr>
        <p:spPr>
          <a:xfrm>
            <a:off x="1028700" y="4406188"/>
            <a:ext cx="16242377" cy="0"/>
          </a:xfrm>
          <a:prstGeom prst="line">
            <a:avLst/>
          </a:prstGeom>
          <a:ln w="38100" cap="flat">
            <a:solidFill>
              <a:srgbClr val="B05510"/>
            </a:solidFill>
            <a:prstDash val="solid"/>
            <a:headEnd type="none" w="sm" len="sm"/>
            <a:tailEnd type="none" w="sm" len="sm"/>
          </a:ln>
        </p:spPr>
      </p:sp>
      <p:sp>
        <p:nvSpPr>
          <p:cNvPr id="11" name="Freeform 11"/>
          <p:cNvSpPr/>
          <p:nvPr/>
        </p:nvSpPr>
        <p:spPr>
          <a:xfrm rot="5400000">
            <a:off x="2444927" y="4112825"/>
            <a:ext cx="729357" cy="729357"/>
          </a:xfrm>
          <a:custGeom>
            <a:avLst/>
            <a:gdLst/>
            <a:ahLst/>
            <a:cxnLst/>
            <a:rect l="l" t="t" r="r" b="b"/>
            <a:pathLst>
              <a:path w="729357" h="729357">
                <a:moveTo>
                  <a:pt x="0" y="0"/>
                </a:moveTo>
                <a:lnTo>
                  <a:pt x="729357" y="0"/>
                </a:lnTo>
                <a:lnTo>
                  <a:pt x="729357" y="729358"/>
                </a:lnTo>
                <a:lnTo>
                  <a:pt x="0" y="72935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2" name="Freeform 12"/>
          <p:cNvSpPr/>
          <p:nvPr/>
        </p:nvSpPr>
        <p:spPr>
          <a:xfrm rot="5400000">
            <a:off x="6667453" y="4112825"/>
            <a:ext cx="729357" cy="729357"/>
          </a:xfrm>
          <a:custGeom>
            <a:avLst/>
            <a:gdLst/>
            <a:ahLst/>
            <a:cxnLst/>
            <a:rect l="l" t="t" r="r" b="b"/>
            <a:pathLst>
              <a:path w="729357" h="729357">
                <a:moveTo>
                  <a:pt x="0" y="0"/>
                </a:moveTo>
                <a:lnTo>
                  <a:pt x="729358" y="0"/>
                </a:lnTo>
                <a:lnTo>
                  <a:pt x="729358" y="729358"/>
                </a:lnTo>
                <a:lnTo>
                  <a:pt x="0" y="72935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3" name="Freeform 13"/>
          <p:cNvSpPr/>
          <p:nvPr/>
        </p:nvSpPr>
        <p:spPr>
          <a:xfrm rot="5400000">
            <a:off x="10890585" y="4112825"/>
            <a:ext cx="729357" cy="729357"/>
          </a:xfrm>
          <a:custGeom>
            <a:avLst/>
            <a:gdLst/>
            <a:ahLst/>
            <a:cxnLst/>
            <a:rect l="l" t="t" r="r" b="b"/>
            <a:pathLst>
              <a:path w="729357" h="729357">
                <a:moveTo>
                  <a:pt x="0" y="0"/>
                </a:moveTo>
                <a:lnTo>
                  <a:pt x="729357" y="0"/>
                </a:lnTo>
                <a:lnTo>
                  <a:pt x="729357" y="729358"/>
                </a:lnTo>
                <a:lnTo>
                  <a:pt x="0" y="72935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4" name="Freeform 14"/>
          <p:cNvSpPr/>
          <p:nvPr/>
        </p:nvSpPr>
        <p:spPr>
          <a:xfrm rot="5400000">
            <a:off x="15113716" y="4112825"/>
            <a:ext cx="729357" cy="729357"/>
          </a:xfrm>
          <a:custGeom>
            <a:avLst/>
            <a:gdLst/>
            <a:ahLst/>
            <a:cxnLst/>
            <a:rect l="l" t="t" r="r" b="b"/>
            <a:pathLst>
              <a:path w="729357" h="729357">
                <a:moveTo>
                  <a:pt x="0" y="0"/>
                </a:moveTo>
                <a:lnTo>
                  <a:pt x="729357" y="0"/>
                </a:lnTo>
                <a:lnTo>
                  <a:pt x="729357" y="729358"/>
                </a:lnTo>
                <a:lnTo>
                  <a:pt x="0" y="72935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5" name="TextBox 15"/>
          <p:cNvSpPr txBox="1"/>
          <p:nvPr/>
        </p:nvSpPr>
        <p:spPr>
          <a:xfrm>
            <a:off x="2877118" y="1000125"/>
            <a:ext cx="12533763" cy="2157095"/>
          </a:xfrm>
          <a:prstGeom prst="rect">
            <a:avLst/>
          </a:prstGeom>
        </p:spPr>
        <p:txBody>
          <a:bodyPr lIns="0" tIns="0" rIns="0" bIns="0" rtlCol="0" anchor="t">
            <a:spAutoFit/>
          </a:bodyPr>
          <a:lstStyle/>
          <a:p>
            <a:pPr algn="ctr">
              <a:lnSpc>
                <a:spcPts val="8680"/>
              </a:lnSpc>
              <a:spcBef>
                <a:spcPct val="0"/>
              </a:spcBef>
            </a:pPr>
            <a:r>
              <a:rPr lang="en-US" sz="6200" b="1" spc="-124">
                <a:solidFill>
                  <a:srgbClr val="B05510"/>
                </a:solidFill>
                <a:latin typeface="Roboto"/>
                <a:ea typeface="Roboto"/>
                <a:cs typeface="Roboto"/>
                <a:sym typeface="Gordita Bold"/>
              </a:rPr>
              <a:t>MỖI TẦNG</a:t>
            </a:r>
          </a:p>
          <a:p>
            <a:pPr algn="ctr">
              <a:lnSpc>
                <a:spcPts val="8680"/>
              </a:lnSpc>
              <a:spcBef>
                <a:spcPct val="0"/>
              </a:spcBef>
            </a:pPr>
            <a:r>
              <a:rPr lang="en-US" sz="6200" b="1" spc="-124">
                <a:solidFill>
                  <a:srgbClr val="B05510"/>
                </a:solidFill>
                <a:latin typeface="Roboto"/>
                <a:ea typeface="Roboto"/>
                <a:cs typeface="Roboto"/>
                <a:sym typeface="Gordita Bold"/>
              </a:rPr>
              <a:t>MỘT TRÁCH NHIỆM</a:t>
            </a:r>
          </a:p>
        </p:txBody>
      </p:sp>
      <p:sp>
        <p:nvSpPr>
          <p:cNvPr id="16" name="TextBox 16"/>
          <p:cNvSpPr txBox="1"/>
          <p:nvPr/>
        </p:nvSpPr>
        <p:spPr>
          <a:xfrm>
            <a:off x="998077" y="5207000"/>
            <a:ext cx="3623056" cy="571500"/>
          </a:xfrm>
          <a:prstGeom prst="rect">
            <a:avLst/>
          </a:prstGeom>
        </p:spPr>
        <p:txBody>
          <a:bodyPr lIns="0" tIns="0" rIns="0" bIns="0" rtlCol="0" anchor="t">
            <a:spAutoFit/>
          </a:bodyPr>
          <a:lstStyle/>
          <a:p>
            <a:pPr algn="ctr">
              <a:lnSpc>
                <a:spcPts val="4200"/>
              </a:lnSpc>
              <a:spcBef>
                <a:spcPct val="0"/>
              </a:spcBef>
            </a:pPr>
            <a:r>
              <a:rPr lang="en-US" sz="3000" b="1" spc="0">
                <a:solidFill>
                  <a:srgbClr val="B05510"/>
                </a:solidFill>
                <a:latin typeface="Roboto"/>
                <a:ea typeface="Roboto"/>
                <a:cs typeface="Roboto"/>
                <a:sym typeface="Pier Sans Light Bold"/>
              </a:rPr>
              <a:t>WMS</a:t>
            </a:r>
          </a:p>
        </p:txBody>
      </p:sp>
      <p:sp>
        <p:nvSpPr>
          <p:cNvPr id="17" name="TextBox 17"/>
          <p:cNvSpPr txBox="1"/>
          <p:nvPr/>
        </p:nvSpPr>
        <p:spPr>
          <a:xfrm>
            <a:off x="5220604" y="5207000"/>
            <a:ext cx="3623056" cy="571500"/>
          </a:xfrm>
          <a:prstGeom prst="rect">
            <a:avLst/>
          </a:prstGeom>
        </p:spPr>
        <p:txBody>
          <a:bodyPr lIns="0" tIns="0" rIns="0" bIns="0" rtlCol="0" anchor="t">
            <a:spAutoFit/>
          </a:bodyPr>
          <a:lstStyle/>
          <a:p>
            <a:pPr algn="ctr">
              <a:lnSpc>
                <a:spcPts val="4200"/>
              </a:lnSpc>
              <a:spcBef>
                <a:spcPct val="0"/>
              </a:spcBef>
            </a:pPr>
            <a:r>
              <a:rPr lang="en-US" sz="3000" b="1" spc="0">
                <a:solidFill>
                  <a:srgbClr val="B05510"/>
                </a:solidFill>
                <a:latin typeface="Roboto"/>
                <a:ea typeface="Roboto"/>
                <a:cs typeface="Roboto"/>
                <a:sym typeface="Pier Sans Light Bold"/>
              </a:rPr>
              <a:t>WES</a:t>
            </a:r>
          </a:p>
        </p:txBody>
      </p:sp>
      <p:sp>
        <p:nvSpPr>
          <p:cNvPr id="18" name="TextBox 18"/>
          <p:cNvSpPr txBox="1"/>
          <p:nvPr/>
        </p:nvSpPr>
        <p:spPr>
          <a:xfrm>
            <a:off x="9443735" y="5207000"/>
            <a:ext cx="3623056" cy="571500"/>
          </a:xfrm>
          <a:prstGeom prst="rect">
            <a:avLst/>
          </a:prstGeom>
        </p:spPr>
        <p:txBody>
          <a:bodyPr lIns="0" tIns="0" rIns="0" bIns="0" rtlCol="0" anchor="t">
            <a:spAutoFit/>
          </a:bodyPr>
          <a:lstStyle/>
          <a:p>
            <a:pPr algn="ctr">
              <a:lnSpc>
                <a:spcPts val="4200"/>
              </a:lnSpc>
              <a:spcBef>
                <a:spcPct val="0"/>
              </a:spcBef>
            </a:pPr>
            <a:r>
              <a:rPr lang="en-US" sz="3000" b="1" spc="0">
                <a:solidFill>
                  <a:srgbClr val="B05510"/>
                </a:solidFill>
                <a:latin typeface="Roboto"/>
                <a:ea typeface="Roboto"/>
                <a:cs typeface="Roboto"/>
                <a:sym typeface="Pier Sans Light Bold"/>
              </a:rPr>
              <a:t>FMS</a:t>
            </a:r>
          </a:p>
        </p:txBody>
      </p:sp>
      <p:sp>
        <p:nvSpPr>
          <p:cNvPr id="19" name="TextBox 19"/>
          <p:cNvSpPr txBox="1"/>
          <p:nvPr/>
        </p:nvSpPr>
        <p:spPr>
          <a:xfrm>
            <a:off x="13666866" y="5207000"/>
            <a:ext cx="3623056" cy="571500"/>
          </a:xfrm>
          <a:prstGeom prst="rect">
            <a:avLst/>
          </a:prstGeom>
        </p:spPr>
        <p:txBody>
          <a:bodyPr lIns="0" tIns="0" rIns="0" bIns="0" rtlCol="0" anchor="t">
            <a:spAutoFit/>
          </a:bodyPr>
          <a:lstStyle/>
          <a:p>
            <a:pPr algn="ctr">
              <a:lnSpc>
                <a:spcPts val="4200"/>
              </a:lnSpc>
              <a:spcBef>
                <a:spcPct val="0"/>
              </a:spcBef>
            </a:pPr>
            <a:r>
              <a:rPr lang="en-US" sz="3000" b="1" spc="0">
                <a:solidFill>
                  <a:srgbClr val="B05510"/>
                </a:solidFill>
                <a:latin typeface="Roboto"/>
                <a:ea typeface="Roboto"/>
                <a:cs typeface="Roboto"/>
                <a:sym typeface="Pier Sans Light Bold"/>
              </a:rPr>
              <a:t>AGV</a:t>
            </a:r>
          </a:p>
        </p:txBody>
      </p:sp>
      <p:sp>
        <p:nvSpPr>
          <p:cNvPr id="20" name="TextBox 20"/>
          <p:cNvSpPr txBox="1"/>
          <p:nvPr/>
        </p:nvSpPr>
        <p:spPr>
          <a:xfrm>
            <a:off x="1406410" y="6369247"/>
            <a:ext cx="2806392" cy="2667000"/>
          </a:xfrm>
          <a:prstGeom prst="rect">
            <a:avLst/>
          </a:prstGeom>
        </p:spPr>
        <p:txBody>
          <a:bodyPr lIns="0" tIns="0" rIns="0" bIns="0" rtlCol="0" anchor="t">
            <a:spAutoFit/>
          </a:bodyPr>
          <a:lstStyle/>
          <a:p>
            <a:pPr algn="ctr">
              <a:lnSpc>
                <a:spcPts val="2800"/>
              </a:lnSpc>
              <a:spcBef>
                <a:spcPct val="0"/>
              </a:spcBef>
            </a:pPr>
            <a:r>
              <a:rPr lang="en-US" sz="2000" spc="0">
                <a:solidFill>
                  <a:srgbClr val="B05510"/>
                </a:solidFill>
                <a:latin typeface="Roboto"/>
                <a:ea typeface="Roboto"/>
                <a:cs typeface="Roboto"/>
                <a:sym typeface="Pier Sans Light"/>
              </a:rPr>
              <a:t>Quản lý tồn kho và đơn hàng. Biết hàng gì cần về khu vực nào, nhưng không biết khi nào và bằng xe nào. Ngoài phạm vi đề tài.</a:t>
            </a:r>
          </a:p>
        </p:txBody>
      </p:sp>
      <p:sp>
        <p:nvSpPr>
          <p:cNvPr id="21" name="TextBox 21"/>
          <p:cNvSpPr txBox="1"/>
          <p:nvPr/>
        </p:nvSpPr>
        <p:spPr>
          <a:xfrm>
            <a:off x="5606602" y="6369247"/>
            <a:ext cx="2851665" cy="2667000"/>
          </a:xfrm>
          <a:prstGeom prst="rect">
            <a:avLst/>
          </a:prstGeom>
        </p:spPr>
        <p:txBody>
          <a:bodyPr lIns="0" tIns="0" rIns="0" bIns="0" rtlCol="0" anchor="t">
            <a:spAutoFit/>
          </a:bodyPr>
          <a:lstStyle/>
          <a:p>
            <a:pPr algn="ctr">
              <a:lnSpc>
                <a:spcPts val="2800"/>
              </a:lnSpc>
              <a:spcBef>
                <a:spcPct val="0"/>
              </a:spcBef>
            </a:pPr>
            <a:r>
              <a:rPr lang="en-US" sz="2000" spc="0">
                <a:solidFill>
                  <a:srgbClr val="B05510"/>
                </a:solidFill>
                <a:latin typeface="Roboto"/>
                <a:ea typeface="Roboto"/>
                <a:cs typeface="Roboto"/>
                <a:sym typeface="Pier Sans Light"/>
              </a:rPr>
              <a:t>Việc nào làm trước? Xe nào làm? Trả vào đúng ô nào trong khu vực đích? Đây là hệ thống nhóm xây dựng.</a:t>
            </a:r>
          </a:p>
        </p:txBody>
      </p:sp>
      <p:sp>
        <p:nvSpPr>
          <p:cNvPr id="22" name="TextBox 22"/>
          <p:cNvSpPr txBox="1"/>
          <p:nvPr/>
        </p:nvSpPr>
        <p:spPr>
          <a:xfrm>
            <a:off x="9732417" y="6369247"/>
            <a:ext cx="3045693" cy="2667000"/>
          </a:xfrm>
          <a:prstGeom prst="rect">
            <a:avLst/>
          </a:prstGeom>
        </p:spPr>
        <p:txBody>
          <a:bodyPr lIns="0" tIns="0" rIns="0" bIns="0" rtlCol="0" anchor="t">
            <a:spAutoFit/>
          </a:bodyPr>
          <a:lstStyle/>
          <a:p>
            <a:pPr algn="ctr">
              <a:lnSpc>
                <a:spcPts val="2800"/>
              </a:lnSpc>
              <a:spcBef>
                <a:spcPct val="0"/>
              </a:spcBef>
            </a:pPr>
            <a:r>
              <a:rPr lang="en-US" sz="2000" spc="0">
                <a:solidFill>
                  <a:srgbClr val="B05510"/>
                </a:solidFill>
                <a:latin typeface="Roboto"/>
                <a:ea typeface="Roboto"/>
                <a:cs typeface="Roboto"/>
                <a:sym typeface="Pier Sans Light"/>
              </a:rPr>
              <a:t>Đi đường nào? Ai được vào ô trước? Định tuyến vật lý và cấp phát đường đi. Dùng openTCS, bản fork của nhóm.</a:t>
            </a:r>
          </a:p>
        </p:txBody>
      </p:sp>
      <p:sp>
        <p:nvSpPr>
          <p:cNvPr id="23" name="TextBox 23"/>
          <p:cNvSpPr txBox="1"/>
          <p:nvPr/>
        </p:nvSpPr>
        <p:spPr>
          <a:xfrm>
            <a:off x="14123238" y="6369247"/>
            <a:ext cx="2710314" cy="2667000"/>
          </a:xfrm>
          <a:prstGeom prst="rect">
            <a:avLst/>
          </a:prstGeom>
        </p:spPr>
        <p:txBody>
          <a:bodyPr lIns="0" tIns="0" rIns="0" bIns="0" rtlCol="0" anchor="t">
            <a:spAutoFit/>
          </a:bodyPr>
          <a:lstStyle/>
          <a:p>
            <a:pPr algn="ctr">
              <a:lnSpc>
                <a:spcPts val="2800"/>
              </a:lnSpc>
              <a:spcBef>
                <a:spcPct val="0"/>
              </a:spcBef>
            </a:pPr>
            <a:r>
              <a:rPr lang="en-US" sz="2000" spc="0">
                <a:solidFill>
                  <a:srgbClr val="B05510"/>
                </a:solidFill>
                <a:latin typeface="Roboto"/>
                <a:ea typeface="Roboto"/>
                <a:cs typeface="Roboto"/>
                <a:sym typeface="Pier Sans Light"/>
              </a:rPr>
              <a:t>Chấp hành lệnh di chuyển. Xe B300, nhận lệnh qua MQTT theo chuẩn VDA5050.</a:t>
            </a:r>
          </a:p>
        </p:txBody>
      </p:sp>
      <p:grpSp>
        <p:nvGrpSpPr>
          <p:cNvPr id="24" name="Group 24"/>
          <p:cNvGrpSpPr/>
          <p:nvPr/>
        </p:nvGrpSpPr>
        <p:grpSpPr>
          <a:xfrm>
            <a:off x="11255263" y="9227000"/>
            <a:ext cx="3315105" cy="2874132"/>
            <a:chOff x="0" y="0"/>
            <a:chExt cx="937506" cy="812800"/>
          </a:xfrm>
        </p:grpSpPr>
        <p:sp>
          <p:nvSpPr>
            <p:cNvPr id="25" name="Freeform 25"/>
            <p:cNvSpPr/>
            <p:nvPr/>
          </p:nvSpPr>
          <p:spPr>
            <a:xfrm>
              <a:off x="0" y="0"/>
              <a:ext cx="937506" cy="812800"/>
            </a:xfrm>
            <a:custGeom>
              <a:avLst/>
              <a:gdLst/>
              <a:ahLst/>
              <a:cxnLst/>
              <a:rect l="l" t="t" r="r" b="b"/>
              <a:pathLst>
                <a:path w="937506" h="812800">
                  <a:moveTo>
                    <a:pt x="468753" y="0"/>
                  </a:moveTo>
                  <a:cubicBezTo>
                    <a:pt x="209868" y="0"/>
                    <a:pt x="0" y="181951"/>
                    <a:pt x="0" y="406400"/>
                  </a:cubicBezTo>
                  <a:cubicBezTo>
                    <a:pt x="0" y="630849"/>
                    <a:pt x="209868" y="812800"/>
                    <a:pt x="468753" y="812800"/>
                  </a:cubicBezTo>
                  <a:cubicBezTo>
                    <a:pt x="727638" y="812800"/>
                    <a:pt x="937506" y="630849"/>
                    <a:pt x="937506" y="406400"/>
                  </a:cubicBezTo>
                  <a:cubicBezTo>
                    <a:pt x="937506" y="181951"/>
                    <a:pt x="727638" y="0"/>
                    <a:pt x="468753" y="0"/>
                  </a:cubicBezTo>
                  <a:close/>
                </a:path>
              </a:pathLst>
            </a:custGeom>
            <a:solidFill>
              <a:srgbClr val="B05510"/>
            </a:solidFill>
          </p:spPr>
        </p:sp>
        <p:sp>
          <p:nvSpPr>
            <p:cNvPr id="26" name="TextBox 26"/>
            <p:cNvSpPr txBox="1"/>
            <p:nvPr/>
          </p:nvSpPr>
          <p:spPr>
            <a:xfrm>
              <a:off x="87891" y="38100"/>
              <a:ext cx="761724"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p:cNvGrpSpPr/>
          <p:nvPr/>
        </p:nvGrpSpPr>
        <p:grpSpPr>
          <a:xfrm rot="5884013">
            <a:off x="8101823" y="9287854"/>
            <a:ext cx="453167" cy="453167"/>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id="29" name="TextBox 29"/>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30" name="Group 30"/>
          <p:cNvGrpSpPr/>
          <p:nvPr/>
        </p:nvGrpSpPr>
        <p:grpSpPr>
          <a:xfrm rot="5884013">
            <a:off x="1079368" y="1547854"/>
            <a:ext cx="776908" cy="776908"/>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B243"/>
            </a:solidFill>
          </p:spPr>
        </p:sp>
        <p:sp>
          <p:nvSpPr>
            <p:cNvPr id="32" name="TextBox 32"/>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9D9D9"/>
        </a:solidFill>
        <a:effectLst/>
      </p:bgPr>
    </p:bg>
    <p:spTree>
      <p:nvGrpSpPr>
        <p:cNvPr id="1" name=""/>
        <p:cNvGrpSpPr/>
        <p:nvPr/>
      </p:nvGrpSpPr>
      <p:grpSpPr>
        <a:xfrm>
          <a:off x="0" y="0"/>
          <a:ext cx="0" cy="0"/>
          <a:chOff x="0" y="0"/>
          <a:chExt cx="0" cy="0"/>
        </a:xfrm>
      </p:grpSpPr>
      <p:grpSp>
        <p:nvGrpSpPr>
          <p:cNvPr id="2" name="Group 2"/>
          <p:cNvGrpSpPr/>
          <p:nvPr/>
        </p:nvGrpSpPr>
        <p:grpSpPr>
          <a:xfrm>
            <a:off x="9437183" y="1283683"/>
            <a:ext cx="8690077" cy="869007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alpha val="11765"/>
              </a:srgbClr>
            </a:soli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1581441">
            <a:off x="13985738" y="6869137"/>
            <a:ext cx="5875218" cy="5323725"/>
            <a:chOff x="0" y="0"/>
            <a:chExt cx="896999" cy="812800"/>
          </a:xfrm>
        </p:grpSpPr>
        <p:sp>
          <p:nvSpPr>
            <p:cNvPr id="6" name="Freeform 6"/>
            <p:cNvSpPr/>
            <p:nvPr/>
          </p:nvSpPr>
          <p:spPr>
            <a:xfrm>
              <a:off x="0" y="0"/>
              <a:ext cx="896999" cy="812800"/>
            </a:xfrm>
            <a:custGeom>
              <a:avLst/>
              <a:gdLst/>
              <a:ahLst/>
              <a:cxnLst/>
              <a:rect l="l" t="t" r="r" b="b"/>
              <a:pathLst>
                <a:path w="896999" h="812800">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id="7" name="TextBox 7"/>
            <p:cNvSpPr txBox="1"/>
            <p:nvPr/>
          </p:nvSpPr>
          <p:spPr>
            <a:xfrm>
              <a:off x="84094" y="38100"/>
              <a:ext cx="728812"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7239839" y="641973"/>
            <a:ext cx="486449" cy="386727"/>
          </a:xfrm>
          <a:custGeom>
            <a:avLst/>
            <a:gdLst/>
            <a:ahLst/>
            <a:cxnLst/>
            <a:rect l="l" t="t" r="r" b="b"/>
            <a:pathLst>
              <a:path w="486449" h="386727">
                <a:moveTo>
                  <a:pt x="0" y="0"/>
                </a:moveTo>
                <a:lnTo>
                  <a:pt x="486449" y="0"/>
                </a:lnTo>
                <a:lnTo>
                  <a:pt x="486449" y="386727"/>
                </a:lnTo>
                <a:lnTo>
                  <a:pt x="0" y="3867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2640677" y="9227000"/>
            <a:ext cx="7315200" cy="746760"/>
          </a:xfrm>
          <a:custGeom>
            <a:avLst/>
            <a:gdLst/>
            <a:ahLst/>
            <a:cxnLst/>
            <a:rect l="l" t="t" r="r" b="b"/>
            <a:pathLst>
              <a:path w="7315200" h="746760">
                <a:moveTo>
                  <a:pt x="0" y="0"/>
                </a:moveTo>
                <a:lnTo>
                  <a:pt x="7315200" y="0"/>
                </a:lnTo>
                <a:lnTo>
                  <a:pt x="7315200" y="746760"/>
                </a:lnTo>
                <a:lnTo>
                  <a:pt x="0" y="7467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Freeform 13"/>
          <p:cNvSpPr/>
          <p:nvPr/>
        </p:nvSpPr>
        <p:spPr>
          <a:xfrm>
            <a:off x="8915006" y="2077408"/>
            <a:ext cx="8906532" cy="7180892"/>
          </a:xfrm>
          <a:custGeom>
            <a:avLst/>
            <a:gdLst/>
            <a:ahLst/>
            <a:cxnLst/>
            <a:rect l="l" t="t" r="r" b="b"/>
            <a:pathLst>
              <a:path w="8906532" h="7180892">
                <a:moveTo>
                  <a:pt x="0" y="0"/>
                </a:moveTo>
                <a:lnTo>
                  <a:pt x="8906532" y="0"/>
                </a:lnTo>
                <a:lnTo>
                  <a:pt x="8906532" y="7180892"/>
                </a:lnTo>
                <a:lnTo>
                  <a:pt x="0" y="7180892"/>
                </a:lnTo>
                <a:lnTo>
                  <a:pt x="0" y="0"/>
                </a:lnTo>
                <a:close/>
              </a:path>
            </a:pathLst>
          </a:custGeom>
          <a:blipFill>
            <a:blip r:embed="rId6"/>
            <a:stretch>
              <a:fillRect/>
            </a:stretch>
          </a:blipFill>
        </p:spPr>
      </p:sp>
      <p:sp>
        <p:nvSpPr>
          <p:cNvPr id="14" name="TextBox 14"/>
          <p:cNvSpPr txBox="1"/>
          <p:nvPr/>
        </p:nvSpPr>
        <p:spPr>
          <a:xfrm>
            <a:off x="1016923" y="1563426"/>
            <a:ext cx="8420260" cy="2157095"/>
          </a:xfrm>
          <a:prstGeom prst="rect">
            <a:avLst/>
          </a:prstGeom>
        </p:spPr>
        <p:txBody>
          <a:bodyPr lIns="0" tIns="0" rIns="0" bIns="0" rtlCol="0" anchor="t">
            <a:spAutoFit/>
          </a:bodyPr>
          <a:lstStyle/>
          <a:p>
            <a:pPr algn="l">
              <a:lnSpc>
                <a:spcPts val="8680"/>
              </a:lnSpc>
              <a:spcBef>
                <a:spcPct val="0"/>
              </a:spcBef>
            </a:pPr>
            <a:r>
              <a:rPr lang="en-US" sz="6200" b="1" spc="-124">
                <a:solidFill>
                  <a:srgbClr val="B05510"/>
                </a:solidFill>
                <a:latin typeface="Roboto"/>
                <a:ea typeface="Roboto"/>
                <a:cs typeface="Roboto"/>
                <a:sym typeface="Gordita Bold"/>
              </a:rPr>
              <a:t>AUBOT &amp; PHẠM VI ĐỀ TÀI</a:t>
            </a:r>
          </a:p>
        </p:txBody>
      </p:sp>
      <p:sp>
        <p:nvSpPr>
          <p:cNvPr id="15" name="TextBox 15"/>
          <p:cNvSpPr txBox="1"/>
          <p:nvPr/>
        </p:nvSpPr>
        <p:spPr>
          <a:xfrm>
            <a:off x="1016923" y="4081734"/>
            <a:ext cx="7429375" cy="1153869"/>
          </a:xfrm>
          <a:prstGeom prst="rect">
            <a:avLst/>
          </a:prstGeom>
        </p:spPr>
        <p:txBody>
          <a:bodyPr lIns="0" tIns="0" rIns="0" bIns="0" rtlCol="0" anchor="t">
            <a:spAutoFit/>
          </a:bodyPr>
          <a:lstStyle/>
          <a:p>
            <a:pPr algn="l">
              <a:lnSpc>
                <a:spcPts val="3079"/>
              </a:lnSpc>
              <a:spcBef>
                <a:spcPct val="0"/>
              </a:spcBef>
            </a:pPr>
            <a:r>
              <a:rPr lang="en-US" sz="2199" spc="0">
                <a:solidFill>
                  <a:srgbClr val="B05510"/>
                </a:solidFill>
                <a:latin typeface="Roboto"/>
                <a:ea typeface="Roboto"/>
                <a:cs typeface="Roboto"/>
                <a:sym typeface="Pier Sans Light"/>
              </a:rPr>
              <a:t>Đề tài được thực hiện trên hệ thống FMS đang vận hành của Aubot — doanh nghiệp AGV Việt Nam, dòng xe B300. Số liệu trong bài lấy từ dữ liệu vận hành thật, không phải giả định.</a:t>
            </a:r>
          </a:p>
        </p:txBody>
      </p:sp>
      <p:sp>
        <p:nvSpPr>
          <p:cNvPr id="16" name="TextBox 16"/>
          <p:cNvSpPr txBox="1"/>
          <p:nvPr/>
        </p:nvSpPr>
        <p:spPr>
          <a:xfrm>
            <a:off x="1748650" y="6078674"/>
            <a:ext cx="6937756" cy="349300"/>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Tầng WES: nghiệp vụ, điều phối, gán xe.</a:t>
            </a:r>
          </a:p>
        </p:txBody>
      </p:sp>
      <p:sp>
        <p:nvSpPr>
          <p:cNvPr id="17" name="TextBox 17"/>
          <p:cNvSpPr txBox="1"/>
          <p:nvPr/>
        </p:nvSpPr>
        <p:spPr>
          <a:xfrm>
            <a:off x="1748650" y="6795651"/>
            <a:ext cx="6937756" cy="349300"/>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Can thiệp tầng định tuyến của FMS.</a:t>
            </a:r>
          </a:p>
        </p:txBody>
      </p:sp>
      <p:sp>
        <p:nvSpPr>
          <p:cNvPr id="18" name="TextBox 18"/>
          <p:cNvSpPr txBox="1"/>
          <p:nvPr/>
        </p:nvSpPr>
        <p:spPr>
          <a:xfrm>
            <a:off x="1748650" y="7509441"/>
            <a:ext cx="6937756" cy="349300"/>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Ngoài phạm vi: WMS, phần cứng, firmware.</a:t>
            </a:r>
          </a:p>
        </p:txBody>
      </p:sp>
      <p:grpSp>
        <p:nvGrpSpPr>
          <p:cNvPr id="19" name="Group 19"/>
          <p:cNvGrpSpPr/>
          <p:nvPr/>
        </p:nvGrpSpPr>
        <p:grpSpPr>
          <a:xfrm>
            <a:off x="7779631" y="-1845432"/>
            <a:ext cx="3315105" cy="2874132"/>
            <a:chOff x="0" y="0"/>
            <a:chExt cx="937506" cy="812800"/>
          </a:xfrm>
        </p:grpSpPr>
        <p:sp>
          <p:nvSpPr>
            <p:cNvPr id="20" name="Freeform 20"/>
            <p:cNvSpPr/>
            <p:nvPr/>
          </p:nvSpPr>
          <p:spPr>
            <a:xfrm>
              <a:off x="0" y="0"/>
              <a:ext cx="937506" cy="812800"/>
            </a:xfrm>
            <a:custGeom>
              <a:avLst/>
              <a:gdLst/>
              <a:ahLst/>
              <a:cxnLst/>
              <a:rect l="l" t="t" r="r" b="b"/>
              <a:pathLst>
                <a:path w="937506" h="812800">
                  <a:moveTo>
                    <a:pt x="468753" y="0"/>
                  </a:moveTo>
                  <a:cubicBezTo>
                    <a:pt x="209868" y="0"/>
                    <a:pt x="0" y="181951"/>
                    <a:pt x="0" y="406400"/>
                  </a:cubicBezTo>
                  <a:cubicBezTo>
                    <a:pt x="0" y="630849"/>
                    <a:pt x="209868" y="812800"/>
                    <a:pt x="468753" y="812800"/>
                  </a:cubicBezTo>
                  <a:cubicBezTo>
                    <a:pt x="727638" y="812800"/>
                    <a:pt x="937506" y="630849"/>
                    <a:pt x="937506" y="406400"/>
                  </a:cubicBezTo>
                  <a:cubicBezTo>
                    <a:pt x="937506" y="181951"/>
                    <a:pt x="727638" y="0"/>
                    <a:pt x="468753" y="0"/>
                  </a:cubicBezTo>
                  <a:close/>
                </a:path>
              </a:pathLst>
            </a:custGeom>
            <a:solidFill>
              <a:srgbClr val="B05510"/>
            </a:solidFill>
          </p:spPr>
        </p:sp>
        <p:sp>
          <p:nvSpPr>
            <p:cNvPr id="21" name="TextBox 21"/>
            <p:cNvSpPr txBox="1"/>
            <p:nvPr/>
          </p:nvSpPr>
          <p:spPr>
            <a:xfrm>
              <a:off x="87891" y="38100"/>
              <a:ext cx="761724"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2" name="Group 22"/>
          <p:cNvGrpSpPr/>
          <p:nvPr/>
        </p:nvGrpSpPr>
        <p:grpSpPr>
          <a:xfrm>
            <a:off x="9210599" y="7472249"/>
            <a:ext cx="453167" cy="453167"/>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id="24" name="TextBox 2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5" name="Group 25"/>
          <p:cNvGrpSpPr/>
          <p:nvPr/>
        </p:nvGrpSpPr>
        <p:grpSpPr>
          <a:xfrm>
            <a:off x="-348537" y="2355348"/>
            <a:ext cx="697075" cy="697075"/>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B05B"/>
            </a:solidFill>
          </p:spPr>
        </p:sp>
        <p:sp>
          <p:nvSpPr>
            <p:cNvPr id="27" name="TextBox 2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8" name="Group 28"/>
          <p:cNvGrpSpPr/>
          <p:nvPr/>
        </p:nvGrpSpPr>
        <p:grpSpPr>
          <a:xfrm>
            <a:off x="7779631" y="8754091"/>
            <a:ext cx="776908" cy="776908"/>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B243"/>
            </a:solidFill>
          </p:spPr>
        </p:sp>
        <p:sp>
          <p:nvSpPr>
            <p:cNvPr id="30" name="TextBox 3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001" name="Num 1"/>
          <p:cNvSpPr/>
          <p:nvPr/>
        </p:nvSpPr>
        <p:spPr>
          <a:xfrm>
            <a:off x="1016000" y="6019800"/>
            <a:ext cx="508000" cy="508000"/>
          </a:xfrm>
          <a:prstGeom prst="ellipse">
            <a:avLst/>
          </a:prstGeom>
          <a:solidFill>
            <a:srgbClr val="B05510"/>
          </a:solidFill>
          <a:ln>
            <a:noFill/>
          </a:ln>
        </p:spPr>
        <p:txBody>
          <a:bodyPr lIns="0" tIns="0" rIns="0" bIns="0" anchor="ctr"/>
          <a:lstStyle/>
          <a:p>
            <a:pPr algn="ctr"/>
            <a:r>
              <a:rPr lang="en-US" sz="1400" b="1" dirty="0">
                <a:solidFill>
                  <a:srgbClr val="FFFFFF"/>
                </a:solidFill>
                <a:latin typeface="Roboto"/>
                <a:cs typeface="Roboto"/>
              </a:rPr>
              <a:t>1</a:t>
            </a:r>
          </a:p>
        </p:txBody>
      </p:sp>
      <p:sp>
        <p:nvSpPr>
          <p:cNvPr id="9002" name="Num 2"/>
          <p:cNvSpPr/>
          <p:nvPr/>
        </p:nvSpPr>
        <p:spPr>
          <a:xfrm>
            <a:off x="1016000" y="6743700"/>
            <a:ext cx="508000" cy="508000"/>
          </a:xfrm>
          <a:prstGeom prst="ellipse">
            <a:avLst/>
          </a:prstGeom>
          <a:solidFill>
            <a:srgbClr val="B05510"/>
          </a:solidFill>
          <a:ln>
            <a:noFill/>
          </a:ln>
        </p:spPr>
        <p:txBody>
          <a:bodyPr lIns="0" tIns="0" rIns="0" bIns="0" anchor="ctr"/>
          <a:lstStyle/>
          <a:p>
            <a:pPr algn="ctr"/>
            <a:r>
              <a:rPr lang="en-US" sz="1400" b="1" dirty="0">
                <a:solidFill>
                  <a:srgbClr val="FFFFFF"/>
                </a:solidFill>
                <a:latin typeface="Roboto"/>
                <a:cs typeface="Roboto"/>
              </a:rPr>
              <a:t>2</a:t>
            </a:r>
          </a:p>
        </p:txBody>
      </p:sp>
      <p:sp>
        <p:nvSpPr>
          <p:cNvPr id="9003" name="Num 3"/>
          <p:cNvSpPr/>
          <p:nvPr/>
        </p:nvSpPr>
        <p:spPr>
          <a:xfrm>
            <a:off x="1016000" y="7454900"/>
            <a:ext cx="508000" cy="508000"/>
          </a:xfrm>
          <a:prstGeom prst="ellipse">
            <a:avLst/>
          </a:prstGeom>
          <a:solidFill>
            <a:srgbClr val="B05510"/>
          </a:solidFill>
          <a:ln>
            <a:noFill/>
          </a:ln>
        </p:spPr>
        <p:txBody>
          <a:bodyPr lIns="0" tIns="0" rIns="0" bIns="0" anchor="ctr"/>
          <a:lstStyle/>
          <a:p>
            <a:pPr algn="ctr"/>
            <a:r>
              <a:rPr lang="en-US" sz="1400" b="1" dirty="0">
                <a:solidFill>
                  <a:srgbClr val="FFFFFF"/>
                </a:solidFill>
                <a:latin typeface="Roboto"/>
                <a:cs typeface="Roboto"/>
              </a:rPr>
              <a:t>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9D9D9"/>
        </a:solidFill>
        <a:effectLst/>
      </p:bgPr>
    </p:bg>
    <p:spTree>
      <p:nvGrpSpPr>
        <p:cNvPr id="1" name=""/>
        <p:cNvGrpSpPr/>
        <p:nvPr/>
      </p:nvGrpSpPr>
      <p:grpSpPr>
        <a:xfrm>
          <a:off x="0" y="0"/>
          <a:ext cx="0" cy="0"/>
          <a:chOff x="0" y="0"/>
          <a:chExt cx="0" cy="0"/>
        </a:xfrm>
      </p:grpSpPr>
      <p:sp>
        <p:nvSpPr>
          <p:cNvPr id="2" name="Freeform 2"/>
          <p:cNvSpPr/>
          <p:nvPr/>
        </p:nvSpPr>
        <p:spPr>
          <a:xfrm>
            <a:off x="17239839" y="641973"/>
            <a:ext cx="486449" cy="386727"/>
          </a:xfrm>
          <a:custGeom>
            <a:avLst/>
            <a:gdLst/>
            <a:ahLst/>
            <a:cxnLst/>
            <a:rect l="l" t="t" r="r" b="b"/>
            <a:pathLst>
              <a:path w="486449" h="386727">
                <a:moveTo>
                  <a:pt x="0" y="0"/>
                </a:moveTo>
                <a:lnTo>
                  <a:pt x="486449" y="0"/>
                </a:lnTo>
                <a:lnTo>
                  <a:pt x="486449" y="386727"/>
                </a:lnTo>
                <a:lnTo>
                  <a:pt x="0" y="3867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640677" y="9227000"/>
            <a:ext cx="7315200" cy="746760"/>
          </a:xfrm>
          <a:custGeom>
            <a:avLst/>
            <a:gdLst/>
            <a:ahLst/>
            <a:cxnLst/>
            <a:rect l="l" t="t" r="r" b="b"/>
            <a:pathLst>
              <a:path w="7315200" h="746760">
                <a:moveTo>
                  <a:pt x="0" y="0"/>
                </a:moveTo>
                <a:lnTo>
                  <a:pt x="7315200" y="0"/>
                </a:lnTo>
                <a:lnTo>
                  <a:pt x="7315200" y="746760"/>
                </a:lnTo>
                <a:lnTo>
                  <a:pt x="0" y="7467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319105" y="249638"/>
            <a:ext cx="7647074" cy="7647074"/>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alpha val="11765"/>
              </a:srgbClr>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rot="-288076">
            <a:off x="12595500" y="8956623"/>
            <a:ext cx="6253509" cy="4894824"/>
            <a:chOff x="0" y="0"/>
            <a:chExt cx="1038414" cy="812800"/>
          </a:xfrm>
        </p:grpSpPr>
        <p:sp>
          <p:nvSpPr>
            <p:cNvPr id="8" name="Freeform 8"/>
            <p:cNvSpPr/>
            <p:nvPr/>
          </p:nvSpPr>
          <p:spPr>
            <a:xfrm>
              <a:off x="0" y="0"/>
              <a:ext cx="1038414" cy="812800"/>
            </a:xfrm>
            <a:custGeom>
              <a:avLst/>
              <a:gdLst/>
              <a:ahLst/>
              <a:cxnLst/>
              <a:rect l="l" t="t" r="r" b="b"/>
              <a:pathLst>
                <a:path w="1038414" h="812800">
                  <a:moveTo>
                    <a:pt x="519207" y="0"/>
                  </a:moveTo>
                  <a:cubicBezTo>
                    <a:pt x="232457" y="0"/>
                    <a:pt x="0" y="181951"/>
                    <a:pt x="0" y="406400"/>
                  </a:cubicBezTo>
                  <a:cubicBezTo>
                    <a:pt x="0" y="630849"/>
                    <a:pt x="232457" y="812800"/>
                    <a:pt x="519207" y="812800"/>
                  </a:cubicBezTo>
                  <a:cubicBezTo>
                    <a:pt x="805957" y="812800"/>
                    <a:pt x="1038414" y="630849"/>
                    <a:pt x="1038414" y="406400"/>
                  </a:cubicBezTo>
                  <a:cubicBezTo>
                    <a:pt x="1038414" y="181951"/>
                    <a:pt x="805957" y="0"/>
                    <a:pt x="519207" y="0"/>
                  </a:cubicBezTo>
                  <a:close/>
                </a:path>
              </a:pathLst>
            </a:custGeom>
            <a:solidFill>
              <a:srgbClr val="B05510"/>
            </a:solidFill>
            <a:ln cap="sq">
              <a:noFill/>
              <a:prstDash val="solid"/>
              <a:miter/>
            </a:ln>
          </p:spPr>
        </p:sp>
        <p:sp>
          <p:nvSpPr>
            <p:cNvPr id="9" name="TextBox 9"/>
            <p:cNvSpPr txBox="1"/>
            <p:nvPr/>
          </p:nvSpPr>
          <p:spPr>
            <a:xfrm>
              <a:off x="97351" y="38100"/>
              <a:ext cx="843711"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0" name="Group 10"/>
          <p:cNvGrpSpPr/>
          <p:nvPr/>
        </p:nvGrpSpPr>
        <p:grpSpPr>
          <a:xfrm>
            <a:off x="7966179" y="8876224"/>
            <a:ext cx="453167" cy="453167"/>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C279"/>
            </a:solidFill>
          </p:spPr>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3" name="Group 13"/>
          <p:cNvGrpSpPr/>
          <p:nvPr/>
        </p:nvGrpSpPr>
        <p:grpSpPr>
          <a:xfrm>
            <a:off x="16531496" y="8703502"/>
            <a:ext cx="951568" cy="951568"/>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B243"/>
            </a:solidFill>
          </p:spPr>
        </p:sp>
        <p:sp>
          <p:nvSpPr>
            <p:cNvPr id="15" name="TextBox 1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9" name="Group 19"/>
          <p:cNvGrpSpPr/>
          <p:nvPr/>
        </p:nvGrpSpPr>
        <p:grpSpPr>
          <a:xfrm rot="-7167358">
            <a:off x="-5778500" y="-5778500"/>
            <a:ext cx="8175663" cy="7408233"/>
            <a:chOff x="0" y="0"/>
            <a:chExt cx="896999" cy="812800"/>
          </a:xfrm>
        </p:grpSpPr>
        <p:sp>
          <p:nvSpPr>
            <p:cNvPr id="20" name="Freeform 20"/>
            <p:cNvSpPr/>
            <p:nvPr/>
          </p:nvSpPr>
          <p:spPr>
            <a:xfrm>
              <a:off x="0" y="0"/>
              <a:ext cx="896999" cy="812800"/>
            </a:xfrm>
            <a:custGeom>
              <a:avLst/>
              <a:gdLst/>
              <a:ahLst/>
              <a:cxnLst/>
              <a:rect l="l" t="t" r="r" b="b"/>
              <a:pathLst>
                <a:path w="896999" h="812800">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id="21" name="TextBox 21"/>
            <p:cNvSpPr txBox="1"/>
            <p:nvPr/>
          </p:nvSpPr>
          <p:spPr>
            <a:xfrm>
              <a:off x="84094" y="38100"/>
              <a:ext cx="728812"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2" name="Group 22"/>
          <p:cNvGrpSpPr/>
          <p:nvPr/>
        </p:nvGrpSpPr>
        <p:grpSpPr>
          <a:xfrm>
            <a:off x="4457278" y="2598746"/>
            <a:ext cx="12506380" cy="2771544"/>
            <a:chOff x="0" y="0"/>
            <a:chExt cx="16675174" cy="3695393"/>
          </a:xfrm>
        </p:grpSpPr>
        <p:grpSp>
          <p:nvGrpSpPr>
            <p:cNvPr id="23" name="Group 23"/>
            <p:cNvGrpSpPr/>
            <p:nvPr/>
          </p:nvGrpSpPr>
          <p:grpSpPr>
            <a:xfrm>
              <a:off x="0" y="0"/>
              <a:ext cx="16675174" cy="446226"/>
              <a:chOff x="0" y="0"/>
              <a:chExt cx="2573329" cy="68862"/>
            </a:xfrm>
          </p:grpSpPr>
          <p:sp>
            <p:nvSpPr>
              <p:cNvPr id="24" name="Freeform 24"/>
              <p:cNvSpPr/>
              <p:nvPr/>
            </p:nvSpPr>
            <p:spPr>
              <a:xfrm>
                <a:off x="0" y="0"/>
                <a:ext cx="2573329" cy="68862"/>
              </a:xfrm>
              <a:custGeom>
                <a:avLst/>
                <a:gdLst/>
                <a:ahLst/>
                <a:cxnLst/>
                <a:rect l="l" t="t" r="r" b="b"/>
                <a:pathLst>
                  <a:path w="2573329" h="68862">
                    <a:moveTo>
                      <a:pt x="12091" y="0"/>
                    </a:moveTo>
                    <a:lnTo>
                      <a:pt x="2561239" y="0"/>
                    </a:lnTo>
                    <a:cubicBezTo>
                      <a:pt x="2564445" y="0"/>
                      <a:pt x="2567521" y="1274"/>
                      <a:pt x="2569788" y="3541"/>
                    </a:cubicBezTo>
                    <a:cubicBezTo>
                      <a:pt x="2572056" y="5809"/>
                      <a:pt x="2573329" y="8884"/>
                      <a:pt x="2573329" y="12091"/>
                    </a:cubicBezTo>
                    <a:lnTo>
                      <a:pt x="2573329" y="56772"/>
                    </a:lnTo>
                    <a:cubicBezTo>
                      <a:pt x="2573329" y="59978"/>
                      <a:pt x="2572056" y="63053"/>
                      <a:pt x="2569788" y="65321"/>
                    </a:cubicBezTo>
                    <a:cubicBezTo>
                      <a:pt x="2567521" y="67588"/>
                      <a:pt x="2564445" y="68862"/>
                      <a:pt x="2561239" y="68862"/>
                    </a:cubicBezTo>
                    <a:lnTo>
                      <a:pt x="12091" y="68862"/>
                    </a:lnTo>
                    <a:cubicBezTo>
                      <a:pt x="8884" y="68862"/>
                      <a:pt x="5809" y="67588"/>
                      <a:pt x="3541" y="65321"/>
                    </a:cubicBezTo>
                    <a:cubicBezTo>
                      <a:pt x="1274" y="63053"/>
                      <a:pt x="0" y="59978"/>
                      <a:pt x="0" y="56772"/>
                    </a:cubicBezTo>
                    <a:lnTo>
                      <a:pt x="0" y="12091"/>
                    </a:lnTo>
                    <a:cubicBezTo>
                      <a:pt x="0" y="8884"/>
                      <a:pt x="1274" y="5809"/>
                      <a:pt x="3541" y="3541"/>
                    </a:cubicBezTo>
                    <a:cubicBezTo>
                      <a:pt x="5809" y="1274"/>
                      <a:pt x="8884" y="0"/>
                      <a:pt x="12091" y="0"/>
                    </a:cubicBezTo>
                    <a:close/>
                  </a:path>
                </a:pathLst>
              </a:custGeom>
              <a:solidFill>
                <a:srgbClr val="B9BEBF"/>
              </a:solidFill>
            </p:spPr>
          </p:sp>
          <p:sp>
            <p:nvSpPr>
              <p:cNvPr id="25" name="TextBox 25"/>
              <p:cNvSpPr txBox="1"/>
              <p:nvPr/>
            </p:nvSpPr>
            <p:spPr>
              <a:xfrm>
                <a:off x="0" y="-38100"/>
                <a:ext cx="2573329" cy="106962"/>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0" y="1083970"/>
              <a:ext cx="16675174" cy="446226"/>
              <a:chOff x="0" y="0"/>
              <a:chExt cx="2573329" cy="68862"/>
            </a:xfrm>
          </p:grpSpPr>
          <p:sp>
            <p:nvSpPr>
              <p:cNvPr id="27" name="Freeform 27"/>
              <p:cNvSpPr/>
              <p:nvPr/>
            </p:nvSpPr>
            <p:spPr>
              <a:xfrm>
                <a:off x="0" y="0"/>
                <a:ext cx="2573329" cy="68862"/>
              </a:xfrm>
              <a:custGeom>
                <a:avLst/>
                <a:gdLst/>
                <a:ahLst/>
                <a:cxnLst/>
                <a:rect l="l" t="t" r="r" b="b"/>
                <a:pathLst>
                  <a:path w="2573329" h="68862">
                    <a:moveTo>
                      <a:pt x="12091" y="0"/>
                    </a:moveTo>
                    <a:lnTo>
                      <a:pt x="2561239" y="0"/>
                    </a:lnTo>
                    <a:cubicBezTo>
                      <a:pt x="2564445" y="0"/>
                      <a:pt x="2567521" y="1274"/>
                      <a:pt x="2569788" y="3541"/>
                    </a:cubicBezTo>
                    <a:cubicBezTo>
                      <a:pt x="2572056" y="5809"/>
                      <a:pt x="2573329" y="8884"/>
                      <a:pt x="2573329" y="12091"/>
                    </a:cubicBezTo>
                    <a:lnTo>
                      <a:pt x="2573329" y="56772"/>
                    </a:lnTo>
                    <a:cubicBezTo>
                      <a:pt x="2573329" y="59978"/>
                      <a:pt x="2572056" y="63053"/>
                      <a:pt x="2569788" y="65321"/>
                    </a:cubicBezTo>
                    <a:cubicBezTo>
                      <a:pt x="2567521" y="67588"/>
                      <a:pt x="2564445" y="68862"/>
                      <a:pt x="2561239" y="68862"/>
                    </a:cubicBezTo>
                    <a:lnTo>
                      <a:pt x="12091" y="68862"/>
                    </a:lnTo>
                    <a:cubicBezTo>
                      <a:pt x="8884" y="68862"/>
                      <a:pt x="5809" y="67588"/>
                      <a:pt x="3541" y="65321"/>
                    </a:cubicBezTo>
                    <a:cubicBezTo>
                      <a:pt x="1274" y="63053"/>
                      <a:pt x="0" y="59978"/>
                      <a:pt x="0" y="56772"/>
                    </a:cubicBezTo>
                    <a:lnTo>
                      <a:pt x="0" y="12091"/>
                    </a:lnTo>
                    <a:cubicBezTo>
                      <a:pt x="0" y="8884"/>
                      <a:pt x="1274" y="5809"/>
                      <a:pt x="3541" y="3541"/>
                    </a:cubicBezTo>
                    <a:cubicBezTo>
                      <a:pt x="5809" y="1274"/>
                      <a:pt x="8884" y="0"/>
                      <a:pt x="12091" y="0"/>
                    </a:cubicBezTo>
                    <a:close/>
                  </a:path>
                </a:pathLst>
              </a:custGeom>
              <a:solidFill>
                <a:srgbClr val="B9BEBF"/>
              </a:solidFill>
            </p:spPr>
          </p:sp>
          <p:sp>
            <p:nvSpPr>
              <p:cNvPr id="28" name="TextBox 28"/>
              <p:cNvSpPr txBox="1"/>
              <p:nvPr/>
            </p:nvSpPr>
            <p:spPr>
              <a:xfrm>
                <a:off x="0" y="-38100"/>
                <a:ext cx="2573329" cy="106962"/>
              </a:xfrm>
              <a:prstGeom prst="rect">
                <a:avLst/>
              </a:prstGeom>
            </p:spPr>
            <p:txBody>
              <a:bodyPr lIns="50800" tIns="50800" rIns="50800" bIns="50800" rtlCol="0" anchor="ctr"/>
              <a:lstStyle/>
              <a:p>
                <a:pPr algn="ctr">
                  <a:lnSpc>
                    <a:spcPts val="2659"/>
                  </a:lnSpc>
                </a:pPr>
                <a:endParaRPr/>
              </a:p>
            </p:txBody>
          </p:sp>
        </p:grpSp>
        <p:grpSp>
          <p:nvGrpSpPr>
            <p:cNvPr id="29" name="Group 29"/>
            <p:cNvGrpSpPr/>
            <p:nvPr/>
          </p:nvGrpSpPr>
          <p:grpSpPr>
            <a:xfrm>
              <a:off x="0" y="2167940"/>
              <a:ext cx="16675174" cy="446226"/>
              <a:chOff x="0" y="0"/>
              <a:chExt cx="2573329" cy="68862"/>
            </a:xfrm>
          </p:grpSpPr>
          <p:sp>
            <p:nvSpPr>
              <p:cNvPr id="30" name="Freeform 30"/>
              <p:cNvSpPr/>
              <p:nvPr/>
            </p:nvSpPr>
            <p:spPr>
              <a:xfrm>
                <a:off x="0" y="0"/>
                <a:ext cx="2573329" cy="68862"/>
              </a:xfrm>
              <a:custGeom>
                <a:avLst/>
                <a:gdLst/>
                <a:ahLst/>
                <a:cxnLst/>
                <a:rect l="l" t="t" r="r" b="b"/>
                <a:pathLst>
                  <a:path w="2573329" h="68862">
                    <a:moveTo>
                      <a:pt x="12091" y="0"/>
                    </a:moveTo>
                    <a:lnTo>
                      <a:pt x="2561239" y="0"/>
                    </a:lnTo>
                    <a:cubicBezTo>
                      <a:pt x="2564445" y="0"/>
                      <a:pt x="2567521" y="1274"/>
                      <a:pt x="2569788" y="3541"/>
                    </a:cubicBezTo>
                    <a:cubicBezTo>
                      <a:pt x="2572056" y="5809"/>
                      <a:pt x="2573329" y="8884"/>
                      <a:pt x="2573329" y="12091"/>
                    </a:cubicBezTo>
                    <a:lnTo>
                      <a:pt x="2573329" y="56772"/>
                    </a:lnTo>
                    <a:cubicBezTo>
                      <a:pt x="2573329" y="59978"/>
                      <a:pt x="2572056" y="63053"/>
                      <a:pt x="2569788" y="65321"/>
                    </a:cubicBezTo>
                    <a:cubicBezTo>
                      <a:pt x="2567521" y="67588"/>
                      <a:pt x="2564445" y="68862"/>
                      <a:pt x="2561239" y="68862"/>
                    </a:cubicBezTo>
                    <a:lnTo>
                      <a:pt x="12091" y="68862"/>
                    </a:lnTo>
                    <a:cubicBezTo>
                      <a:pt x="8884" y="68862"/>
                      <a:pt x="5809" y="67588"/>
                      <a:pt x="3541" y="65321"/>
                    </a:cubicBezTo>
                    <a:cubicBezTo>
                      <a:pt x="1274" y="63053"/>
                      <a:pt x="0" y="59978"/>
                      <a:pt x="0" y="56772"/>
                    </a:cubicBezTo>
                    <a:lnTo>
                      <a:pt x="0" y="12091"/>
                    </a:lnTo>
                    <a:cubicBezTo>
                      <a:pt x="0" y="8884"/>
                      <a:pt x="1274" y="5809"/>
                      <a:pt x="3541" y="3541"/>
                    </a:cubicBezTo>
                    <a:cubicBezTo>
                      <a:pt x="5809" y="1274"/>
                      <a:pt x="8884" y="0"/>
                      <a:pt x="12091" y="0"/>
                    </a:cubicBezTo>
                    <a:close/>
                  </a:path>
                </a:pathLst>
              </a:custGeom>
              <a:solidFill>
                <a:srgbClr val="B9BEBF"/>
              </a:solidFill>
            </p:spPr>
          </p:sp>
          <p:sp>
            <p:nvSpPr>
              <p:cNvPr id="31" name="TextBox 31"/>
              <p:cNvSpPr txBox="1"/>
              <p:nvPr/>
            </p:nvSpPr>
            <p:spPr>
              <a:xfrm>
                <a:off x="0" y="-38100"/>
                <a:ext cx="2573329" cy="106962"/>
              </a:xfrm>
              <a:prstGeom prst="rect">
                <a:avLst/>
              </a:prstGeom>
            </p:spPr>
            <p:txBody>
              <a:bodyPr lIns="50800" tIns="50800" rIns="50800" bIns="50800" rtlCol="0" anchor="ctr"/>
              <a:lstStyle/>
              <a:p>
                <a:pPr algn="ctr">
                  <a:lnSpc>
                    <a:spcPts val="2659"/>
                  </a:lnSpc>
                </a:pPr>
                <a:endParaRPr/>
              </a:p>
            </p:txBody>
          </p:sp>
        </p:grpSp>
        <p:grpSp>
          <p:nvGrpSpPr>
            <p:cNvPr id="32" name="Group 32"/>
            <p:cNvGrpSpPr/>
            <p:nvPr/>
          </p:nvGrpSpPr>
          <p:grpSpPr>
            <a:xfrm>
              <a:off x="0" y="3249166"/>
              <a:ext cx="16675174" cy="446226"/>
              <a:chOff x="0" y="0"/>
              <a:chExt cx="2573329" cy="68862"/>
            </a:xfrm>
          </p:grpSpPr>
          <p:sp>
            <p:nvSpPr>
              <p:cNvPr id="33" name="Freeform 33"/>
              <p:cNvSpPr/>
              <p:nvPr/>
            </p:nvSpPr>
            <p:spPr>
              <a:xfrm>
                <a:off x="0" y="0"/>
                <a:ext cx="2573329" cy="68862"/>
              </a:xfrm>
              <a:custGeom>
                <a:avLst/>
                <a:gdLst/>
                <a:ahLst/>
                <a:cxnLst/>
                <a:rect l="l" t="t" r="r" b="b"/>
                <a:pathLst>
                  <a:path w="2573329" h="68862">
                    <a:moveTo>
                      <a:pt x="12091" y="0"/>
                    </a:moveTo>
                    <a:lnTo>
                      <a:pt x="2561239" y="0"/>
                    </a:lnTo>
                    <a:cubicBezTo>
                      <a:pt x="2564445" y="0"/>
                      <a:pt x="2567521" y="1274"/>
                      <a:pt x="2569788" y="3541"/>
                    </a:cubicBezTo>
                    <a:cubicBezTo>
                      <a:pt x="2572056" y="5809"/>
                      <a:pt x="2573329" y="8884"/>
                      <a:pt x="2573329" y="12091"/>
                    </a:cubicBezTo>
                    <a:lnTo>
                      <a:pt x="2573329" y="56772"/>
                    </a:lnTo>
                    <a:cubicBezTo>
                      <a:pt x="2573329" y="59978"/>
                      <a:pt x="2572056" y="63053"/>
                      <a:pt x="2569788" y="65321"/>
                    </a:cubicBezTo>
                    <a:cubicBezTo>
                      <a:pt x="2567521" y="67588"/>
                      <a:pt x="2564445" y="68862"/>
                      <a:pt x="2561239" y="68862"/>
                    </a:cubicBezTo>
                    <a:lnTo>
                      <a:pt x="12091" y="68862"/>
                    </a:lnTo>
                    <a:cubicBezTo>
                      <a:pt x="8884" y="68862"/>
                      <a:pt x="5809" y="67588"/>
                      <a:pt x="3541" y="65321"/>
                    </a:cubicBezTo>
                    <a:cubicBezTo>
                      <a:pt x="1274" y="63053"/>
                      <a:pt x="0" y="59978"/>
                      <a:pt x="0" y="56772"/>
                    </a:cubicBezTo>
                    <a:lnTo>
                      <a:pt x="0" y="12091"/>
                    </a:lnTo>
                    <a:cubicBezTo>
                      <a:pt x="0" y="8884"/>
                      <a:pt x="1274" y="5809"/>
                      <a:pt x="3541" y="3541"/>
                    </a:cubicBezTo>
                    <a:cubicBezTo>
                      <a:pt x="5809" y="1274"/>
                      <a:pt x="8884" y="0"/>
                      <a:pt x="12091" y="0"/>
                    </a:cubicBezTo>
                    <a:close/>
                  </a:path>
                </a:pathLst>
              </a:custGeom>
              <a:solidFill>
                <a:srgbClr val="B9BEBF"/>
              </a:solidFill>
            </p:spPr>
          </p:sp>
          <p:sp>
            <p:nvSpPr>
              <p:cNvPr id="34" name="TextBox 34"/>
              <p:cNvSpPr txBox="1"/>
              <p:nvPr/>
            </p:nvSpPr>
            <p:spPr>
              <a:xfrm>
                <a:off x="0" y="-38100"/>
                <a:ext cx="2573329" cy="106962"/>
              </a:xfrm>
              <a:prstGeom prst="rect">
                <a:avLst/>
              </a:prstGeom>
            </p:spPr>
            <p:txBody>
              <a:bodyPr lIns="50800" tIns="50800" rIns="50800" bIns="50800" rtlCol="0" anchor="ctr"/>
              <a:lstStyle/>
              <a:p>
                <a:pPr algn="ctr">
                  <a:lnSpc>
                    <a:spcPts val="2659"/>
                  </a:lnSpc>
                </a:pPr>
                <a:endParaRPr/>
              </a:p>
            </p:txBody>
          </p:sp>
        </p:grpSp>
      </p:grpSp>
      <p:grpSp>
        <p:nvGrpSpPr>
          <p:cNvPr id="35" name="Group 35"/>
          <p:cNvGrpSpPr/>
          <p:nvPr/>
        </p:nvGrpSpPr>
        <p:grpSpPr>
          <a:xfrm>
            <a:off x="4457278" y="2598746"/>
            <a:ext cx="11196002" cy="334670"/>
            <a:chOff x="0" y="0"/>
            <a:chExt cx="2290686" cy="68862"/>
          </a:xfrm>
        </p:grpSpPr>
        <p:sp>
          <p:nvSpPr>
            <p:cNvPr id="36" name="Freeform 36"/>
            <p:cNvSpPr/>
            <p:nvPr/>
          </p:nvSpPr>
          <p:spPr>
            <a:xfrm>
              <a:off x="0" y="0"/>
              <a:ext cx="2290686" cy="68862"/>
            </a:xfrm>
            <a:custGeom>
              <a:avLst/>
              <a:gdLst/>
              <a:ahLst/>
              <a:cxnLst/>
              <a:rect l="l" t="t" r="r" b="b"/>
              <a:pathLst>
                <a:path w="2290686" h="68862">
                  <a:moveTo>
                    <a:pt x="13582" y="0"/>
                  </a:moveTo>
                  <a:lnTo>
                    <a:pt x="2277104" y="0"/>
                  </a:lnTo>
                  <a:cubicBezTo>
                    <a:pt x="2280706" y="0"/>
                    <a:pt x="2284161" y="1431"/>
                    <a:pt x="2286708" y="3978"/>
                  </a:cubicBezTo>
                  <a:cubicBezTo>
                    <a:pt x="2289255" y="6525"/>
                    <a:pt x="2290686" y="9980"/>
                    <a:pt x="2290686" y="13582"/>
                  </a:cubicBezTo>
                  <a:lnTo>
                    <a:pt x="2290686" y="55280"/>
                  </a:lnTo>
                  <a:cubicBezTo>
                    <a:pt x="2290686" y="62781"/>
                    <a:pt x="2284605" y="68862"/>
                    <a:pt x="2277104" y="68862"/>
                  </a:cubicBezTo>
                  <a:lnTo>
                    <a:pt x="13582" y="68862"/>
                  </a:lnTo>
                  <a:cubicBezTo>
                    <a:pt x="6081" y="68862"/>
                    <a:pt x="0" y="62781"/>
                    <a:pt x="0" y="55280"/>
                  </a:cubicBezTo>
                  <a:lnTo>
                    <a:pt x="0" y="13582"/>
                  </a:lnTo>
                  <a:cubicBezTo>
                    <a:pt x="0" y="6081"/>
                    <a:pt x="6081" y="0"/>
                    <a:pt x="13582" y="0"/>
                  </a:cubicBezTo>
                  <a:close/>
                </a:path>
              </a:pathLst>
            </a:custGeom>
            <a:solidFill>
              <a:srgbClr val="E9873C"/>
            </a:solidFill>
          </p:spPr>
        </p:sp>
        <p:sp>
          <p:nvSpPr>
            <p:cNvPr id="37" name="TextBox 37"/>
            <p:cNvSpPr txBox="1"/>
            <p:nvPr/>
          </p:nvSpPr>
          <p:spPr>
            <a:xfrm>
              <a:off x="0" y="-38100"/>
              <a:ext cx="2290686" cy="106962"/>
            </a:xfrm>
            <a:prstGeom prst="rect">
              <a:avLst/>
            </a:prstGeom>
          </p:spPr>
          <p:txBody>
            <a:bodyPr lIns="50800" tIns="50800" rIns="50800" bIns="50800" rtlCol="0" anchor="ctr"/>
            <a:lstStyle/>
            <a:p>
              <a:pPr algn="ctr">
                <a:lnSpc>
                  <a:spcPts val="2659"/>
                </a:lnSpc>
              </a:pPr>
              <a:endParaRPr/>
            </a:p>
          </p:txBody>
        </p:sp>
      </p:grpSp>
      <p:grpSp>
        <p:nvGrpSpPr>
          <p:cNvPr id="38" name="Group 38"/>
          <p:cNvGrpSpPr/>
          <p:nvPr/>
        </p:nvGrpSpPr>
        <p:grpSpPr>
          <a:xfrm>
            <a:off x="4457278" y="3413781"/>
            <a:ext cx="7030339" cy="334670"/>
            <a:chOff x="0" y="0"/>
            <a:chExt cx="1837721" cy="68862"/>
          </a:xfrm>
        </p:grpSpPr>
        <p:sp>
          <p:nvSpPr>
            <p:cNvPr id="39" name="Freeform 39"/>
            <p:cNvSpPr/>
            <p:nvPr/>
          </p:nvSpPr>
          <p:spPr>
            <a:xfrm>
              <a:off x="0" y="0"/>
              <a:ext cx="1837721" cy="68862"/>
            </a:xfrm>
            <a:custGeom>
              <a:avLst/>
              <a:gdLst/>
              <a:ahLst/>
              <a:cxnLst/>
              <a:rect l="l" t="t" r="r" b="b"/>
              <a:pathLst>
                <a:path w="1837721" h="68862">
                  <a:moveTo>
                    <a:pt x="16930" y="0"/>
                  </a:moveTo>
                  <a:lnTo>
                    <a:pt x="1820791" y="0"/>
                  </a:lnTo>
                  <a:cubicBezTo>
                    <a:pt x="1825281" y="0"/>
                    <a:pt x="1829588" y="1784"/>
                    <a:pt x="1832763" y="4959"/>
                  </a:cubicBezTo>
                  <a:cubicBezTo>
                    <a:pt x="1835938" y="8134"/>
                    <a:pt x="1837721" y="12440"/>
                    <a:pt x="1837721" y="16930"/>
                  </a:cubicBezTo>
                  <a:lnTo>
                    <a:pt x="1837721" y="51932"/>
                  </a:lnTo>
                  <a:cubicBezTo>
                    <a:pt x="1837721" y="56422"/>
                    <a:pt x="1835938" y="60728"/>
                    <a:pt x="1832763" y="63903"/>
                  </a:cubicBezTo>
                  <a:cubicBezTo>
                    <a:pt x="1829588" y="67078"/>
                    <a:pt x="1825281" y="68862"/>
                    <a:pt x="1820791" y="68862"/>
                  </a:cubicBezTo>
                  <a:lnTo>
                    <a:pt x="16930" y="68862"/>
                  </a:lnTo>
                  <a:cubicBezTo>
                    <a:pt x="12440" y="68862"/>
                    <a:pt x="8134" y="67078"/>
                    <a:pt x="4959" y="63903"/>
                  </a:cubicBezTo>
                  <a:cubicBezTo>
                    <a:pt x="1784" y="60728"/>
                    <a:pt x="0" y="56422"/>
                    <a:pt x="0" y="51932"/>
                  </a:cubicBezTo>
                  <a:lnTo>
                    <a:pt x="0" y="16930"/>
                  </a:lnTo>
                  <a:cubicBezTo>
                    <a:pt x="0" y="12440"/>
                    <a:pt x="1784" y="8134"/>
                    <a:pt x="4959" y="4959"/>
                  </a:cubicBezTo>
                  <a:cubicBezTo>
                    <a:pt x="8134" y="1784"/>
                    <a:pt x="12440" y="0"/>
                    <a:pt x="16930" y="0"/>
                  </a:cubicBezTo>
                  <a:close/>
                </a:path>
              </a:pathLst>
            </a:custGeom>
            <a:solidFill>
              <a:srgbClr val="E9A379"/>
            </a:solidFill>
          </p:spPr>
        </p:sp>
        <p:sp>
          <p:nvSpPr>
            <p:cNvPr id="40" name="TextBox 40"/>
            <p:cNvSpPr txBox="1"/>
            <p:nvPr/>
          </p:nvSpPr>
          <p:spPr>
            <a:xfrm>
              <a:off x="0" y="-38100"/>
              <a:ext cx="1837721" cy="106962"/>
            </a:xfrm>
            <a:prstGeom prst="rect">
              <a:avLst/>
            </a:prstGeom>
          </p:spPr>
          <p:txBody>
            <a:bodyPr lIns="50800" tIns="50800" rIns="50800" bIns="50800" rtlCol="0" anchor="ctr"/>
            <a:lstStyle/>
            <a:p>
              <a:pPr algn="ctr">
                <a:lnSpc>
                  <a:spcPts val="2659"/>
                </a:lnSpc>
              </a:pPr>
              <a:endParaRPr/>
            </a:p>
          </p:txBody>
        </p:sp>
      </p:grpSp>
      <p:grpSp>
        <p:nvGrpSpPr>
          <p:cNvPr id="41" name="Group 41"/>
          <p:cNvGrpSpPr/>
          <p:nvPr/>
        </p:nvGrpSpPr>
        <p:grpSpPr>
          <a:xfrm>
            <a:off x="4457278" y="5035620"/>
            <a:ext cx="788098" cy="334670"/>
            <a:chOff x="0" y="0"/>
            <a:chExt cx="1145383" cy="68862"/>
          </a:xfrm>
        </p:grpSpPr>
        <p:sp>
          <p:nvSpPr>
            <p:cNvPr id="42" name="Freeform 42"/>
            <p:cNvSpPr/>
            <p:nvPr/>
          </p:nvSpPr>
          <p:spPr>
            <a:xfrm>
              <a:off x="0" y="0"/>
              <a:ext cx="1145383" cy="68862"/>
            </a:xfrm>
            <a:custGeom>
              <a:avLst/>
              <a:gdLst/>
              <a:ahLst/>
              <a:cxnLst/>
              <a:rect l="l" t="t" r="r" b="b"/>
              <a:pathLst>
                <a:path w="1145383" h="68862">
                  <a:moveTo>
                    <a:pt x="27164" y="0"/>
                  </a:moveTo>
                  <a:lnTo>
                    <a:pt x="1118219" y="0"/>
                  </a:lnTo>
                  <a:cubicBezTo>
                    <a:pt x="1125423" y="0"/>
                    <a:pt x="1132333" y="2862"/>
                    <a:pt x="1137427" y="7956"/>
                  </a:cubicBezTo>
                  <a:cubicBezTo>
                    <a:pt x="1142521" y="13050"/>
                    <a:pt x="1145383" y="19960"/>
                    <a:pt x="1145383" y="27164"/>
                  </a:cubicBezTo>
                  <a:lnTo>
                    <a:pt x="1145383" y="41698"/>
                  </a:lnTo>
                  <a:cubicBezTo>
                    <a:pt x="1145383" y="48903"/>
                    <a:pt x="1142521" y="55812"/>
                    <a:pt x="1137427" y="60906"/>
                  </a:cubicBezTo>
                  <a:cubicBezTo>
                    <a:pt x="1132333" y="66000"/>
                    <a:pt x="1125423" y="68862"/>
                    <a:pt x="1118219" y="68862"/>
                  </a:cubicBezTo>
                  <a:lnTo>
                    <a:pt x="27164" y="68862"/>
                  </a:lnTo>
                  <a:cubicBezTo>
                    <a:pt x="12162" y="68862"/>
                    <a:pt x="0" y="56700"/>
                    <a:pt x="0" y="41698"/>
                  </a:cubicBezTo>
                  <a:lnTo>
                    <a:pt x="0" y="27164"/>
                  </a:lnTo>
                  <a:cubicBezTo>
                    <a:pt x="0" y="19960"/>
                    <a:pt x="2862" y="13050"/>
                    <a:pt x="7956" y="7956"/>
                  </a:cubicBezTo>
                  <a:cubicBezTo>
                    <a:pt x="13050" y="2862"/>
                    <a:pt x="19960" y="0"/>
                    <a:pt x="27164" y="0"/>
                  </a:cubicBezTo>
                  <a:close/>
                </a:path>
              </a:pathLst>
            </a:custGeom>
            <a:solidFill>
              <a:srgbClr val="E9C279"/>
            </a:solidFill>
          </p:spPr>
        </p:sp>
        <p:sp>
          <p:nvSpPr>
            <p:cNvPr id="43" name="TextBox 43"/>
            <p:cNvSpPr txBox="1"/>
            <p:nvPr/>
          </p:nvSpPr>
          <p:spPr>
            <a:xfrm>
              <a:off x="0" y="-38100"/>
              <a:ext cx="1145383" cy="106962"/>
            </a:xfrm>
            <a:prstGeom prst="rect">
              <a:avLst/>
            </a:prstGeom>
          </p:spPr>
          <p:txBody>
            <a:bodyPr lIns="50800" tIns="50800" rIns="50800" bIns="50800" rtlCol="0" anchor="ctr"/>
            <a:lstStyle/>
            <a:p>
              <a:pPr algn="ctr">
                <a:lnSpc>
                  <a:spcPts val="2659"/>
                </a:lnSpc>
              </a:pPr>
              <a:endParaRPr/>
            </a:p>
          </p:txBody>
        </p:sp>
      </p:grpSp>
      <p:grpSp>
        <p:nvGrpSpPr>
          <p:cNvPr id="44" name="Group 44"/>
          <p:cNvGrpSpPr/>
          <p:nvPr/>
        </p:nvGrpSpPr>
        <p:grpSpPr>
          <a:xfrm>
            <a:off x="4457278" y="4224701"/>
            <a:ext cx="5529199" cy="334670"/>
            <a:chOff x="0" y="0"/>
            <a:chExt cx="1571913" cy="68862"/>
          </a:xfrm>
        </p:grpSpPr>
        <p:sp>
          <p:nvSpPr>
            <p:cNvPr id="45" name="Freeform 45"/>
            <p:cNvSpPr/>
            <p:nvPr/>
          </p:nvSpPr>
          <p:spPr>
            <a:xfrm>
              <a:off x="0" y="0"/>
              <a:ext cx="1571913" cy="68862"/>
            </a:xfrm>
            <a:custGeom>
              <a:avLst/>
              <a:gdLst/>
              <a:ahLst/>
              <a:cxnLst/>
              <a:rect l="l" t="t" r="r" b="b"/>
              <a:pathLst>
                <a:path w="1571913" h="68862">
                  <a:moveTo>
                    <a:pt x="19793" y="0"/>
                  </a:moveTo>
                  <a:lnTo>
                    <a:pt x="1552120" y="0"/>
                  </a:lnTo>
                  <a:cubicBezTo>
                    <a:pt x="1563051" y="0"/>
                    <a:pt x="1571913" y="8862"/>
                    <a:pt x="1571913" y="19793"/>
                  </a:cubicBezTo>
                  <a:lnTo>
                    <a:pt x="1571913" y="49069"/>
                  </a:lnTo>
                  <a:cubicBezTo>
                    <a:pt x="1571913" y="54318"/>
                    <a:pt x="1569828" y="59353"/>
                    <a:pt x="1566116" y="63065"/>
                  </a:cubicBezTo>
                  <a:cubicBezTo>
                    <a:pt x="1562404" y="66777"/>
                    <a:pt x="1557369" y="68862"/>
                    <a:pt x="1552120" y="68862"/>
                  </a:cubicBezTo>
                  <a:lnTo>
                    <a:pt x="19793" y="68862"/>
                  </a:lnTo>
                  <a:cubicBezTo>
                    <a:pt x="8862" y="68862"/>
                    <a:pt x="0" y="60000"/>
                    <a:pt x="0" y="49069"/>
                  </a:cubicBezTo>
                  <a:lnTo>
                    <a:pt x="0" y="19793"/>
                  </a:lnTo>
                  <a:cubicBezTo>
                    <a:pt x="0" y="8862"/>
                    <a:pt x="8862" y="0"/>
                    <a:pt x="19793" y="0"/>
                  </a:cubicBezTo>
                  <a:close/>
                </a:path>
              </a:pathLst>
            </a:custGeom>
            <a:solidFill>
              <a:srgbClr val="EEB243"/>
            </a:solidFill>
          </p:spPr>
        </p:sp>
        <p:sp>
          <p:nvSpPr>
            <p:cNvPr id="46" name="TextBox 46"/>
            <p:cNvSpPr txBox="1"/>
            <p:nvPr/>
          </p:nvSpPr>
          <p:spPr>
            <a:xfrm>
              <a:off x="0" y="-38100"/>
              <a:ext cx="1571913" cy="106962"/>
            </a:xfrm>
            <a:prstGeom prst="rect">
              <a:avLst/>
            </a:prstGeom>
          </p:spPr>
          <p:txBody>
            <a:bodyPr lIns="50800" tIns="50800" rIns="50800" bIns="50800" rtlCol="0" anchor="ctr"/>
            <a:lstStyle/>
            <a:p>
              <a:pPr algn="ctr">
                <a:lnSpc>
                  <a:spcPts val="2659"/>
                </a:lnSpc>
              </a:pPr>
              <a:endParaRPr/>
            </a:p>
          </p:txBody>
        </p:sp>
      </p:grpSp>
      <p:sp>
        <p:nvSpPr>
          <p:cNvPr id="47" name="TextBox 47"/>
          <p:cNvSpPr txBox="1"/>
          <p:nvPr/>
        </p:nvSpPr>
        <p:spPr>
          <a:xfrm>
            <a:off x="1449184" y="5664200"/>
            <a:ext cx="15389632" cy="1168400"/>
          </a:xfrm>
          <a:prstGeom prst="rect">
            <a:avLst/>
          </a:prstGeom>
        </p:spPr>
        <p:txBody>
          <a:bodyPr lIns="0" tIns="0" rIns="0" bIns="0" rtlCol="0" anchor="t">
            <a:spAutoFit/>
          </a:bodyPr>
          <a:lstStyle/>
          <a:p>
            <a:pPr algn="ctr">
              <a:lnSpc>
                <a:spcPts val="2800"/>
              </a:lnSpc>
              <a:spcBef>
                <a:spcPct val="0"/>
              </a:spcBef>
            </a:pPr>
            <a:r>
              <a:rPr lang="en-US" sz="2000" spc="0">
                <a:solidFill>
                  <a:srgbClr val="B05510"/>
                </a:solidFill>
                <a:latin typeface="Roboto"/>
                <a:ea typeface="Roboto"/>
                <a:cs typeface="Roboto"/>
                <a:sym typeface="Pier Sans Light"/>
              </a:rPr>
              <a:t>Toàn bộ 44% đến từ sạc và đỗ — nhưng phần lớn là lệnh bị thu hồi có chủ đích: xe rảnh đang trên đường đi sạc thì có hàng nên bị gọi về. Con số này đo mức độ dao động của vòng đời xe rảnh, không đo lỗi. Từ ba hiện tượng đó, đề tài rút ra ba bài toán:</a:t>
            </a:r>
          </a:p>
        </p:txBody>
      </p:sp>
      <p:sp>
        <p:nvSpPr>
          <p:cNvPr id="48" name="TextBox 48"/>
          <p:cNvSpPr txBox="1"/>
          <p:nvPr/>
        </p:nvSpPr>
        <p:spPr>
          <a:xfrm>
            <a:off x="1324341" y="2551121"/>
            <a:ext cx="3132937" cy="389305"/>
          </a:xfrm>
          <a:prstGeom prst="rect">
            <a:avLst/>
          </a:prstGeom>
        </p:spPr>
        <p:txBody>
          <a:bodyPr lIns="0" tIns="0" rIns="0" bIns="0" rtlCol="0" anchor="t">
            <a:spAutoFit/>
          </a:bodyPr>
          <a:lstStyle/>
          <a:p>
            <a:pPr algn="just">
              <a:lnSpc>
                <a:spcPts val="3219"/>
              </a:lnSpc>
              <a:spcBef>
                <a:spcPct val="0"/>
              </a:spcBef>
            </a:pPr>
            <a:r>
              <a:rPr lang="en-US" sz="2299" b="1" spc="0">
                <a:solidFill>
                  <a:srgbClr val="B05510"/>
                </a:solidFill>
                <a:latin typeface="Roboto"/>
                <a:ea typeface="Roboto"/>
                <a:cs typeface="Roboto"/>
                <a:sym typeface="Pier Sans Light Bold"/>
              </a:rPr>
              <a:t>Lệnh sạc pin</a:t>
            </a:r>
          </a:p>
        </p:txBody>
      </p:sp>
      <p:sp>
        <p:nvSpPr>
          <p:cNvPr id="49" name="TextBox 49"/>
          <p:cNvSpPr txBox="1"/>
          <p:nvPr/>
        </p:nvSpPr>
        <p:spPr>
          <a:xfrm>
            <a:off x="14688502" y="2567618"/>
            <a:ext cx="838200" cy="349300"/>
          </a:xfrm>
          <a:prstGeom prst="rect">
            <a:avLst/>
          </a:prstGeom>
        </p:spPr>
        <p:txBody>
          <a:bodyPr lIns="0" tIns="0" rIns="0" bIns="0" rtlCol="0" anchor="t">
            <a:spAutoFit/>
          </a:bodyPr>
          <a:lstStyle/>
          <a:p>
            <a:pPr algn="just">
              <a:lnSpc>
                <a:spcPts val="2800"/>
              </a:lnSpc>
              <a:spcBef>
                <a:spcPct val="0"/>
              </a:spcBef>
            </a:pPr>
            <a:r>
              <a:rPr lang="en-US" sz="2000" spc="0">
                <a:solidFill>
                  <a:srgbClr val="B05510"/>
                </a:solidFill>
                <a:latin typeface="Roboto"/>
                <a:ea typeface="Roboto"/>
                <a:cs typeface="Roboto"/>
                <a:sym typeface="Pier Sans Light"/>
              </a:rPr>
              <a:t>89,5%</a:t>
            </a:r>
          </a:p>
        </p:txBody>
      </p:sp>
      <p:sp>
        <p:nvSpPr>
          <p:cNvPr id="50" name="TextBox 50"/>
          <p:cNvSpPr txBox="1"/>
          <p:nvPr/>
        </p:nvSpPr>
        <p:spPr>
          <a:xfrm>
            <a:off x="10522839" y="3382654"/>
            <a:ext cx="838200" cy="349300"/>
          </a:xfrm>
          <a:prstGeom prst="rect">
            <a:avLst/>
          </a:prstGeom>
        </p:spPr>
        <p:txBody>
          <a:bodyPr lIns="0" tIns="0" rIns="0" bIns="0" rtlCol="0" anchor="t">
            <a:spAutoFit/>
          </a:bodyPr>
          <a:lstStyle/>
          <a:p>
            <a:pPr algn="just">
              <a:lnSpc>
                <a:spcPts val="2800"/>
              </a:lnSpc>
              <a:spcBef>
                <a:spcPct val="0"/>
              </a:spcBef>
            </a:pPr>
            <a:r>
              <a:rPr lang="en-US" sz="2000" spc="0">
                <a:solidFill>
                  <a:srgbClr val="B05510"/>
                </a:solidFill>
                <a:latin typeface="Roboto"/>
                <a:ea typeface="Roboto"/>
                <a:cs typeface="Roboto"/>
                <a:sym typeface="Pier Sans Light"/>
              </a:rPr>
              <a:t>56,2%</a:t>
            </a:r>
          </a:p>
        </p:txBody>
      </p:sp>
      <p:sp>
        <p:nvSpPr>
          <p:cNvPr id="51" name="TextBox 51"/>
          <p:cNvSpPr txBox="1"/>
          <p:nvPr/>
        </p:nvSpPr>
        <p:spPr>
          <a:xfrm>
            <a:off x="9021699" y="4198678"/>
            <a:ext cx="838200" cy="349300"/>
          </a:xfrm>
          <a:prstGeom prst="rect">
            <a:avLst/>
          </a:prstGeom>
        </p:spPr>
        <p:txBody>
          <a:bodyPr lIns="0" tIns="0" rIns="0" bIns="0" rtlCol="0" anchor="t">
            <a:spAutoFit/>
          </a:bodyPr>
          <a:lstStyle/>
          <a:p>
            <a:pPr algn="just">
              <a:lnSpc>
                <a:spcPts val="2800"/>
              </a:lnSpc>
              <a:spcBef>
                <a:spcPct val="0"/>
              </a:spcBef>
            </a:pPr>
            <a:r>
              <a:rPr lang="en-US" sz="2000" spc="0">
                <a:solidFill>
                  <a:srgbClr val="B05510"/>
                </a:solidFill>
                <a:latin typeface="Roboto"/>
                <a:ea typeface="Roboto"/>
                <a:cs typeface="Roboto"/>
                <a:sym typeface="Pier Sans Light"/>
              </a:rPr>
              <a:t>44,2%</a:t>
            </a:r>
          </a:p>
        </p:txBody>
      </p:sp>
      <p:sp>
        <p:nvSpPr>
          <p:cNvPr id="52" name="TextBox 52"/>
          <p:cNvSpPr txBox="1"/>
          <p:nvPr/>
        </p:nvSpPr>
        <p:spPr>
          <a:xfrm>
            <a:off x="5372798" y="5004493"/>
            <a:ext cx="838200" cy="349300"/>
          </a:xfrm>
          <a:prstGeom prst="rect">
            <a:avLst/>
          </a:prstGeom>
        </p:spPr>
        <p:txBody>
          <a:bodyPr lIns="0" tIns="0" rIns="0" bIns="0" rtlCol="0" anchor="t">
            <a:spAutoFit/>
          </a:bodyPr>
          <a:lstStyle/>
          <a:p>
            <a:pPr algn="just">
              <a:lnSpc>
                <a:spcPts val="2800"/>
              </a:lnSpc>
              <a:spcBef>
                <a:spcPct val="0"/>
              </a:spcBef>
            </a:pPr>
            <a:r>
              <a:rPr lang="en-US" sz="2000" spc="0">
                <a:solidFill>
                  <a:srgbClr val="B05510"/>
                </a:solidFill>
                <a:latin typeface="Roboto"/>
                <a:ea typeface="Roboto"/>
                <a:cs typeface="Roboto"/>
                <a:sym typeface="Pier Sans Light"/>
              </a:rPr>
              <a:t>6,3%</a:t>
            </a:r>
          </a:p>
        </p:txBody>
      </p:sp>
      <p:sp>
        <p:nvSpPr>
          <p:cNvPr id="53" name="TextBox 53"/>
          <p:cNvSpPr txBox="1"/>
          <p:nvPr/>
        </p:nvSpPr>
        <p:spPr>
          <a:xfrm>
            <a:off x="1324341" y="3366156"/>
            <a:ext cx="3132937" cy="389305"/>
          </a:xfrm>
          <a:prstGeom prst="rect">
            <a:avLst/>
          </a:prstGeom>
        </p:spPr>
        <p:txBody>
          <a:bodyPr lIns="0" tIns="0" rIns="0" bIns="0" rtlCol="0" anchor="t">
            <a:spAutoFit/>
          </a:bodyPr>
          <a:lstStyle/>
          <a:p>
            <a:pPr algn="just">
              <a:lnSpc>
                <a:spcPts val="3219"/>
              </a:lnSpc>
              <a:spcBef>
                <a:spcPct val="0"/>
              </a:spcBef>
            </a:pPr>
            <a:r>
              <a:rPr lang="en-US" sz="2299" b="1" spc="0">
                <a:solidFill>
                  <a:srgbClr val="B05510"/>
                </a:solidFill>
                <a:latin typeface="Roboto"/>
                <a:ea typeface="Roboto"/>
                <a:cs typeface="Roboto"/>
                <a:sym typeface="Pier Sans Light Bold"/>
              </a:rPr>
              <a:t>Lệnh về chỗ đỗ</a:t>
            </a:r>
          </a:p>
        </p:txBody>
      </p:sp>
      <p:sp>
        <p:nvSpPr>
          <p:cNvPr id="54" name="TextBox 54"/>
          <p:cNvSpPr txBox="1"/>
          <p:nvPr/>
        </p:nvSpPr>
        <p:spPr>
          <a:xfrm>
            <a:off x="1324341" y="4177076"/>
            <a:ext cx="3132937" cy="389305"/>
          </a:xfrm>
          <a:prstGeom prst="rect">
            <a:avLst/>
          </a:prstGeom>
        </p:spPr>
        <p:txBody>
          <a:bodyPr lIns="0" tIns="0" rIns="0" bIns="0" rtlCol="0" anchor="t">
            <a:spAutoFit/>
          </a:bodyPr>
          <a:lstStyle/>
          <a:p>
            <a:pPr algn="just">
              <a:lnSpc>
                <a:spcPts val="3219"/>
              </a:lnSpc>
              <a:spcBef>
                <a:spcPct val="0"/>
              </a:spcBef>
            </a:pPr>
            <a:r>
              <a:rPr lang="en-US" sz="2299" b="1" spc="0">
                <a:solidFill>
                  <a:srgbClr val="B05510"/>
                </a:solidFill>
                <a:latin typeface="Roboto"/>
                <a:ea typeface="Roboto"/>
                <a:cs typeface="Roboto"/>
                <a:sym typeface="Pier Sans Light Bold"/>
              </a:rPr>
              <a:t>Tất cả lệnh</a:t>
            </a:r>
          </a:p>
        </p:txBody>
      </p:sp>
      <p:sp>
        <p:nvSpPr>
          <p:cNvPr id="55" name="TextBox 55"/>
          <p:cNvSpPr txBox="1"/>
          <p:nvPr/>
        </p:nvSpPr>
        <p:spPr>
          <a:xfrm>
            <a:off x="1324341" y="4987996"/>
            <a:ext cx="3132937" cy="389305"/>
          </a:xfrm>
          <a:prstGeom prst="rect">
            <a:avLst/>
          </a:prstGeom>
        </p:spPr>
        <p:txBody>
          <a:bodyPr lIns="0" tIns="0" rIns="0" bIns="0" rtlCol="0" anchor="t">
            <a:spAutoFit/>
          </a:bodyPr>
          <a:lstStyle/>
          <a:p>
            <a:pPr algn="just">
              <a:lnSpc>
                <a:spcPts val="3219"/>
              </a:lnSpc>
              <a:spcBef>
                <a:spcPct val="0"/>
              </a:spcBef>
            </a:pPr>
            <a:r>
              <a:rPr lang="en-US" sz="2299" b="1" spc="0">
                <a:solidFill>
                  <a:srgbClr val="B05510"/>
                </a:solidFill>
                <a:latin typeface="Roboto"/>
                <a:ea typeface="Roboto"/>
                <a:cs typeface="Roboto"/>
                <a:sym typeface="Pier Sans Light Bold"/>
              </a:rPr>
              <a:t>Lệnh chở hàng</a:t>
            </a:r>
          </a:p>
        </p:txBody>
      </p:sp>
      <p:sp>
        <p:nvSpPr>
          <p:cNvPr id="56" name="TextBox 56"/>
          <p:cNvSpPr txBox="1"/>
          <p:nvPr/>
        </p:nvSpPr>
        <p:spPr>
          <a:xfrm>
            <a:off x="2152186" y="558800"/>
            <a:ext cx="13983628" cy="1016000"/>
          </a:xfrm>
          <a:prstGeom prst="rect">
            <a:avLst/>
          </a:prstGeom>
        </p:spPr>
        <p:txBody>
          <a:bodyPr lIns="0" tIns="0" rIns="0" bIns="0" rtlCol="0" anchor="t">
            <a:spAutoFit/>
          </a:bodyPr>
          <a:lstStyle/>
          <a:p>
            <a:pPr algn="ctr">
              <a:lnSpc>
                <a:spcPts val="8680"/>
              </a:lnSpc>
              <a:spcBef>
                <a:spcPct val="0"/>
              </a:spcBef>
            </a:pPr>
            <a:r>
              <a:rPr lang="en-US" sz="4400" b="1" spc="-124">
                <a:solidFill>
                  <a:srgbClr val="B05510"/>
                </a:solidFill>
                <a:latin typeface="Roboto"/>
                <a:ea typeface="Roboto"/>
                <a:cs typeface="Roboto"/>
                <a:sym typeface="Gordita Bold"/>
              </a:rPr>
              <a:t>GẦN NỬA SỐ LỆNH KHÔNG VỀ ĐÍCH</a:t>
            </a:r>
          </a:p>
        </p:txBody>
      </p:sp>
      <p:sp>
        <p:nvSpPr>
          <p:cNvPr id="9501" name="Txt 9501"/>
          <p:cNvSpPr txBox="1"/>
          <p:nvPr/>
        </p:nvSpPr>
        <p:spPr>
          <a:xfrm>
            <a:off x="1447800" y="1752600"/>
            <a:ext cx="15392400" cy="736600"/>
          </a:xfrm>
          <a:prstGeom prst="rect">
            <a:avLst/>
          </a:prstGeom>
          <a:noFill/>
        </p:spPr>
        <p:txBody>
          <a:bodyPr wrap="square" lIns="0" tIns="0" rIns="0" bIns="0">
            <a:noAutofit/>
          </a:bodyPr>
          <a:lstStyle/>
          <a:p>
            <a:pPr algn="ctr"/>
            <a:r>
              <a:rPr lang="vi-VN" sz="2000" b="0" dirty="0">
                <a:solidFill>
                  <a:srgbClr val="B05510"/>
                </a:solidFill>
                <a:latin typeface="Roboto"/>
                <a:cs typeface="Roboto"/>
              </a:rPr>
              <a:t>Ngày tải cao nhất: 44,2% lệnh không hoàn tất, và trung bình 309 giây mới có xe. Mọi lệnh đều đã được gán — hỏng xảy ra sau khi gán, không phải vì hệ thống không gán nổi.</a:t>
            </a:r>
          </a:p>
        </p:txBody>
      </p:sp>
      <p:sp>
        <p:nvSpPr>
          <p:cNvPr id="9502" name="Disc 1"/>
          <p:cNvSpPr/>
          <p:nvPr/>
        </p:nvSpPr>
        <p:spPr>
          <a:xfrm>
            <a:off x="1320800" y="7010400"/>
            <a:ext cx="584200" cy="584200"/>
          </a:xfrm>
          <a:prstGeom prst="ellipse">
            <a:avLst/>
          </a:prstGeom>
          <a:solidFill>
            <a:srgbClr val="B05510"/>
          </a:solidFill>
          <a:ln>
            <a:noFill/>
          </a:ln>
        </p:spPr>
        <p:txBody>
          <a:bodyPr lIns="0" tIns="0" rIns="0" bIns="0" anchor="ctr"/>
          <a:lstStyle/>
          <a:p>
            <a:pPr algn="ctr"/>
            <a:r>
              <a:rPr lang="en-US" sz="2000" b="1" dirty="0">
                <a:solidFill>
                  <a:srgbClr val="FFFFFF"/>
                </a:solidFill>
                <a:latin typeface="Roboto"/>
                <a:cs typeface="Roboto"/>
              </a:rPr>
              <a:t>1</a:t>
            </a:r>
          </a:p>
        </p:txBody>
      </p:sp>
      <p:sp>
        <p:nvSpPr>
          <p:cNvPr id="9503" name="Txt 9503"/>
          <p:cNvSpPr txBox="1"/>
          <p:nvPr/>
        </p:nvSpPr>
        <p:spPr>
          <a:xfrm>
            <a:off x="2082800" y="7035800"/>
            <a:ext cx="4267200" cy="457200"/>
          </a:xfrm>
          <a:prstGeom prst="rect">
            <a:avLst/>
          </a:prstGeom>
          <a:noFill/>
        </p:spPr>
        <p:txBody>
          <a:bodyPr wrap="square" lIns="0" tIns="0" rIns="0" bIns="0">
            <a:noAutofit/>
          </a:bodyPr>
          <a:lstStyle/>
          <a:p>
            <a:pPr algn="l"/>
            <a:r>
              <a:rPr lang="vi-VN" sz="2400" b="1" dirty="0">
                <a:solidFill>
                  <a:srgbClr val="B05510"/>
                </a:solidFill>
                <a:latin typeface="Roboto"/>
                <a:cs typeface="Roboto"/>
              </a:rPr>
              <a:t>Gán xe</a:t>
            </a:r>
          </a:p>
        </p:txBody>
      </p:sp>
      <p:sp>
        <p:nvSpPr>
          <p:cNvPr id="9504" name="Txt 9504"/>
          <p:cNvSpPr txBox="1"/>
          <p:nvPr/>
        </p:nvSpPr>
        <p:spPr>
          <a:xfrm>
            <a:off x="2082800" y="7620000"/>
            <a:ext cx="4267200" cy="1524000"/>
          </a:xfrm>
          <a:prstGeom prst="rect">
            <a:avLst/>
          </a:prstGeom>
          <a:noFill/>
        </p:spPr>
        <p:txBody>
          <a:bodyPr wrap="square" lIns="0" tIns="0" rIns="0" bIns="0">
            <a:noAutofit/>
          </a:bodyPr>
          <a:lstStyle/>
          <a:p>
            <a:pPr algn="l"/>
            <a:r>
              <a:rPr lang="vi-VN" sz="1800" b="0" dirty="0">
                <a:solidFill>
                  <a:srgbClr val="B05510"/>
                </a:solidFill>
                <a:latin typeface="Roboto"/>
                <a:cs typeface="Roboto"/>
              </a:rPr>
              <a:t>Chờ lâu, và không phân biệt được đâu là bị chặn hợp lệ, đâu là điều phối chậm.</a:t>
            </a:r>
          </a:p>
        </p:txBody>
      </p:sp>
      <p:sp>
        <p:nvSpPr>
          <p:cNvPr id="9505" name="Disc 2"/>
          <p:cNvSpPr/>
          <p:nvPr/>
        </p:nvSpPr>
        <p:spPr>
          <a:xfrm>
            <a:off x="7010400" y="7010400"/>
            <a:ext cx="584200" cy="584200"/>
          </a:xfrm>
          <a:prstGeom prst="ellipse">
            <a:avLst/>
          </a:prstGeom>
          <a:solidFill>
            <a:srgbClr val="B05510"/>
          </a:solidFill>
          <a:ln>
            <a:noFill/>
          </a:ln>
        </p:spPr>
        <p:txBody>
          <a:bodyPr lIns="0" tIns="0" rIns="0" bIns="0" anchor="ctr"/>
          <a:lstStyle/>
          <a:p>
            <a:pPr algn="ctr"/>
            <a:r>
              <a:rPr lang="en-US" sz="2000" b="1" dirty="0">
                <a:solidFill>
                  <a:srgbClr val="FFFFFF"/>
                </a:solidFill>
                <a:latin typeface="Roboto"/>
                <a:cs typeface="Roboto"/>
              </a:rPr>
              <a:t>2</a:t>
            </a:r>
          </a:p>
        </p:txBody>
      </p:sp>
      <p:sp>
        <p:nvSpPr>
          <p:cNvPr id="9506" name="Txt 9506"/>
          <p:cNvSpPr txBox="1"/>
          <p:nvPr/>
        </p:nvSpPr>
        <p:spPr>
          <a:xfrm>
            <a:off x="7772400" y="7035800"/>
            <a:ext cx="4267200" cy="457200"/>
          </a:xfrm>
          <a:prstGeom prst="rect">
            <a:avLst/>
          </a:prstGeom>
          <a:noFill/>
        </p:spPr>
        <p:txBody>
          <a:bodyPr wrap="square" lIns="0" tIns="0" rIns="0" bIns="0">
            <a:noAutofit/>
          </a:bodyPr>
          <a:lstStyle/>
          <a:p>
            <a:pPr algn="l"/>
            <a:r>
              <a:rPr lang="vi-VN" sz="2400" b="1" dirty="0">
                <a:solidFill>
                  <a:srgbClr val="B05510"/>
                </a:solidFill>
                <a:latin typeface="Roboto"/>
                <a:cs typeface="Roboto"/>
              </a:rPr>
              <a:t>Định tuyến đa xe</a:t>
            </a:r>
          </a:p>
        </p:txBody>
      </p:sp>
      <p:sp>
        <p:nvSpPr>
          <p:cNvPr id="9507" name="Txt 9507"/>
          <p:cNvSpPr txBox="1"/>
          <p:nvPr/>
        </p:nvSpPr>
        <p:spPr>
          <a:xfrm>
            <a:off x="7772400" y="7620000"/>
            <a:ext cx="4267200" cy="1524000"/>
          </a:xfrm>
          <a:prstGeom prst="rect">
            <a:avLst/>
          </a:prstGeom>
          <a:noFill/>
        </p:spPr>
        <p:txBody>
          <a:bodyPr wrap="square" lIns="0" tIns="0" rIns="0" bIns="0">
            <a:noAutofit/>
          </a:bodyPr>
          <a:lstStyle/>
          <a:p>
            <a:pPr algn="l"/>
            <a:r>
              <a:rPr lang="vi-VN" sz="1800" b="0" dirty="0">
                <a:solidFill>
                  <a:srgbClr val="B05510"/>
                </a:solidFill>
                <a:latin typeface="Roboto"/>
                <a:cs typeface="Roboto"/>
              </a:rPr>
              <a:t>Đông xe thì tắc; hỏng dồn vào đúng hai giờ tải cao nhất trong ngày.</a:t>
            </a:r>
          </a:p>
        </p:txBody>
      </p:sp>
      <p:sp>
        <p:nvSpPr>
          <p:cNvPr id="9508" name="Disc 3"/>
          <p:cNvSpPr/>
          <p:nvPr/>
        </p:nvSpPr>
        <p:spPr>
          <a:xfrm>
            <a:off x="12700000" y="7010400"/>
            <a:ext cx="584200" cy="584200"/>
          </a:xfrm>
          <a:prstGeom prst="ellipse">
            <a:avLst/>
          </a:prstGeom>
          <a:solidFill>
            <a:srgbClr val="B05510"/>
          </a:solidFill>
          <a:ln>
            <a:noFill/>
          </a:ln>
        </p:spPr>
        <p:txBody>
          <a:bodyPr lIns="0" tIns="0" rIns="0" bIns="0" anchor="ctr"/>
          <a:lstStyle/>
          <a:p>
            <a:pPr algn="ctr"/>
            <a:r>
              <a:rPr lang="en-US" sz="2000" b="1" dirty="0">
                <a:solidFill>
                  <a:srgbClr val="FFFFFF"/>
                </a:solidFill>
                <a:latin typeface="Roboto"/>
                <a:cs typeface="Roboto"/>
              </a:rPr>
              <a:t>3</a:t>
            </a:r>
          </a:p>
        </p:txBody>
      </p:sp>
      <p:sp>
        <p:nvSpPr>
          <p:cNvPr id="9509" name="Txt 9509"/>
          <p:cNvSpPr txBox="1"/>
          <p:nvPr/>
        </p:nvSpPr>
        <p:spPr>
          <a:xfrm>
            <a:off x="13462000" y="7035800"/>
            <a:ext cx="4267200" cy="457200"/>
          </a:xfrm>
          <a:prstGeom prst="rect">
            <a:avLst/>
          </a:prstGeom>
          <a:noFill/>
        </p:spPr>
        <p:txBody>
          <a:bodyPr wrap="square" lIns="0" tIns="0" rIns="0" bIns="0">
            <a:noAutofit/>
          </a:bodyPr>
          <a:lstStyle/>
          <a:p>
            <a:pPr algn="l"/>
            <a:r>
              <a:rPr lang="vi-VN" sz="2400" b="1" dirty="0">
                <a:solidFill>
                  <a:srgbClr val="B05510"/>
                </a:solidFill>
                <a:latin typeface="Roboto"/>
                <a:cs typeface="Roboto"/>
              </a:rPr>
              <a:t>Vòng đời xe rảnh</a:t>
            </a:r>
          </a:p>
        </p:txBody>
      </p:sp>
      <p:sp>
        <p:nvSpPr>
          <p:cNvPr id="9510" name="Txt 9510"/>
          <p:cNvSpPr txBox="1"/>
          <p:nvPr/>
        </p:nvSpPr>
        <p:spPr>
          <a:xfrm>
            <a:off x="13462000" y="7620000"/>
            <a:ext cx="4267200" cy="1524000"/>
          </a:xfrm>
          <a:prstGeom prst="rect">
            <a:avLst/>
          </a:prstGeom>
          <a:noFill/>
        </p:spPr>
        <p:txBody>
          <a:bodyPr wrap="square" lIns="0" tIns="0" rIns="0" bIns="0">
            <a:noAutofit/>
          </a:bodyPr>
          <a:lstStyle/>
          <a:p>
            <a:pPr algn="l"/>
            <a:r>
              <a:rPr lang="vi-VN" sz="1800" b="0" dirty="0">
                <a:solidFill>
                  <a:srgbClr val="B05510"/>
                </a:solidFill>
                <a:latin typeface="Roboto"/>
                <a:cs typeface="Roboto"/>
              </a:rPr>
              <a:t>Điều đi rồi gọi về liên tục, sinh quãng đường không tạo ra giá trị.</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9D9D9"/>
        </a:solidFill>
        <a:effectLst/>
      </p:bgPr>
    </p:bg>
    <p:spTree>
      <p:nvGrpSpPr>
        <p:cNvPr id="1" name=""/>
        <p:cNvGrpSpPr/>
        <p:nvPr/>
      </p:nvGrpSpPr>
      <p:grpSpPr>
        <a:xfrm>
          <a:off x="0" y="0"/>
          <a:ext cx="0" cy="0"/>
          <a:chOff x="0" y="0"/>
          <a:chExt cx="0" cy="0"/>
        </a:xfrm>
      </p:grpSpPr>
      <p:grpSp>
        <p:nvGrpSpPr>
          <p:cNvPr id="2" name="Group 2"/>
          <p:cNvGrpSpPr/>
          <p:nvPr/>
        </p:nvGrpSpPr>
        <p:grpSpPr>
          <a:xfrm>
            <a:off x="-2617123" y="835337"/>
            <a:ext cx="7291646" cy="72916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alpha val="11765"/>
              </a:srgbClr>
            </a:soli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826927" y="-2356557"/>
            <a:ext cx="7416842" cy="6720641"/>
            <a:chOff x="0" y="0"/>
            <a:chExt cx="896999" cy="812800"/>
          </a:xfrm>
        </p:grpSpPr>
        <p:sp>
          <p:nvSpPr>
            <p:cNvPr id="6" name="Freeform 6"/>
            <p:cNvSpPr/>
            <p:nvPr/>
          </p:nvSpPr>
          <p:spPr>
            <a:xfrm>
              <a:off x="0" y="0"/>
              <a:ext cx="896999" cy="812800"/>
            </a:xfrm>
            <a:custGeom>
              <a:avLst/>
              <a:gdLst/>
              <a:ahLst/>
              <a:cxnLst/>
              <a:rect l="l" t="t" r="r" b="b"/>
              <a:pathLst>
                <a:path w="896999" h="812800">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id="7" name="TextBox 7"/>
            <p:cNvSpPr txBox="1"/>
            <p:nvPr/>
          </p:nvSpPr>
          <p:spPr>
            <a:xfrm>
              <a:off x="84094" y="38100"/>
              <a:ext cx="728812"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7239839" y="641973"/>
            <a:ext cx="486449" cy="386727"/>
          </a:xfrm>
          <a:custGeom>
            <a:avLst/>
            <a:gdLst/>
            <a:ahLst/>
            <a:cxnLst/>
            <a:rect l="l" t="t" r="r" b="b"/>
            <a:pathLst>
              <a:path w="486449" h="386727">
                <a:moveTo>
                  <a:pt x="0" y="0"/>
                </a:moveTo>
                <a:lnTo>
                  <a:pt x="486449" y="0"/>
                </a:lnTo>
                <a:lnTo>
                  <a:pt x="486449" y="386727"/>
                </a:lnTo>
                <a:lnTo>
                  <a:pt x="0" y="3867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493968" y="1275404"/>
            <a:ext cx="7963993" cy="8052946"/>
            <a:chOff x="0" y="0"/>
            <a:chExt cx="1233831" cy="1247612"/>
          </a:xfrm>
        </p:grpSpPr>
        <p:sp>
          <p:nvSpPr>
            <p:cNvPr id="10" name="Freeform 10"/>
            <p:cNvSpPr/>
            <p:nvPr/>
          </p:nvSpPr>
          <p:spPr>
            <a:xfrm>
              <a:off x="0" y="0"/>
              <a:ext cx="1233831" cy="1247612"/>
            </a:xfrm>
            <a:custGeom>
              <a:avLst/>
              <a:gdLst/>
              <a:ahLst/>
              <a:cxnLst/>
              <a:rect l="l" t="t" r="r" b="b"/>
              <a:pathLst>
                <a:path w="1233831" h="1247612">
                  <a:moveTo>
                    <a:pt x="0" y="0"/>
                  </a:moveTo>
                  <a:lnTo>
                    <a:pt x="1233831" y="0"/>
                  </a:lnTo>
                  <a:lnTo>
                    <a:pt x="1233831" y="1247612"/>
                  </a:lnTo>
                  <a:lnTo>
                    <a:pt x="0" y="1247612"/>
                  </a:lnTo>
                  <a:close/>
                </a:path>
              </a:pathLst>
            </a:custGeom>
            <a:blipFill>
              <a:blip r:embed="rId4"/>
              <a:stretch>
                <a:fillRect/>
              </a:stretch>
            </a:blipFill>
          </p:spPr>
        </p:sp>
      </p:grpSp>
      <p:sp>
        <p:nvSpPr>
          <p:cNvPr id="11" name="Freeform 11"/>
          <p:cNvSpPr/>
          <p:nvPr/>
        </p:nvSpPr>
        <p:spPr>
          <a:xfrm>
            <a:off x="-2640677" y="9227000"/>
            <a:ext cx="7315200" cy="746760"/>
          </a:xfrm>
          <a:custGeom>
            <a:avLst/>
            <a:gdLst/>
            <a:ahLst/>
            <a:cxnLst/>
            <a:rect l="l" t="t" r="r" b="b"/>
            <a:pathLst>
              <a:path w="7315200" h="746760">
                <a:moveTo>
                  <a:pt x="0" y="0"/>
                </a:moveTo>
                <a:lnTo>
                  <a:pt x="7315200" y="0"/>
                </a:lnTo>
                <a:lnTo>
                  <a:pt x="7315200" y="746760"/>
                </a:lnTo>
                <a:lnTo>
                  <a:pt x="0" y="74676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2" name="Group 12"/>
          <p:cNvGrpSpPr/>
          <p:nvPr/>
        </p:nvGrpSpPr>
        <p:grpSpPr>
          <a:xfrm>
            <a:off x="16619038" y="4681647"/>
            <a:ext cx="4277180" cy="4277180"/>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solidFill>
          </p:spPr>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p:cNvSpPr txBox="1"/>
          <p:nvPr/>
        </p:nvSpPr>
        <p:spPr>
          <a:xfrm>
            <a:off x="8950109" y="1039035"/>
            <a:ext cx="7402229" cy="2157095"/>
          </a:xfrm>
          <a:prstGeom prst="rect">
            <a:avLst/>
          </a:prstGeom>
        </p:spPr>
        <p:txBody>
          <a:bodyPr lIns="0" tIns="0" rIns="0" bIns="0" rtlCol="0" anchor="t">
            <a:spAutoFit/>
          </a:bodyPr>
          <a:lstStyle/>
          <a:p>
            <a:pPr algn="l">
              <a:lnSpc>
                <a:spcPts val="8680"/>
              </a:lnSpc>
              <a:spcBef>
                <a:spcPct val="0"/>
              </a:spcBef>
            </a:pPr>
            <a:r>
              <a:rPr lang="en-US" sz="6200" b="1" spc="-124">
                <a:solidFill>
                  <a:srgbClr val="B05510"/>
                </a:solidFill>
                <a:latin typeface="Roboto"/>
                <a:ea typeface="Roboto"/>
                <a:cs typeface="Roboto"/>
                <a:sym typeface="Gordita Bold"/>
              </a:rPr>
              <a:t>WES CHỌN XE, FMS CHỌN ĐƯỜNG</a:t>
            </a:r>
          </a:p>
        </p:txBody>
      </p:sp>
      <p:sp>
        <p:nvSpPr>
          <p:cNvPr id="19" name="TextBox 19"/>
          <p:cNvSpPr txBox="1"/>
          <p:nvPr/>
        </p:nvSpPr>
        <p:spPr>
          <a:xfrm>
            <a:off x="9683453" y="3865136"/>
            <a:ext cx="7112000" cy="523900"/>
          </a:xfrm>
          <a:prstGeom prst="rect">
            <a:avLst/>
          </a:prstGeom>
        </p:spPr>
        <p:txBody>
          <a:bodyPr lIns="0" tIns="0" rIns="0" bIns="0" rtlCol="0" anchor="t">
            <a:spAutoFit/>
          </a:bodyPr>
          <a:lstStyle/>
          <a:p>
            <a:pPr algn="just">
              <a:lnSpc>
                <a:spcPts val="4200"/>
              </a:lnSpc>
              <a:spcBef>
                <a:spcPct val="0"/>
              </a:spcBef>
            </a:pPr>
            <a:r>
              <a:rPr lang="en-US" sz="3000" b="1" spc="0">
                <a:solidFill>
                  <a:srgbClr val="B05510"/>
                </a:solidFill>
                <a:latin typeface="Roboto"/>
                <a:ea typeface="Roboto"/>
                <a:cs typeface="Roboto"/>
                <a:sym typeface="Pier Sans Light Bold"/>
              </a:rPr>
              <a:t>WES quyết định</a:t>
            </a:r>
          </a:p>
        </p:txBody>
      </p:sp>
      <p:sp>
        <p:nvSpPr>
          <p:cNvPr id="20" name="TextBox 20"/>
          <p:cNvSpPr txBox="1"/>
          <p:nvPr/>
        </p:nvSpPr>
        <p:spPr>
          <a:xfrm>
            <a:off x="9683453" y="5718278"/>
            <a:ext cx="7112000" cy="523900"/>
          </a:xfrm>
          <a:prstGeom prst="rect">
            <a:avLst/>
          </a:prstGeom>
        </p:spPr>
        <p:txBody>
          <a:bodyPr lIns="0" tIns="0" rIns="0" bIns="0" rtlCol="0" anchor="t">
            <a:spAutoFit/>
          </a:bodyPr>
          <a:lstStyle/>
          <a:p>
            <a:pPr algn="just">
              <a:lnSpc>
                <a:spcPts val="4200"/>
              </a:lnSpc>
              <a:spcBef>
                <a:spcPct val="0"/>
              </a:spcBef>
            </a:pPr>
            <a:r>
              <a:rPr lang="en-US" sz="3000" b="1" spc="0">
                <a:solidFill>
                  <a:srgbClr val="B05510"/>
                </a:solidFill>
                <a:latin typeface="Roboto"/>
                <a:ea typeface="Roboto"/>
                <a:cs typeface="Roboto"/>
                <a:sym typeface="Pier Sans Light Bold"/>
              </a:rPr>
              <a:t>FMS thực thi</a:t>
            </a:r>
          </a:p>
        </p:txBody>
      </p:sp>
      <p:sp>
        <p:nvSpPr>
          <p:cNvPr id="21" name="TextBox 21"/>
          <p:cNvSpPr txBox="1"/>
          <p:nvPr/>
        </p:nvSpPr>
        <p:spPr>
          <a:xfrm>
            <a:off x="9683453" y="7572651"/>
            <a:ext cx="7112000" cy="523900"/>
          </a:xfrm>
          <a:prstGeom prst="rect">
            <a:avLst/>
          </a:prstGeom>
        </p:spPr>
        <p:txBody>
          <a:bodyPr lIns="0" tIns="0" rIns="0" bIns="0" rtlCol="0" anchor="t">
            <a:spAutoFit/>
          </a:bodyPr>
          <a:lstStyle/>
          <a:p>
            <a:pPr algn="just">
              <a:lnSpc>
                <a:spcPts val="4200"/>
              </a:lnSpc>
              <a:spcBef>
                <a:spcPct val="0"/>
              </a:spcBef>
            </a:pPr>
            <a:r>
              <a:rPr lang="en-US" sz="3000" b="1" spc="0">
                <a:solidFill>
                  <a:srgbClr val="B05510"/>
                </a:solidFill>
                <a:latin typeface="Roboto"/>
                <a:ea typeface="Roboto"/>
                <a:cs typeface="Roboto"/>
                <a:sym typeface="Pier Sans Light Bold"/>
              </a:rPr>
              <a:t>Nói chuyện với xe</a:t>
            </a:r>
          </a:p>
        </p:txBody>
      </p:sp>
      <p:sp>
        <p:nvSpPr>
          <p:cNvPr id="22" name="TextBox 22"/>
          <p:cNvSpPr txBox="1"/>
          <p:nvPr/>
        </p:nvSpPr>
        <p:spPr>
          <a:xfrm>
            <a:off x="9704895" y="4465235"/>
            <a:ext cx="7208472" cy="1054249"/>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Tiếp nhận kiện hàng, sinh lệnh, quyết định việc nào làm trước, chọn ô trả cụ thể trong khu vực đích, và chọn xe nào làm việc gì.</a:t>
            </a:r>
          </a:p>
        </p:txBody>
      </p:sp>
      <p:sp>
        <p:nvSpPr>
          <p:cNvPr id="23" name="TextBox 23"/>
          <p:cNvSpPr txBox="1"/>
          <p:nvPr/>
        </p:nvSpPr>
        <p:spPr>
          <a:xfrm>
            <a:off x="9704895" y="6318378"/>
            <a:ext cx="6647443" cy="1054249"/>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Tính đường đi, chống va chạm, cấp phát ô đường. openTCS vốn tự chọn xe; quyền đó được lấy về WES vì chọn xe cần dữ liệu nghiệp vụ mà FMS không có.</a:t>
            </a:r>
          </a:p>
        </p:txBody>
      </p:sp>
      <p:sp>
        <p:nvSpPr>
          <p:cNvPr id="24" name="TextBox 24"/>
          <p:cNvSpPr txBox="1"/>
          <p:nvPr/>
        </p:nvSpPr>
        <p:spPr>
          <a:xfrm>
            <a:off x="9704895" y="8172751"/>
            <a:ext cx="7208472" cy="1054249"/>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Chuẩn mở VDA5050 trên MQTT, không khoá cứng vào một hãng. Comm adapter lo phần riêng của B300: ràng buộc lệnh, chuẩn hoá trạng thái, bù mã QR dán lệch, ba mức tốc độ.</a:t>
            </a:r>
          </a:p>
        </p:txBody>
      </p:sp>
      <p:grpSp>
        <p:nvGrpSpPr>
          <p:cNvPr id="25" name="Group 25"/>
          <p:cNvGrpSpPr/>
          <p:nvPr/>
        </p:nvGrpSpPr>
        <p:grpSpPr>
          <a:xfrm>
            <a:off x="16352338" y="2454341"/>
            <a:ext cx="453167" cy="453167"/>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873C"/>
            </a:solidFill>
          </p:spPr>
        </p:sp>
        <p:sp>
          <p:nvSpPr>
            <p:cNvPr id="27" name="TextBox 2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004" name="Num 1"/>
          <p:cNvSpPr/>
          <p:nvPr/>
        </p:nvSpPr>
        <p:spPr>
          <a:xfrm>
            <a:off x="8953500" y="3937000"/>
            <a:ext cx="508000" cy="508000"/>
          </a:xfrm>
          <a:prstGeom prst="ellipse">
            <a:avLst/>
          </a:prstGeom>
          <a:solidFill>
            <a:srgbClr val="B05510"/>
          </a:solidFill>
          <a:ln>
            <a:noFill/>
          </a:ln>
        </p:spPr>
        <p:txBody>
          <a:bodyPr lIns="0" tIns="0" rIns="0" bIns="0" anchor="ctr"/>
          <a:lstStyle/>
          <a:p>
            <a:pPr algn="ctr"/>
            <a:r>
              <a:rPr lang="en-US" sz="1400" b="1" dirty="0">
                <a:solidFill>
                  <a:srgbClr val="FFFFFF"/>
                </a:solidFill>
                <a:latin typeface="Roboto"/>
                <a:cs typeface="Roboto"/>
              </a:rPr>
              <a:t>1</a:t>
            </a:r>
          </a:p>
        </p:txBody>
      </p:sp>
      <p:sp>
        <p:nvSpPr>
          <p:cNvPr id="9005" name="Num 2"/>
          <p:cNvSpPr/>
          <p:nvPr/>
        </p:nvSpPr>
        <p:spPr>
          <a:xfrm>
            <a:off x="8953500" y="5791200"/>
            <a:ext cx="508000" cy="508000"/>
          </a:xfrm>
          <a:prstGeom prst="ellipse">
            <a:avLst/>
          </a:prstGeom>
          <a:solidFill>
            <a:srgbClr val="B05510"/>
          </a:solidFill>
          <a:ln>
            <a:noFill/>
          </a:ln>
        </p:spPr>
        <p:txBody>
          <a:bodyPr lIns="0" tIns="0" rIns="0" bIns="0" anchor="ctr"/>
          <a:lstStyle/>
          <a:p>
            <a:pPr algn="ctr"/>
            <a:r>
              <a:rPr lang="en-US" sz="1400" b="1" dirty="0">
                <a:solidFill>
                  <a:srgbClr val="FFFFFF"/>
                </a:solidFill>
                <a:latin typeface="Roboto"/>
                <a:cs typeface="Roboto"/>
              </a:rPr>
              <a:t>2</a:t>
            </a:r>
          </a:p>
        </p:txBody>
      </p:sp>
      <p:sp>
        <p:nvSpPr>
          <p:cNvPr id="9006" name="Num 3"/>
          <p:cNvSpPr/>
          <p:nvPr/>
        </p:nvSpPr>
        <p:spPr>
          <a:xfrm>
            <a:off x="8953500" y="7645400"/>
            <a:ext cx="508000" cy="508000"/>
          </a:xfrm>
          <a:prstGeom prst="ellipse">
            <a:avLst/>
          </a:prstGeom>
          <a:solidFill>
            <a:srgbClr val="B05510"/>
          </a:solidFill>
          <a:ln>
            <a:noFill/>
          </a:ln>
        </p:spPr>
        <p:txBody>
          <a:bodyPr lIns="0" tIns="0" rIns="0" bIns="0" anchor="ctr"/>
          <a:lstStyle/>
          <a:p>
            <a:pPr algn="ctr"/>
            <a:r>
              <a:rPr lang="en-US" sz="1400" b="1" dirty="0">
                <a:solidFill>
                  <a:srgbClr val="FFFFFF"/>
                </a:solidFill>
                <a:latin typeface="Roboto"/>
                <a:cs typeface="Roboto"/>
              </a:rPr>
              <a:t>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9D9D9"/>
        </a:solidFill>
        <a:effectLst/>
      </p:bgPr>
    </p:bg>
    <p:spTree>
      <p:nvGrpSpPr>
        <p:cNvPr id="1" name=""/>
        <p:cNvGrpSpPr/>
        <p:nvPr/>
      </p:nvGrpSpPr>
      <p:grpSpPr>
        <a:xfrm>
          <a:off x="0" y="0"/>
          <a:ext cx="0" cy="0"/>
          <a:chOff x="0" y="0"/>
          <a:chExt cx="0" cy="0"/>
        </a:xfrm>
      </p:grpSpPr>
      <p:grpSp>
        <p:nvGrpSpPr>
          <p:cNvPr id="2" name="Group 2"/>
          <p:cNvGrpSpPr/>
          <p:nvPr/>
        </p:nvGrpSpPr>
        <p:grpSpPr>
          <a:xfrm>
            <a:off x="9437183" y="1283683"/>
            <a:ext cx="8690077" cy="869007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alpha val="11765"/>
              </a:srgbClr>
            </a:soli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1581441">
            <a:off x="13985738" y="6869137"/>
            <a:ext cx="5875218" cy="5323725"/>
            <a:chOff x="0" y="0"/>
            <a:chExt cx="896999" cy="812800"/>
          </a:xfrm>
        </p:grpSpPr>
        <p:sp>
          <p:nvSpPr>
            <p:cNvPr id="6" name="Freeform 6"/>
            <p:cNvSpPr/>
            <p:nvPr/>
          </p:nvSpPr>
          <p:spPr>
            <a:xfrm>
              <a:off x="0" y="0"/>
              <a:ext cx="896999" cy="812800"/>
            </a:xfrm>
            <a:custGeom>
              <a:avLst/>
              <a:gdLst/>
              <a:ahLst/>
              <a:cxnLst/>
              <a:rect l="l" t="t" r="r" b="b"/>
              <a:pathLst>
                <a:path w="896999" h="812800">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id="7" name="TextBox 7"/>
            <p:cNvSpPr txBox="1"/>
            <p:nvPr/>
          </p:nvSpPr>
          <p:spPr>
            <a:xfrm>
              <a:off x="84094" y="38100"/>
              <a:ext cx="728812"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7239839" y="641973"/>
            <a:ext cx="486449" cy="386727"/>
          </a:xfrm>
          <a:custGeom>
            <a:avLst/>
            <a:gdLst/>
            <a:ahLst/>
            <a:cxnLst/>
            <a:rect l="l" t="t" r="r" b="b"/>
            <a:pathLst>
              <a:path w="486449" h="386727">
                <a:moveTo>
                  <a:pt x="0" y="0"/>
                </a:moveTo>
                <a:lnTo>
                  <a:pt x="486449" y="0"/>
                </a:lnTo>
                <a:lnTo>
                  <a:pt x="486449" y="386727"/>
                </a:lnTo>
                <a:lnTo>
                  <a:pt x="0" y="3867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2640677" y="9227000"/>
            <a:ext cx="7315200" cy="746760"/>
          </a:xfrm>
          <a:custGeom>
            <a:avLst/>
            <a:gdLst/>
            <a:ahLst/>
            <a:cxnLst/>
            <a:rect l="l" t="t" r="r" b="b"/>
            <a:pathLst>
              <a:path w="7315200" h="746760">
                <a:moveTo>
                  <a:pt x="0" y="0"/>
                </a:moveTo>
                <a:lnTo>
                  <a:pt x="7315200" y="0"/>
                </a:lnTo>
                <a:lnTo>
                  <a:pt x="7315200" y="746760"/>
                </a:lnTo>
                <a:lnTo>
                  <a:pt x="0" y="7467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Freeform 13"/>
          <p:cNvSpPr/>
          <p:nvPr/>
        </p:nvSpPr>
        <p:spPr>
          <a:xfrm>
            <a:off x="8915006" y="2077408"/>
            <a:ext cx="8906532" cy="7180892"/>
          </a:xfrm>
          <a:custGeom>
            <a:avLst/>
            <a:gdLst/>
            <a:ahLst/>
            <a:cxnLst/>
            <a:rect l="l" t="t" r="r" b="b"/>
            <a:pathLst>
              <a:path w="8906532" h="7180892">
                <a:moveTo>
                  <a:pt x="0" y="0"/>
                </a:moveTo>
                <a:lnTo>
                  <a:pt x="8906532" y="0"/>
                </a:lnTo>
                <a:lnTo>
                  <a:pt x="8906532" y="7180892"/>
                </a:lnTo>
                <a:lnTo>
                  <a:pt x="0" y="7180892"/>
                </a:lnTo>
                <a:lnTo>
                  <a:pt x="0" y="0"/>
                </a:lnTo>
                <a:close/>
              </a:path>
            </a:pathLst>
          </a:custGeom>
          <a:blipFill>
            <a:blip r:embed="rId6"/>
            <a:stretch>
              <a:fillRect/>
            </a:stretch>
          </a:blipFill>
        </p:spPr>
      </p:sp>
      <p:sp>
        <p:nvSpPr>
          <p:cNvPr id="14" name="TextBox 14"/>
          <p:cNvSpPr txBox="1"/>
          <p:nvPr/>
        </p:nvSpPr>
        <p:spPr>
          <a:xfrm>
            <a:off x="1016923" y="1563426"/>
            <a:ext cx="8420260" cy="2157095"/>
          </a:xfrm>
          <a:prstGeom prst="rect">
            <a:avLst/>
          </a:prstGeom>
        </p:spPr>
        <p:txBody>
          <a:bodyPr lIns="0" tIns="0" rIns="0" bIns="0" rtlCol="0" anchor="t">
            <a:spAutoFit/>
          </a:bodyPr>
          <a:lstStyle/>
          <a:p>
            <a:pPr algn="l">
              <a:lnSpc>
                <a:spcPts val="8680"/>
              </a:lnSpc>
              <a:spcBef>
                <a:spcPct val="0"/>
              </a:spcBef>
            </a:pPr>
            <a:r>
              <a:rPr lang="en-US" sz="6200" b="1" spc="-124">
                <a:solidFill>
                  <a:srgbClr val="B05510"/>
                </a:solidFill>
                <a:latin typeface="Roboto"/>
                <a:ea typeface="Roboto"/>
                <a:cs typeface="Roboto"/>
                <a:sym typeface="Gordita Bold"/>
              </a:rPr>
              <a:t>LUỒNG MỘT YÊU CẦU VẬN CHUYỂN</a:t>
            </a:r>
          </a:p>
        </p:txBody>
      </p:sp>
      <p:sp>
        <p:nvSpPr>
          <p:cNvPr id="15" name="TextBox 15"/>
          <p:cNvSpPr txBox="1"/>
          <p:nvPr/>
        </p:nvSpPr>
        <p:spPr>
          <a:xfrm>
            <a:off x="1016923" y="4081734"/>
            <a:ext cx="7429375" cy="1153869"/>
          </a:xfrm>
          <a:prstGeom prst="rect">
            <a:avLst/>
          </a:prstGeom>
        </p:spPr>
        <p:txBody>
          <a:bodyPr lIns="0" tIns="0" rIns="0" bIns="0" rtlCol="0" anchor="t">
            <a:spAutoFit/>
          </a:bodyPr>
          <a:lstStyle/>
          <a:p>
            <a:pPr algn="l">
              <a:lnSpc>
                <a:spcPts val="3079"/>
              </a:lnSpc>
              <a:spcBef>
                <a:spcPct val="0"/>
              </a:spcBef>
            </a:pPr>
            <a:r>
              <a:rPr lang="en-US" sz="2199" spc="0">
                <a:solidFill>
                  <a:srgbClr val="B05510"/>
                </a:solidFill>
                <a:latin typeface="Roboto"/>
                <a:ea typeface="Roboto"/>
                <a:cs typeface="Roboto"/>
                <a:sym typeface="Pier Sans Light"/>
              </a:rPr>
              <a:t>Đầu vào tối thiểu chỉ có hai thứ: vị trí hiện tại của hàng và khu vực đích. WES tách yêu cầu đó thành ba chặng — mỗi chặng kết thúc là một mốc nghiệp vụ có thật.</a:t>
            </a:r>
          </a:p>
        </p:txBody>
      </p:sp>
      <p:sp>
        <p:nvSpPr>
          <p:cNvPr id="16" name="TextBox 16"/>
          <p:cNvSpPr txBox="1"/>
          <p:nvPr/>
        </p:nvSpPr>
        <p:spPr>
          <a:xfrm>
            <a:off x="1748650" y="6078674"/>
            <a:ext cx="6937756" cy="349300"/>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Đi tới điểm lấy và nâng hàng lên.</a:t>
            </a:r>
          </a:p>
        </p:txBody>
      </p:sp>
      <p:sp>
        <p:nvSpPr>
          <p:cNvPr id="17" name="TextBox 17"/>
          <p:cNvSpPr txBox="1"/>
          <p:nvPr/>
        </p:nvSpPr>
        <p:spPr>
          <a:xfrm>
            <a:off x="1748650" y="6795651"/>
            <a:ext cx="6937756" cy="349300"/>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Tiến vào đầu làn trả hàng, chưa thao tác hàng.</a:t>
            </a:r>
          </a:p>
        </p:txBody>
      </p:sp>
      <p:sp>
        <p:nvSpPr>
          <p:cNvPr id="18" name="TextBox 18"/>
          <p:cNvSpPr txBox="1"/>
          <p:nvPr/>
        </p:nvSpPr>
        <p:spPr>
          <a:xfrm>
            <a:off x="1748650" y="7509441"/>
            <a:ext cx="6937756" cy="349300"/>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Hạ hàng rồi lùi ra khỏi ô trả — đoạn lùi nằm trong chính chặng này.</a:t>
            </a:r>
          </a:p>
        </p:txBody>
      </p:sp>
      <p:grpSp>
        <p:nvGrpSpPr>
          <p:cNvPr id="19" name="Group 19"/>
          <p:cNvGrpSpPr/>
          <p:nvPr/>
        </p:nvGrpSpPr>
        <p:grpSpPr>
          <a:xfrm>
            <a:off x="7779631" y="-1845432"/>
            <a:ext cx="3315105" cy="2874132"/>
            <a:chOff x="0" y="0"/>
            <a:chExt cx="937506" cy="812800"/>
          </a:xfrm>
        </p:grpSpPr>
        <p:sp>
          <p:nvSpPr>
            <p:cNvPr id="20" name="Freeform 20"/>
            <p:cNvSpPr/>
            <p:nvPr/>
          </p:nvSpPr>
          <p:spPr>
            <a:xfrm>
              <a:off x="0" y="0"/>
              <a:ext cx="937506" cy="812800"/>
            </a:xfrm>
            <a:custGeom>
              <a:avLst/>
              <a:gdLst/>
              <a:ahLst/>
              <a:cxnLst/>
              <a:rect l="l" t="t" r="r" b="b"/>
              <a:pathLst>
                <a:path w="937506" h="812800">
                  <a:moveTo>
                    <a:pt x="468753" y="0"/>
                  </a:moveTo>
                  <a:cubicBezTo>
                    <a:pt x="209868" y="0"/>
                    <a:pt x="0" y="181951"/>
                    <a:pt x="0" y="406400"/>
                  </a:cubicBezTo>
                  <a:cubicBezTo>
                    <a:pt x="0" y="630849"/>
                    <a:pt x="209868" y="812800"/>
                    <a:pt x="468753" y="812800"/>
                  </a:cubicBezTo>
                  <a:cubicBezTo>
                    <a:pt x="727638" y="812800"/>
                    <a:pt x="937506" y="630849"/>
                    <a:pt x="937506" y="406400"/>
                  </a:cubicBezTo>
                  <a:cubicBezTo>
                    <a:pt x="937506" y="181951"/>
                    <a:pt x="727638" y="0"/>
                    <a:pt x="468753" y="0"/>
                  </a:cubicBezTo>
                  <a:close/>
                </a:path>
              </a:pathLst>
            </a:custGeom>
            <a:solidFill>
              <a:srgbClr val="B05510"/>
            </a:solidFill>
          </p:spPr>
        </p:sp>
        <p:sp>
          <p:nvSpPr>
            <p:cNvPr id="21" name="TextBox 21"/>
            <p:cNvSpPr txBox="1"/>
            <p:nvPr/>
          </p:nvSpPr>
          <p:spPr>
            <a:xfrm>
              <a:off x="87891" y="38100"/>
              <a:ext cx="761724"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2" name="Group 22"/>
          <p:cNvGrpSpPr/>
          <p:nvPr/>
        </p:nvGrpSpPr>
        <p:grpSpPr>
          <a:xfrm>
            <a:off x="9210599" y="7472249"/>
            <a:ext cx="453167" cy="453167"/>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id="24" name="TextBox 2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5" name="Group 25"/>
          <p:cNvGrpSpPr/>
          <p:nvPr/>
        </p:nvGrpSpPr>
        <p:grpSpPr>
          <a:xfrm>
            <a:off x="-348537" y="2355348"/>
            <a:ext cx="697075" cy="697075"/>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B05B"/>
            </a:solidFill>
          </p:spPr>
        </p:sp>
        <p:sp>
          <p:nvSpPr>
            <p:cNvPr id="27" name="TextBox 2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8" name="Group 28"/>
          <p:cNvGrpSpPr/>
          <p:nvPr/>
        </p:nvGrpSpPr>
        <p:grpSpPr>
          <a:xfrm>
            <a:off x="7779631" y="8754091"/>
            <a:ext cx="776908" cy="776908"/>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B243"/>
            </a:solidFill>
          </p:spPr>
        </p:sp>
        <p:sp>
          <p:nvSpPr>
            <p:cNvPr id="30" name="TextBox 3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007" name="Num 1"/>
          <p:cNvSpPr/>
          <p:nvPr/>
        </p:nvSpPr>
        <p:spPr>
          <a:xfrm>
            <a:off x="1016000" y="6019800"/>
            <a:ext cx="508000" cy="508000"/>
          </a:xfrm>
          <a:prstGeom prst="ellipse">
            <a:avLst/>
          </a:prstGeom>
          <a:solidFill>
            <a:srgbClr val="B05510"/>
          </a:solidFill>
          <a:ln>
            <a:noFill/>
          </a:ln>
        </p:spPr>
        <p:txBody>
          <a:bodyPr lIns="0" tIns="0" rIns="0" bIns="0" anchor="ctr"/>
          <a:lstStyle/>
          <a:p>
            <a:pPr algn="ctr"/>
            <a:r>
              <a:rPr lang="en-US" sz="1400" b="1" dirty="0">
                <a:solidFill>
                  <a:srgbClr val="FFFFFF"/>
                </a:solidFill>
                <a:latin typeface="Roboto"/>
                <a:cs typeface="Roboto"/>
              </a:rPr>
              <a:t>1</a:t>
            </a:r>
          </a:p>
        </p:txBody>
      </p:sp>
      <p:sp>
        <p:nvSpPr>
          <p:cNvPr id="9008" name="Num 2"/>
          <p:cNvSpPr/>
          <p:nvPr/>
        </p:nvSpPr>
        <p:spPr>
          <a:xfrm>
            <a:off x="1016000" y="6743700"/>
            <a:ext cx="508000" cy="508000"/>
          </a:xfrm>
          <a:prstGeom prst="ellipse">
            <a:avLst/>
          </a:prstGeom>
          <a:solidFill>
            <a:srgbClr val="B05510"/>
          </a:solidFill>
          <a:ln>
            <a:noFill/>
          </a:ln>
        </p:spPr>
        <p:txBody>
          <a:bodyPr lIns="0" tIns="0" rIns="0" bIns="0" anchor="ctr"/>
          <a:lstStyle/>
          <a:p>
            <a:pPr algn="ctr"/>
            <a:r>
              <a:rPr lang="en-US" sz="1400" b="1" dirty="0">
                <a:solidFill>
                  <a:srgbClr val="FFFFFF"/>
                </a:solidFill>
                <a:latin typeface="Roboto"/>
                <a:cs typeface="Roboto"/>
              </a:rPr>
              <a:t>2</a:t>
            </a:r>
          </a:p>
        </p:txBody>
      </p:sp>
      <p:sp>
        <p:nvSpPr>
          <p:cNvPr id="9009" name="Num 3"/>
          <p:cNvSpPr/>
          <p:nvPr/>
        </p:nvSpPr>
        <p:spPr>
          <a:xfrm>
            <a:off x="1016000" y="7454900"/>
            <a:ext cx="508000" cy="508000"/>
          </a:xfrm>
          <a:prstGeom prst="ellipse">
            <a:avLst/>
          </a:prstGeom>
          <a:solidFill>
            <a:srgbClr val="B05510"/>
          </a:solidFill>
          <a:ln>
            <a:noFill/>
          </a:ln>
        </p:spPr>
        <p:txBody>
          <a:bodyPr lIns="0" tIns="0" rIns="0" bIns="0" anchor="ctr"/>
          <a:lstStyle/>
          <a:p>
            <a:pPr algn="ctr"/>
            <a:r>
              <a:rPr lang="en-US" sz="1400" b="1" dirty="0">
                <a:solidFill>
                  <a:srgbClr val="FFFFFF"/>
                </a:solidFill>
                <a:latin typeface="Roboto"/>
                <a:cs typeface="Roboto"/>
              </a:rPr>
              <a:t>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9D9D9"/>
        </a:solidFill>
        <a:effectLst/>
      </p:bgPr>
    </p:bg>
    <p:spTree>
      <p:nvGrpSpPr>
        <p:cNvPr id="1" name=""/>
        <p:cNvGrpSpPr/>
        <p:nvPr/>
      </p:nvGrpSpPr>
      <p:grpSpPr>
        <a:xfrm>
          <a:off x="0" y="0"/>
          <a:ext cx="0" cy="0"/>
          <a:chOff x="0" y="0"/>
          <a:chExt cx="0" cy="0"/>
        </a:xfrm>
      </p:grpSpPr>
      <p:grpSp>
        <p:nvGrpSpPr>
          <p:cNvPr id="2" name="Group 2"/>
          <p:cNvGrpSpPr/>
          <p:nvPr/>
        </p:nvGrpSpPr>
        <p:grpSpPr>
          <a:xfrm>
            <a:off x="-5715000" y="-4826000"/>
            <a:ext cx="7637713" cy="7467204"/>
            <a:chOff x="0" y="0"/>
            <a:chExt cx="831360" cy="812800"/>
          </a:xfrm>
        </p:grpSpPr>
        <p:sp>
          <p:nvSpPr>
            <p:cNvPr id="3" name="Freeform 3"/>
            <p:cNvSpPr/>
            <p:nvPr/>
          </p:nvSpPr>
          <p:spPr>
            <a:xfrm>
              <a:off x="0" y="0"/>
              <a:ext cx="831360" cy="812800"/>
            </a:xfrm>
            <a:custGeom>
              <a:avLst/>
              <a:gdLst/>
              <a:ahLst/>
              <a:cxnLst/>
              <a:rect l="l" t="t" r="r" b="b"/>
              <a:pathLst>
                <a:path w="831360" h="812800">
                  <a:moveTo>
                    <a:pt x="415680" y="0"/>
                  </a:moveTo>
                  <a:cubicBezTo>
                    <a:pt x="186106" y="0"/>
                    <a:pt x="0" y="181951"/>
                    <a:pt x="0" y="406400"/>
                  </a:cubicBezTo>
                  <a:cubicBezTo>
                    <a:pt x="0" y="630849"/>
                    <a:pt x="186106" y="812800"/>
                    <a:pt x="415680" y="812800"/>
                  </a:cubicBezTo>
                  <a:cubicBezTo>
                    <a:pt x="645254" y="812800"/>
                    <a:pt x="831360" y="630849"/>
                    <a:pt x="831360" y="406400"/>
                  </a:cubicBezTo>
                  <a:cubicBezTo>
                    <a:pt x="831360" y="181951"/>
                    <a:pt x="645254" y="0"/>
                    <a:pt x="415680" y="0"/>
                  </a:cubicBezTo>
                  <a:close/>
                </a:path>
              </a:pathLst>
            </a:custGeom>
            <a:solidFill>
              <a:srgbClr val="B05510">
                <a:alpha val="11765"/>
              </a:srgbClr>
            </a:solidFill>
          </p:spPr>
        </p:sp>
        <p:sp>
          <p:nvSpPr>
            <p:cNvPr id="4" name="TextBox 4"/>
            <p:cNvSpPr txBox="1"/>
            <p:nvPr/>
          </p:nvSpPr>
          <p:spPr>
            <a:xfrm>
              <a:off x="77940" y="38100"/>
              <a:ext cx="67548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3541611">
            <a:off x="-6350000" y="-6096000"/>
            <a:ext cx="7198850" cy="6523111"/>
            <a:chOff x="0" y="0"/>
            <a:chExt cx="896999" cy="812800"/>
          </a:xfrm>
        </p:grpSpPr>
        <p:sp>
          <p:nvSpPr>
            <p:cNvPr id="6" name="Freeform 6"/>
            <p:cNvSpPr/>
            <p:nvPr/>
          </p:nvSpPr>
          <p:spPr>
            <a:xfrm>
              <a:off x="0" y="0"/>
              <a:ext cx="896999" cy="812800"/>
            </a:xfrm>
            <a:custGeom>
              <a:avLst/>
              <a:gdLst/>
              <a:ahLst/>
              <a:cxnLst/>
              <a:rect l="l" t="t" r="r" b="b"/>
              <a:pathLst>
                <a:path w="896999" h="812800">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id="7" name="TextBox 7"/>
            <p:cNvSpPr txBox="1"/>
            <p:nvPr/>
          </p:nvSpPr>
          <p:spPr>
            <a:xfrm>
              <a:off x="84094" y="38100"/>
              <a:ext cx="728812"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7239839" y="641973"/>
            <a:ext cx="486449" cy="386727"/>
          </a:xfrm>
          <a:custGeom>
            <a:avLst/>
            <a:gdLst/>
            <a:ahLst/>
            <a:cxnLst/>
            <a:rect l="l" t="t" r="r" b="b"/>
            <a:pathLst>
              <a:path w="486449" h="386727">
                <a:moveTo>
                  <a:pt x="0" y="0"/>
                </a:moveTo>
                <a:lnTo>
                  <a:pt x="486449" y="0"/>
                </a:lnTo>
                <a:lnTo>
                  <a:pt x="486449" y="386727"/>
                </a:lnTo>
                <a:lnTo>
                  <a:pt x="0" y="3867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2640677" y="9232900"/>
            <a:ext cx="7315200" cy="746760"/>
          </a:xfrm>
          <a:custGeom>
            <a:avLst/>
            <a:gdLst/>
            <a:ahLst/>
            <a:cxnLst/>
            <a:rect l="l" t="t" r="r" b="b"/>
            <a:pathLst>
              <a:path w="7315200" h="746760">
                <a:moveTo>
                  <a:pt x="0" y="0"/>
                </a:moveTo>
                <a:lnTo>
                  <a:pt x="7315200" y="0"/>
                </a:lnTo>
                <a:lnTo>
                  <a:pt x="7315200" y="746760"/>
                </a:lnTo>
                <a:lnTo>
                  <a:pt x="0" y="7467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9" name="Group 19"/>
          <p:cNvGrpSpPr/>
          <p:nvPr/>
        </p:nvGrpSpPr>
        <p:grpSpPr>
          <a:xfrm>
            <a:off x="13375041" y="9258300"/>
            <a:ext cx="3315105" cy="2874132"/>
            <a:chOff x="0" y="0"/>
            <a:chExt cx="937506" cy="812800"/>
          </a:xfrm>
        </p:grpSpPr>
        <p:sp>
          <p:nvSpPr>
            <p:cNvPr id="20" name="Freeform 20"/>
            <p:cNvSpPr/>
            <p:nvPr/>
          </p:nvSpPr>
          <p:spPr>
            <a:xfrm>
              <a:off x="0" y="0"/>
              <a:ext cx="937506" cy="812800"/>
            </a:xfrm>
            <a:custGeom>
              <a:avLst/>
              <a:gdLst/>
              <a:ahLst/>
              <a:cxnLst/>
              <a:rect l="l" t="t" r="r" b="b"/>
              <a:pathLst>
                <a:path w="937506" h="812800">
                  <a:moveTo>
                    <a:pt x="468753" y="0"/>
                  </a:moveTo>
                  <a:cubicBezTo>
                    <a:pt x="209868" y="0"/>
                    <a:pt x="0" y="181951"/>
                    <a:pt x="0" y="406400"/>
                  </a:cubicBezTo>
                  <a:cubicBezTo>
                    <a:pt x="0" y="630849"/>
                    <a:pt x="209868" y="812800"/>
                    <a:pt x="468753" y="812800"/>
                  </a:cubicBezTo>
                  <a:cubicBezTo>
                    <a:pt x="727638" y="812800"/>
                    <a:pt x="937506" y="630849"/>
                    <a:pt x="937506" y="406400"/>
                  </a:cubicBezTo>
                  <a:cubicBezTo>
                    <a:pt x="937506" y="181951"/>
                    <a:pt x="727638" y="0"/>
                    <a:pt x="468753" y="0"/>
                  </a:cubicBezTo>
                  <a:close/>
                </a:path>
              </a:pathLst>
            </a:custGeom>
            <a:solidFill>
              <a:srgbClr val="B05510"/>
            </a:solidFill>
          </p:spPr>
        </p:sp>
        <p:sp>
          <p:nvSpPr>
            <p:cNvPr id="21" name="TextBox 21"/>
            <p:cNvSpPr txBox="1"/>
            <p:nvPr/>
          </p:nvSpPr>
          <p:spPr>
            <a:xfrm>
              <a:off x="87891" y="38100"/>
              <a:ext cx="761724"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2" name="Group 22"/>
          <p:cNvGrpSpPr/>
          <p:nvPr/>
        </p:nvGrpSpPr>
        <p:grpSpPr>
          <a:xfrm>
            <a:off x="15347002" y="2032947"/>
            <a:ext cx="584975" cy="584975"/>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id="24" name="TextBox 2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5" name="Group 25"/>
          <p:cNvGrpSpPr/>
          <p:nvPr/>
        </p:nvGrpSpPr>
        <p:grpSpPr>
          <a:xfrm>
            <a:off x="10706100" y="9245600"/>
            <a:ext cx="438522" cy="438522"/>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873C"/>
            </a:solidFill>
          </p:spPr>
        </p:sp>
        <p:sp>
          <p:nvSpPr>
            <p:cNvPr id="27" name="TextBox 2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31" name="TextBox 31"/>
          <p:cNvSpPr txBox="1"/>
          <p:nvPr/>
        </p:nvSpPr>
        <p:spPr>
          <a:xfrm>
            <a:off x="3992373" y="892487"/>
            <a:ext cx="10303253" cy="2157095"/>
          </a:xfrm>
          <a:prstGeom prst="rect">
            <a:avLst/>
          </a:prstGeom>
        </p:spPr>
        <p:txBody>
          <a:bodyPr lIns="0" tIns="0" rIns="0" bIns="0" rtlCol="0" anchor="t">
            <a:spAutoFit/>
          </a:bodyPr>
          <a:lstStyle/>
          <a:p>
            <a:pPr algn="ctr">
              <a:lnSpc>
                <a:spcPts val="8680"/>
              </a:lnSpc>
              <a:spcBef>
                <a:spcPct val="0"/>
              </a:spcBef>
            </a:pPr>
            <a:r>
              <a:rPr lang="en-US" sz="6200" b="1" spc="-124">
                <a:solidFill>
                  <a:srgbClr val="B05510"/>
                </a:solidFill>
                <a:latin typeface="Roboto"/>
                <a:ea typeface="Roboto"/>
                <a:cs typeface="Roboto"/>
                <a:sym typeface="Gordita Bold"/>
              </a:rPr>
              <a:t>LUẬT NGHIỆP VỤ</a:t>
            </a:r>
          </a:p>
          <a:p>
            <a:pPr algn="ctr">
              <a:lnSpc>
                <a:spcPts val="8680"/>
              </a:lnSpc>
              <a:spcBef>
                <a:spcPct val="0"/>
              </a:spcBef>
            </a:pPr>
            <a:r>
              <a:rPr lang="en-US" sz="6200" b="1" spc="-124">
                <a:solidFill>
                  <a:srgbClr val="B05510"/>
                </a:solidFill>
                <a:latin typeface="Roboto"/>
                <a:ea typeface="Roboto"/>
                <a:cs typeface="Roboto"/>
                <a:sym typeface="Gordita Bold"/>
              </a:rPr>
              <a:t>CỦA KHO</a:t>
            </a:r>
          </a:p>
        </p:txBody>
      </p:sp>
      <p:sp>
        <p:nvSpPr>
          <p:cNvPr id="32" name="TextBox 32"/>
          <p:cNvSpPr txBox="1"/>
          <p:nvPr/>
        </p:nvSpPr>
        <p:spPr>
          <a:xfrm>
            <a:off x="584200" y="6299200"/>
            <a:ext cx="5334000" cy="508000"/>
          </a:xfrm>
          <a:prstGeom prst="rect">
            <a:avLst/>
          </a:prstGeom>
        </p:spPr>
        <p:txBody>
          <a:bodyPr lIns="0" tIns="0" rIns="0" bIns="0" rtlCol="0" anchor="t">
            <a:spAutoFit/>
          </a:bodyPr>
          <a:lstStyle/>
          <a:p>
            <a:pPr algn="ctr">
              <a:lnSpc>
                <a:spcPts val="4200"/>
              </a:lnSpc>
              <a:spcBef>
                <a:spcPct val="0"/>
              </a:spcBef>
            </a:pPr>
            <a:r>
              <a:rPr lang="en-US" sz="3000" b="1" u="none" spc="0">
                <a:solidFill>
                  <a:srgbClr val="B05510"/>
                </a:solidFill>
                <a:latin typeface="Roboto"/>
                <a:ea typeface="Roboto"/>
                <a:cs typeface="Roboto"/>
                <a:sym typeface="Pier Sans Light Bold"/>
              </a:rPr>
              <a:t>Lấy hàng</a:t>
            </a:r>
          </a:p>
        </p:txBody>
      </p:sp>
      <p:sp>
        <p:nvSpPr>
          <p:cNvPr id="33" name="TextBox 33"/>
          <p:cNvSpPr txBox="1"/>
          <p:nvPr/>
        </p:nvSpPr>
        <p:spPr>
          <a:xfrm>
            <a:off x="6477000" y="6299200"/>
            <a:ext cx="5334000" cy="508000"/>
          </a:xfrm>
          <a:prstGeom prst="rect">
            <a:avLst/>
          </a:prstGeom>
        </p:spPr>
        <p:txBody>
          <a:bodyPr lIns="0" tIns="0" rIns="0" bIns="0" rtlCol="0" anchor="t">
            <a:spAutoFit/>
          </a:bodyPr>
          <a:lstStyle/>
          <a:p>
            <a:pPr algn="ctr">
              <a:lnSpc>
                <a:spcPts val="4200"/>
              </a:lnSpc>
              <a:spcBef>
                <a:spcPct val="0"/>
              </a:spcBef>
            </a:pPr>
            <a:r>
              <a:rPr lang="en-US" sz="3000" b="1" u="none" spc="0">
                <a:solidFill>
                  <a:srgbClr val="B05510"/>
                </a:solidFill>
                <a:latin typeface="Roboto"/>
                <a:ea typeface="Roboto"/>
                <a:cs typeface="Roboto"/>
                <a:sym typeface="Pier Sans Light Bold"/>
              </a:rPr>
              <a:t>Trả hàng</a:t>
            </a:r>
          </a:p>
        </p:txBody>
      </p:sp>
      <p:sp>
        <p:nvSpPr>
          <p:cNvPr id="34" name="TextBox 34"/>
          <p:cNvSpPr txBox="1"/>
          <p:nvPr/>
        </p:nvSpPr>
        <p:spPr>
          <a:xfrm>
            <a:off x="12369800" y="6299200"/>
            <a:ext cx="5334000" cy="508000"/>
          </a:xfrm>
          <a:prstGeom prst="rect">
            <a:avLst/>
          </a:prstGeom>
        </p:spPr>
        <p:txBody>
          <a:bodyPr lIns="0" tIns="0" rIns="0" bIns="0" rtlCol="0" anchor="t">
            <a:spAutoFit/>
          </a:bodyPr>
          <a:lstStyle/>
          <a:p>
            <a:pPr algn="ctr">
              <a:lnSpc>
                <a:spcPts val="4200"/>
              </a:lnSpc>
              <a:spcBef>
                <a:spcPct val="0"/>
              </a:spcBef>
            </a:pPr>
            <a:r>
              <a:rPr lang="en-US" sz="3000" b="1" u="none" spc="0">
                <a:solidFill>
                  <a:srgbClr val="B05510"/>
                </a:solidFill>
                <a:latin typeface="Roboto"/>
                <a:ea typeface="Roboto"/>
                <a:cs typeface="Roboto"/>
                <a:sym typeface="Pier Sans Light Bold"/>
              </a:rPr>
              <a:t>Sạc &amp; đỗ</a:t>
            </a:r>
          </a:p>
        </p:txBody>
      </p:sp>
      <p:sp>
        <p:nvSpPr>
          <p:cNvPr id="35" name="TextBox 35"/>
          <p:cNvSpPr txBox="1"/>
          <p:nvPr/>
        </p:nvSpPr>
        <p:spPr>
          <a:xfrm>
            <a:off x="711200" y="6959600"/>
            <a:ext cx="5080000" cy="1905000"/>
          </a:xfrm>
          <a:prstGeom prst="rect">
            <a:avLst/>
          </a:prstGeom>
        </p:spPr>
        <p:txBody>
          <a:bodyPr lIns="0" tIns="0" rIns="0" bIns="0" rtlCol="0" anchor="t">
            <a:spAutoFit/>
          </a:bodyPr>
          <a:lstStyle/>
          <a:p>
            <a:pPr algn="ctr">
              <a:lnSpc>
                <a:spcPts val="2800"/>
              </a:lnSpc>
              <a:spcBef>
                <a:spcPct val="0"/>
              </a:spcBef>
            </a:pPr>
            <a:r>
              <a:rPr lang="en-US" sz="2000" spc="0">
                <a:solidFill>
                  <a:srgbClr val="B05510"/>
                </a:solidFill>
                <a:latin typeface="Roboto"/>
                <a:ea typeface="Roboto"/>
                <a:cs typeface="Roboto"/>
                <a:sym typeface="Pier Sans Light"/>
              </a:rPr>
              <a:t>Chỉ lấy được kiện ngoài cùng. Kiện phía trong phải đợi kiện ngoài đi trước.</a:t>
            </a:r>
          </a:p>
        </p:txBody>
      </p:sp>
      <p:sp>
        <p:nvSpPr>
          <p:cNvPr id="36" name="TextBox 36"/>
          <p:cNvSpPr txBox="1"/>
          <p:nvPr/>
        </p:nvSpPr>
        <p:spPr>
          <a:xfrm>
            <a:off x="6604000" y="6959600"/>
            <a:ext cx="5080000" cy="1905000"/>
          </a:xfrm>
          <a:prstGeom prst="rect">
            <a:avLst/>
          </a:prstGeom>
        </p:spPr>
        <p:txBody>
          <a:bodyPr lIns="0" tIns="0" rIns="0" bIns="0" rtlCol="0" anchor="t">
            <a:spAutoFit/>
          </a:bodyPr>
          <a:lstStyle/>
          <a:p>
            <a:pPr algn="ctr">
              <a:lnSpc>
                <a:spcPts val="2800"/>
              </a:lnSpc>
              <a:spcBef>
                <a:spcPct val="0"/>
              </a:spcBef>
            </a:pPr>
            <a:r>
              <a:rPr lang="en-US" sz="2000" spc="0">
                <a:solidFill>
                  <a:srgbClr val="B05510"/>
                </a:solidFill>
                <a:latin typeface="Roboto"/>
                <a:ea typeface="Roboto"/>
                <a:cs typeface="Roboto"/>
                <a:sym typeface="Pier Sans Light"/>
              </a:rPr>
              <a:t>Lấp từ ô sâu nhất ra, để kiện sau không chắn kiện trước và xe vẫn lùi ra được.</a:t>
            </a:r>
          </a:p>
        </p:txBody>
      </p:sp>
      <p:sp>
        <p:nvSpPr>
          <p:cNvPr id="37" name="TextBox 37"/>
          <p:cNvSpPr txBox="1"/>
          <p:nvPr/>
        </p:nvSpPr>
        <p:spPr>
          <a:xfrm>
            <a:off x="12496800" y="6959600"/>
            <a:ext cx="5080000" cy="1905000"/>
          </a:xfrm>
          <a:prstGeom prst="rect">
            <a:avLst/>
          </a:prstGeom>
        </p:spPr>
        <p:txBody>
          <a:bodyPr lIns="0" tIns="0" rIns="0" bIns="0" rtlCol="0" anchor="t">
            <a:spAutoFit/>
          </a:bodyPr>
          <a:lstStyle/>
          <a:p>
            <a:pPr algn="ctr">
              <a:lnSpc>
                <a:spcPts val="2800"/>
              </a:lnSpc>
              <a:spcBef>
                <a:spcPct val="0"/>
              </a:spcBef>
            </a:pPr>
            <a:r>
              <a:rPr lang="en-US" sz="2000" spc="0">
                <a:solidFill>
                  <a:srgbClr val="B05510"/>
                </a:solidFill>
                <a:latin typeface="Roboto"/>
                <a:ea typeface="Roboto"/>
                <a:cs typeface="Roboto"/>
                <a:sym typeface="Pier Sans Light"/>
              </a:rPr>
              <a:t>Đủ pin vẫn chưa rời trạm — còn phải có việc cần làm. Sạc ưu tiên hơn đỗ.</a:t>
            </a:r>
          </a:p>
        </p:txBody>
      </p:sp>
      <p:pic>
        <p:nvPicPr>
          <p:cNvPr id="9801" name="rule-pickup"/>
          <p:cNvPicPr>
            <a:picLocks noChangeAspect="1"/>
          </p:cNvPicPr>
          <p:nvPr/>
        </p:nvPicPr>
        <p:blipFill>
          <a:blip r:embed="rId6"/>
          <a:stretch>
            <a:fillRect/>
          </a:stretch>
        </p:blipFill>
        <p:spPr>
          <a:xfrm>
            <a:off x="584200" y="3327400"/>
            <a:ext cx="5334000" cy="2540000"/>
          </a:xfrm>
          <a:prstGeom prst="rect">
            <a:avLst/>
          </a:prstGeom>
        </p:spPr>
      </p:pic>
      <p:pic>
        <p:nvPicPr>
          <p:cNvPr id="9802" name="rule-dropoff"/>
          <p:cNvPicPr>
            <a:picLocks noChangeAspect="1"/>
          </p:cNvPicPr>
          <p:nvPr/>
        </p:nvPicPr>
        <p:blipFill>
          <a:blip r:embed="rId7"/>
          <a:stretch>
            <a:fillRect/>
          </a:stretch>
        </p:blipFill>
        <p:spPr>
          <a:xfrm>
            <a:off x="6477000" y="3327400"/>
            <a:ext cx="5334000" cy="2540000"/>
          </a:xfrm>
          <a:prstGeom prst="rect">
            <a:avLst/>
          </a:prstGeom>
        </p:spPr>
      </p:pic>
      <p:pic>
        <p:nvPicPr>
          <p:cNvPr id="9803" name="rule-battery"/>
          <p:cNvPicPr>
            <a:picLocks noChangeAspect="1"/>
          </p:cNvPicPr>
          <p:nvPr/>
        </p:nvPicPr>
        <p:blipFill>
          <a:blip r:embed="rId8"/>
          <a:stretch>
            <a:fillRect/>
          </a:stretch>
        </p:blipFill>
        <p:spPr>
          <a:xfrm>
            <a:off x="12369800" y="3327400"/>
            <a:ext cx="5334000" cy="2540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9D9D9"/>
        </a:solidFill>
        <a:effectLst/>
      </p:bgPr>
    </p:bg>
    <p:spTree>
      <p:nvGrpSpPr>
        <p:cNvPr id="1" name=""/>
        <p:cNvGrpSpPr/>
        <p:nvPr/>
      </p:nvGrpSpPr>
      <p:grpSpPr>
        <a:xfrm>
          <a:off x="0" y="0"/>
          <a:ext cx="0" cy="0"/>
          <a:chOff x="0" y="0"/>
          <a:chExt cx="0" cy="0"/>
        </a:xfrm>
      </p:grpSpPr>
      <p:sp>
        <p:nvSpPr>
          <p:cNvPr id="2" name="Freeform 2"/>
          <p:cNvSpPr/>
          <p:nvPr/>
        </p:nvSpPr>
        <p:spPr>
          <a:xfrm>
            <a:off x="17239839" y="641973"/>
            <a:ext cx="486449" cy="386727"/>
          </a:xfrm>
          <a:custGeom>
            <a:avLst/>
            <a:gdLst/>
            <a:ahLst/>
            <a:cxnLst/>
            <a:rect l="l" t="t" r="r" b="b"/>
            <a:pathLst>
              <a:path w="486449" h="386727">
                <a:moveTo>
                  <a:pt x="0" y="0"/>
                </a:moveTo>
                <a:lnTo>
                  <a:pt x="486449" y="0"/>
                </a:lnTo>
                <a:lnTo>
                  <a:pt x="486449" y="386727"/>
                </a:lnTo>
                <a:lnTo>
                  <a:pt x="0" y="3867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640677" y="9227000"/>
            <a:ext cx="7315200" cy="746760"/>
          </a:xfrm>
          <a:custGeom>
            <a:avLst/>
            <a:gdLst/>
            <a:ahLst/>
            <a:cxnLst/>
            <a:rect l="l" t="t" r="r" b="b"/>
            <a:pathLst>
              <a:path w="7315200" h="746760">
                <a:moveTo>
                  <a:pt x="0" y="0"/>
                </a:moveTo>
                <a:lnTo>
                  <a:pt x="7315200" y="0"/>
                </a:lnTo>
                <a:lnTo>
                  <a:pt x="7315200" y="746760"/>
                </a:lnTo>
                <a:lnTo>
                  <a:pt x="0" y="7467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11917013" y="256703"/>
            <a:ext cx="8587338" cy="8587338"/>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alpha val="11765"/>
              </a:srgbClr>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12977767" y="-2598924"/>
            <a:ext cx="6801961" cy="6163477"/>
            <a:chOff x="0" y="0"/>
            <a:chExt cx="896999" cy="812800"/>
          </a:xfrm>
        </p:grpSpPr>
        <p:sp>
          <p:nvSpPr>
            <p:cNvPr id="8" name="Freeform 8"/>
            <p:cNvSpPr/>
            <p:nvPr/>
          </p:nvSpPr>
          <p:spPr>
            <a:xfrm>
              <a:off x="0" y="0"/>
              <a:ext cx="896999" cy="812800"/>
            </a:xfrm>
            <a:custGeom>
              <a:avLst/>
              <a:gdLst/>
              <a:ahLst/>
              <a:cxnLst/>
              <a:rect l="l" t="t" r="r" b="b"/>
              <a:pathLst>
                <a:path w="896999" h="812800">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id="9" name="TextBox 9"/>
            <p:cNvSpPr txBox="1"/>
            <p:nvPr/>
          </p:nvSpPr>
          <p:spPr>
            <a:xfrm>
              <a:off x="84094" y="38100"/>
              <a:ext cx="728812"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0" name="Group 10"/>
          <p:cNvGrpSpPr/>
          <p:nvPr/>
        </p:nvGrpSpPr>
        <p:grpSpPr>
          <a:xfrm>
            <a:off x="-3606043" y="1028700"/>
            <a:ext cx="5561760" cy="5561760"/>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solidFill>
          </p:spPr>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p:cNvSpPr txBox="1"/>
          <p:nvPr/>
        </p:nvSpPr>
        <p:spPr>
          <a:xfrm>
            <a:off x="3120978" y="3184046"/>
            <a:ext cx="12046044" cy="2068512"/>
          </a:xfrm>
          <a:prstGeom prst="rect">
            <a:avLst/>
          </a:prstGeom>
        </p:spPr>
        <p:txBody>
          <a:bodyPr lIns="0" tIns="0" rIns="0" bIns="0" rtlCol="0" anchor="t">
            <a:spAutoFit/>
          </a:bodyPr>
          <a:lstStyle/>
          <a:p>
            <a:pPr algn="ctr">
              <a:lnSpc>
                <a:spcPts val="16902"/>
              </a:lnSpc>
              <a:spcBef>
                <a:spcPct val="0"/>
              </a:spcBef>
            </a:pPr>
            <a:r>
              <a:rPr lang="en-US" sz="12072" b="1" spc="-241">
                <a:solidFill>
                  <a:srgbClr val="B05510"/>
                </a:solidFill>
                <a:latin typeface="Roboto"/>
                <a:ea typeface="Roboto"/>
                <a:cs typeface="Roboto"/>
                <a:sym typeface="Gordita Bold"/>
              </a:rPr>
              <a:t>CÂU HỎI?</a:t>
            </a:r>
          </a:p>
        </p:txBody>
      </p:sp>
      <p:grpSp>
        <p:nvGrpSpPr>
          <p:cNvPr id="14" name="Group 14"/>
          <p:cNvGrpSpPr/>
          <p:nvPr/>
        </p:nvGrpSpPr>
        <p:grpSpPr>
          <a:xfrm>
            <a:off x="3631898" y="7317602"/>
            <a:ext cx="4689517" cy="588286"/>
            <a:chOff x="0" y="0"/>
            <a:chExt cx="796430" cy="99910"/>
          </a:xfrm>
        </p:grpSpPr>
        <p:sp>
          <p:nvSpPr>
            <p:cNvPr id="15" name="Freeform 15"/>
            <p:cNvSpPr/>
            <p:nvPr/>
          </p:nvSpPr>
          <p:spPr>
            <a:xfrm>
              <a:off x="0" y="0"/>
              <a:ext cx="796430" cy="99910"/>
            </a:xfrm>
            <a:custGeom>
              <a:avLst/>
              <a:gdLst/>
              <a:ahLst/>
              <a:cxnLst/>
              <a:rect l="l" t="t" r="r" b="b"/>
              <a:pathLst>
                <a:path w="796430" h="99910">
                  <a:moveTo>
                    <a:pt x="19346" y="0"/>
                  </a:moveTo>
                  <a:lnTo>
                    <a:pt x="777083" y="0"/>
                  </a:lnTo>
                  <a:cubicBezTo>
                    <a:pt x="787768" y="0"/>
                    <a:pt x="796430" y="8662"/>
                    <a:pt x="796430" y="19346"/>
                  </a:cubicBezTo>
                  <a:lnTo>
                    <a:pt x="796430" y="80563"/>
                  </a:lnTo>
                  <a:cubicBezTo>
                    <a:pt x="796430" y="91248"/>
                    <a:pt x="787768" y="99910"/>
                    <a:pt x="777083" y="99910"/>
                  </a:cubicBezTo>
                  <a:lnTo>
                    <a:pt x="19346" y="99910"/>
                  </a:lnTo>
                  <a:cubicBezTo>
                    <a:pt x="14215" y="99910"/>
                    <a:pt x="9295" y="97871"/>
                    <a:pt x="5666" y="94243"/>
                  </a:cubicBezTo>
                  <a:cubicBezTo>
                    <a:pt x="2038" y="90615"/>
                    <a:pt x="0" y="85694"/>
                    <a:pt x="0" y="80563"/>
                  </a:cubicBezTo>
                  <a:lnTo>
                    <a:pt x="0" y="19346"/>
                  </a:lnTo>
                  <a:cubicBezTo>
                    <a:pt x="0" y="14215"/>
                    <a:pt x="2038" y="9295"/>
                    <a:pt x="5666" y="5666"/>
                  </a:cubicBezTo>
                  <a:cubicBezTo>
                    <a:pt x="9295" y="2038"/>
                    <a:pt x="14215" y="0"/>
                    <a:pt x="19346" y="0"/>
                  </a:cubicBezTo>
                  <a:close/>
                </a:path>
              </a:pathLst>
            </a:custGeom>
            <a:solidFill>
              <a:srgbClr val="E9A379"/>
            </a:solidFill>
          </p:spPr>
        </p:sp>
        <p:sp>
          <p:nvSpPr>
            <p:cNvPr id="16" name="TextBox 16"/>
            <p:cNvSpPr txBox="1"/>
            <p:nvPr/>
          </p:nvSpPr>
          <p:spPr>
            <a:xfrm>
              <a:off x="0" y="-38100"/>
              <a:ext cx="796430" cy="13801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9966585" y="7317602"/>
            <a:ext cx="4689517" cy="588286"/>
            <a:chOff x="0" y="0"/>
            <a:chExt cx="796430" cy="99910"/>
          </a:xfrm>
        </p:grpSpPr>
        <p:sp>
          <p:nvSpPr>
            <p:cNvPr id="18" name="Freeform 18"/>
            <p:cNvSpPr/>
            <p:nvPr/>
          </p:nvSpPr>
          <p:spPr>
            <a:xfrm>
              <a:off x="0" y="0"/>
              <a:ext cx="796430" cy="99910"/>
            </a:xfrm>
            <a:custGeom>
              <a:avLst/>
              <a:gdLst/>
              <a:ahLst/>
              <a:cxnLst/>
              <a:rect l="l" t="t" r="r" b="b"/>
              <a:pathLst>
                <a:path w="796430" h="99910">
                  <a:moveTo>
                    <a:pt x="19346" y="0"/>
                  </a:moveTo>
                  <a:lnTo>
                    <a:pt x="777083" y="0"/>
                  </a:lnTo>
                  <a:cubicBezTo>
                    <a:pt x="787768" y="0"/>
                    <a:pt x="796430" y="8662"/>
                    <a:pt x="796430" y="19346"/>
                  </a:cubicBezTo>
                  <a:lnTo>
                    <a:pt x="796430" y="80563"/>
                  </a:lnTo>
                  <a:cubicBezTo>
                    <a:pt x="796430" y="91248"/>
                    <a:pt x="787768" y="99910"/>
                    <a:pt x="777083" y="99910"/>
                  </a:cubicBezTo>
                  <a:lnTo>
                    <a:pt x="19346" y="99910"/>
                  </a:lnTo>
                  <a:cubicBezTo>
                    <a:pt x="14215" y="99910"/>
                    <a:pt x="9295" y="97871"/>
                    <a:pt x="5666" y="94243"/>
                  </a:cubicBezTo>
                  <a:cubicBezTo>
                    <a:pt x="2038" y="90615"/>
                    <a:pt x="0" y="85694"/>
                    <a:pt x="0" y="80563"/>
                  </a:cubicBezTo>
                  <a:lnTo>
                    <a:pt x="0" y="19346"/>
                  </a:lnTo>
                  <a:cubicBezTo>
                    <a:pt x="0" y="14215"/>
                    <a:pt x="2038" y="9295"/>
                    <a:pt x="5666" y="5666"/>
                  </a:cubicBezTo>
                  <a:cubicBezTo>
                    <a:pt x="9295" y="2038"/>
                    <a:pt x="14215" y="0"/>
                    <a:pt x="19346" y="0"/>
                  </a:cubicBezTo>
                  <a:close/>
                </a:path>
              </a:pathLst>
            </a:custGeom>
            <a:solidFill>
              <a:srgbClr val="EEB243"/>
            </a:solidFill>
          </p:spPr>
        </p:sp>
        <p:sp>
          <p:nvSpPr>
            <p:cNvPr id="19" name="TextBox 19"/>
            <p:cNvSpPr txBox="1"/>
            <p:nvPr/>
          </p:nvSpPr>
          <p:spPr>
            <a:xfrm>
              <a:off x="0" y="-38100"/>
              <a:ext cx="796430" cy="138010"/>
            </a:xfrm>
            <a:prstGeom prst="rect">
              <a:avLst/>
            </a:prstGeom>
          </p:spPr>
          <p:txBody>
            <a:bodyPr lIns="50800" tIns="50800" rIns="50800" bIns="50800" rtlCol="0" anchor="ctr"/>
            <a:lstStyle/>
            <a:p>
              <a:pPr algn="ctr">
                <a:lnSpc>
                  <a:spcPts val="2659"/>
                </a:lnSpc>
              </a:pPr>
              <a:endParaRPr/>
            </a:p>
          </p:txBody>
        </p:sp>
      </p:grpSp>
      <p:sp>
        <p:nvSpPr>
          <p:cNvPr id="20" name="TextBox 20"/>
          <p:cNvSpPr txBox="1"/>
          <p:nvPr/>
        </p:nvSpPr>
        <p:spPr>
          <a:xfrm>
            <a:off x="3060817" y="5667280"/>
            <a:ext cx="12166366" cy="827930"/>
          </a:xfrm>
          <a:prstGeom prst="rect">
            <a:avLst/>
          </a:prstGeom>
        </p:spPr>
        <p:txBody>
          <a:bodyPr lIns="0" tIns="0" rIns="0" bIns="0" rtlCol="0" anchor="t">
            <a:spAutoFit/>
          </a:bodyPr>
          <a:lstStyle/>
          <a:p>
            <a:pPr algn="ctr">
              <a:lnSpc>
                <a:spcPts val="3339"/>
              </a:lnSpc>
              <a:spcBef>
                <a:spcPct val="0"/>
              </a:spcBef>
            </a:pPr>
            <a:r>
              <a:rPr lang="en-US" sz="2385" spc="0">
                <a:solidFill>
                  <a:srgbClr val="B05510"/>
                </a:solidFill>
                <a:latin typeface="Roboto"/>
                <a:ea typeface="Roboto"/>
                <a:cs typeface="Roboto"/>
                <a:sym typeface="Pier Sans Light"/>
              </a:rPr>
              <a:t>Cảm ơn thầy cô và các bạn đã lắng nghe.</a:t>
            </a:r>
          </a:p>
        </p:txBody>
      </p:sp>
      <p:sp>
        <p:nvSpPr>
          <p:cNvPr id="21" name="TextBox 21"/>
          <p:cNvSpPr txBox="1"/>
          <p:nvPr/>
        </p:nvSpPr>
        <p:spPr>
          <a:xfrm>
            <a:off x="3734417" y="7381372"/>
            <a:ext cx="4484479" cy="414703"/>
          </a:xfrm>
          <a:prstGeom prst="rect">
            <a:avLst/>
          </a:prstGeom>
        </p:spPr>
        <p:txBody>
          <a:bodyPr lIns="0" tIns="0" rIns="0" bIns="0" rtlCol="0" anchor="t">
            <a:spAutoFit/>
          </a:bodyPr>
          <a:lstStyle/>
          <a:p>
            <a:pPr algn="ctr">
              <a:lnSpc>
                <a:spcPts val="3392"/>
              </a:lnSpc>
              <a:spcBef>
                <a:spcPct val="0"/>
              </a:spcBef>
            </a:pPr>
            <a:r>
              <a:rPr lang="en-US" sz="2423" spc="0">
                <a:solidFill>
                  <a:srgbClr val="B05510"/>
                </a:solidFill>
                <a:latin typeface="Roboto"/>
                <a:ea typeface="Roboto"/>
                <a:cs typeface="Roboto"/>
                <a:sym typeface="Pier Sans Light"/>
              </a:rPr>
              <a:t>SEP490_G4</a:t>
            </a:r>
          </a:p>
        </p:txBody>
      </p:sp>
      <p:sp>
        <p:nvSpPr>
          <p:cNvPr id="22" name="TextBox 22"/>
          <p:cNvSpPr txBox="1"/>
          <p:nvPr/>
        </p:nvSpPr>
        <p:spPr>
          <a:xfrm>
            <a:off x="10216739" y="7381372"/>
            <a:ext cx="4189209" cy="414703"/>
          </a:xfrm>
          <a:prstGeom prst="rect">
            <a:avLst/>
          </a:prstGeom>
        </p:spPr>
        <p:txBody>
          <a:bodyPr lIns="0" tIns="0" rIns="0" bIns="0" rtlCol="0" anchor="t">
            <a:spAutoFit/>
          </a:bodyPr>
          <a:lstStyle/>
          <a:p>
            <a:pPr algn="ctr">
              <a:lnSpc>
                <a:spcPts val="3392"/>
              </a:lnSpc>
              <a:spcBef>
                <a:spcPct val="0"/>
              </a:spcBef>
            </a:pPr>
            <a:r>
              <a:rPr lang="en-US" sz="2423" spc="0">
                <a:solidFill>
                  <a:srgbClr val="B05510"/>
                </a:solidFill>
                <a:latin typeface="Roboto"/>
                <a:ea typeface="Roboto"/>
                <a:cs typeface="Roboto"/>
                <a:sym typeface="Pier Sans Light"/>
              </a:rPr>
              <a:t>Lecturer: TamNT122</a:t>
            </a:r>
          </a:p>
        </p:txBody>
      </p:sp>
      <p:grpSp>
        <p:nvGrpSpPr>
          <p:cNvPr id="23" name="Group 23"/>
          <p:cNvGrpSpPr/>
          <p:nvPr/>
        </p:nvGrpSpPr>
        <p:grpSpPr>
          <a:xfrm rot="5884013">
            <a:off x="14744462" y="8873595"/>
            <a:ext cx="453167" cy="453167"/>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id="25" name="TextBox 2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6" name="Group 26"/>
          <p:cNvGrpSpPr/>
          <p:nvPr/>
        </p:nvGrpSpPr>
        <p:grpSpPr>
          <a:xfrm rot="5884013">
            <a:off x="4806166" y="1057473"/>
            <a:ext cx="776908" cy="776908"/>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B243"/>
            </a:solidFill>
          </p:spPr>
        </p:sp>
        <p:sp>
          <p:nvSpPr>
            <p:cNvPr id="28" name="TextBox 2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A3A0B"/>
      </a:hlink>
      <a:folHlink>
        <a:srgbClr val="7A3A0B"/>
      </a:folHlink>
    </a:clrScheme>
    <a:fontScheme name="Office">
      <a:majorFont>
        <a:latin typeface="Roboto"/>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Roboto"/>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940</Words>
  <Application>Microsoft Office PowerPoint</Application>
  <PresentationFormat>Custom</PresentationFormat>
  <Paragraphs>89</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Roboto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Orange Gray and White Modern Logistics Presentation</dc:title>
  <cp:lastModifiedBy>Phung Van Hung</cp:lastModifiedBy>
  <cp:revision>2</cp:revision>
  <dcterms:created xsi:type="dcterms:W3CDTF">2006-08-16T00:00:00Z</dcterms:created>
  <dcterms:modified xsi:type="dcterms:W3CDTF">2026-08-14T17:55:21Z</dcterms:modified>
  <dc:identifier>DAHSO21TfQM</dc:identifier>
</cp:coreProperties>
</file>